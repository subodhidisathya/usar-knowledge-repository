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6"/>
  </p:notesMasterIdLst>
  <p:handoutMasterIdLst>
    <p:handoutMasterId r:id="rId17"/>
  </p:handoutMasterIdLst>
  <p:sldIdLst>
    <p:sldId id="418" r:id="rId2"/>
    <p:sldId id="419" r:id="rId3"/>
    <p:sldId id="420" r:id="rId4"/>
    <p:sldId id="421" r:id="rId5"/>
    <p:sldId id="422" r:id="rId6"/>
    <p:sldId id="423" r:id="rId7"/>
    <p:sldId id="424" r:id="rId8"/>
    <p:sldId id="425" r:id="rId9"/>
    <p:sldId id="426" r:id="rId10"/>
    <p:sldId id="427" r:id="rId11"/>
    <p:sldId id="428" r:id="rId12"/>
    <p:sldId id="429" r:id="rId13"/>
    <p:sldId id="430" r:id="rId14"/>
    <p:sldId id="431" r:id="rId15"/>
  </p:sldIdLst>
  <p:sldSz cx="12192000" cy="6858000"/>
  <p:notesSz cx="6800850" cy="99329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25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2241" y="0"/>
            <a:ext cx="2947035" cy="498374"/>
          </a:xfrm>
          <a:prstGeom prst="rect">
            <a:avLst/>
          </a:prstGeom>
        </p:spPr>
        <p:txBody>
          <a:bodyPr vert="horz" lIns="91440" tIns="45720" rIns="91440" bIns="45720" rtlCol="0"/>
          <a:lstStyle>
            <a:lvl1pPr algn="r">
              <a:defRPr sz="1200"/>
            </a:lvl1pPr>
          </a:lstStyle>
          <a:p>
            <a:fld id="{8F881FE1-49FF-49A7-A7F1-7BA43AFF21B6}" type="datetimeFigureOut">
              <a:rPr lang="en-US" smtClean="0"/>
              <a:t>1/20/2023</a:t>
            </a:fld>
            <a:endParaRPr lang="en-US"/>
          </a:p>
        </p:txBody>
      </p:sp>
      <p:sp>
        <p:nvSpPr>
          <p:cNvPr id="4" name="Footer Placeholder 3"/>
          <p:cNvSpPr>
            <a:spLocks noGrp="1"/>
          </p:cNvSpPr>
          <p:nvPr>
            <p:ph type="ftr" sz="quarter" idx="2"/>
          </p:nvPr>
        </p:nvSpPr>
        <p:spPr>
          <a:xfrm>
            <a:off x="0" y="9434615"/>
            <a:ext cx="2947035" cy="49837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2241" y="9434615"/>
            <a:ext cx="2947035" cy="498373"/>
          </a:xfrm>
          <a:prstGeom prst="rect">
            <a:avLst/>
          </a:prstGeom>
        </p:spPr>
        <p:txBody>
          <a:bodyPr vert="horz" lIns="91440" tIns="45720" rIns="91440" bIns="45720" rtlCol="0" anchor="b"/>
          <a:lstStyle>
            <a:lvl1pPr algn="r">
              <a:defRPr sz="1200"/>
            </a:lvl1pPr>
          </a:lstStyle>
          <a:p>
            <a:fld id="{72D6B333-660B-4C8D-ABAD-4F77470B39DA}" type="slidenum">
              <a:rPr lang="en-US" smtClean="0"/>
              <a:t>‹#›</a:t>
            </a:fld>
            <a:endParaRPr lang="en-US"/>
          </a:p>
        </p:txBody>
      </p:sp>
    </p:spTree>
    <p:extLst>
      <p:ext uri="{BB962C8B-B14F-4D97-AF65-F5344CB8AC3E}">
        <p14:creationId xmlns:p14="http://schemas.microsoft.com/office/powerpoint/2010/main" val="388023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2241" y="0"/>
            <a:ext cx="2947035" cy="498374"/>
          </a:xfrm>
          <a:prstGeom prst="rect">
            <a:avLst/>
          </a:prstGeom>
        </p:spPr>
        <p:txBody>
          <a:bodyPr vert="horz" lIns="91440" tIns="45720" rIns="91440" bIns="45720" rtlCol="0"/>
          <a:lstStyle>
            <a:lvl1pPr algn="r">
              <a:defRPr sz="1200"/>
            </a:lvl1pPr>
          </a:lstStyle>
          <a:p>
            <a:fld id="{96C6CE2F-C41B-4D8B-95EE-5D8EFFB3B4CF}" type="datetimeFigureOut">
              <a:rPr lang="en-US" smtClean="0"/>
              <a:t>1/20/2023</a:t>
            </a:fld>
            <a:endParaRPr lang="en-US"/>
          </a:p>
        </p:txBody>
      </p:sp>
      <p:sp>
        <p:nvSpPr>
          <p:cNvPr id="4" name="Slide Image Placeholder 3"/>
          <p:cNvSpPr>
            <a:spLocks noGrp="1" noRot="1" noChangeAspect="1"/>
          </p:cNvSpPr>
          <p:nvPr>
            <p:ph type="sldImg" idx="2"/>
          </p:nvPr>
        </p:nvSpPr>
        <p:spPr>
          <a:xfrm>
            <a:off x="420688" y="1241425"/>
            <a:ext cx="5959475" cy="3352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085" y="4780250"/>
            <a:ext cx="5440680" cy="391111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34615"/>
            <a:ext cx="2947035" cy="49837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2241" y="9434615"/>
            <a:ext cx="2947035" cy="498373"/>
          </a:xfrm>
          <a:prstGeom prst="rect">
            <a:avLst/>
          </a:prstGeom>
        </p:spPr>
        <p:txBody>
          <a:bodyPr vert="horz" lIns="91440" tIns="45720" rIns="91440" bIns="45720" rtlCol="0" anchor="b"/>
          <a:lstStyle>
            <a:lvl1pPr algn="r">
              <a:defRPr sz="1200"/>
            </a:lvl1pPr>
          </a:lstStyle>
          <a:p>
            <a:fld id="{09534173-98C6-48F6-BF0E-3F7CF82424BD}" type="slidenum">
              <a:rPr lang="en-US" smtClean="0"/>
              <a:t>‹#›</a:t>
            </a:fld>
            <a:endParaRPr lang="en-US"/>
          </a:p>
        </p:txBody>
      </p:sp>
    </p:spTree>
    <p:extLst>
      <p:ext uri="{BB962C8B-B14F-4D97-AF65-F5344CB8AC3E}">
        <p14:creationId xmlns:p14="http://schemas.microsoft.com/office/powerpoint/2010/main" val="9548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534173-98C6-48F6-BF0E-3F7CF82424BD}" type="slidenum">
              <a:rPr lang="en-US" smtClean="0"/>
              <a:t>2</a:t>
            </a:fld>
            <a:endParaRPr lang="en-US"/>
          </a:p>
        </p:txBody>
      </p:sp>
    </p:spTree>
    <p:extLst>
      <p:ext uri="{BB962C8B-B14F-4D97-AF65-F5344CB8AC3E}">
        <p14:creationId xmlns:p14="http://schemas.microsoft.com/office/powerpoint/2010/main" val="2747720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67177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32817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F62D13-26C6-49E8-A6B9-CF97DB82E248}" type="datetimeFigureOut">
              <a:rPr lang="en-US" smtClean="0"/>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348232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F62D13-26C6-49E8-A6B9-CF97DB82E248}" type="datetimeFigureOut">
              <a:rPr lang="en-US" smtClean="0"/>
              <a:t>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556693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F62D13-26C6-49E8-A6B9-CF97DB82E248}" type="datetimeFigureOut">
              <a:rPr lang="en-US" smtClean="0"/>
              <a:t>1/20/2023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2398434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F62D13-26C6-49E8-A6B9-CF97DB82E248}" type="datetimeFigureOut">
              <a:rPr lang="en-US" smtClean="0"/>
              <a:t>1/20/2023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287959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2D13-26C6-49E8-A6B9-CF97DB82E248}" type="datetimeFigureOut">
              <a:rPr lang="en-US" smtClean="0"/>
              <a:t>1/20/2023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1165189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F62D13-26C6-49E8-A6B9-CF97DB82E248}" type="datetimeFigureOut">
              <a:rPr lang="en-US" smtClean="0"/>
              <a:t>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124648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F62D13-26C6-49E8-A6B9-CF97DB82E248}" type="datetimeFigureOut">
              <a:rPr lang="en-US" smtClean="0"/>
              <a:t>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77492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68670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886721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pic>
        <p:nvPicPr>
          <p:cNvPr id="5" name="Picture 7" descr="ocha-insarag-logo.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1500" y="914400"/>
            <a:ext cx="1108286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sz="quarter" idx="11"/>
          </p:nvPr>
        </p:nvSpPr>
        <p:spPr>
          <a:xfrm>
            <a:off x="101600" y="0"/>
            <a:ext cx="12090400" cy="762000"/>
          </a:xfrm>
          <a:solidFill>
            <a:schemeClr val="bg1"/>
          </a:solidFill>
        </p:spPr>
        <p:txBody>
          <a:bodyPr/>
          <a:lstStyle>
            <a:lvl1pPr marL="39688" indent="0">
              <a:buNone/>
              <a:defRPr/>
            </a:lvl1pPr>
          </a:lstStyle>
          <a:p>
            <a:pPr lvl="0"/>
            <a:endParaRPr lang="en-GB" dirty="0" smtClean="0"/>
          </a:p>
        </p:txBody>
      </p:sp>
      <p:sp>
        <p:nvSpPr>
          <p:cNvPr id="6" name="Content Placeholder 5"/>
          <p:cNvSpPr>
            <a:spLocks noGrp="1"/>
          </p:cNvSpPr>
          <p:nvPr>
            <p:ph sz="quarter" idx="12"/>
          </p:nvPr>
        </p:nvSpPr>
        <p:spPr>
          <a:xfrm>
            <a:off x="0" y="5943600"/>
            <a:ext cx="12192000" cy="914400"/>
          </a:xfrm>
          <a:solidFill>
            <a:schemeClr val="bg1"/>
          </a:solidFill>
        </p:spPr>
        <p:txBody>
          <a:bodyPr/>
          <a:lstStyle>
            <a:lvl5pPr marL="1766888" indent="0">
              <a:buNone/>
              <a:defRPr/>
            </a:lvl5pPr>
          </a:lstStyle>
          <a:p>
            <a:pPr lvl="4"/>
            <a:endParaRPr lang="en-US" dirty="0"/>
          </a:p>
        </p:txBody>
      </p:sp>
      <p:sp>
        <p:nvSpPr>
          <p:cNvPr id="7" name="Text Box 3"/>
          <p:cNvSpPr txBox="1">
            <a:spLocks noGrp="1" noChangeArrowheads="1"/>
          </p:cNvSpPr>
          <p:nvPr>
            <p:ph type="sldNum" sz="quarter" idx="13"/>
          </p:nvPr>
        </p:nvSpPr>
        <p:spPr>
          <a:xfrm>
            <a:off x="9812867" y="6248400"/>
            <a:ext cx="389467" cy="330200"/>
          </a:xfrm>
          <a:prstGeom prst="rect">
            <a:avLst/>
          </a:prstGeom>
        </p:spPr>
        <p:txBody>
          <a:bodyPr vert="horz" wrap="square" lIns="91440" tIns="45720" rIns="91440" bIns="45720" numCol="1" anchor="t" anchorCtr="0" compatLnSpc="1">
            <a:prstTxWarp prst="textNoShape">
              <a:avLst/>
            </a:prstTxWarp>
          </a:bodyPr>
          <a:lstStyle>
            <a:lvl1pPr>
              <a:defRPr/>
            </a:lvl1pPr>
          </a:lstStyle>
          <a:p>
            <a:fld id="{268CC436-DB0C-4D40-95CD-0C678C839DC7}" type="slidenum">
              <a:rPr lang="en-US"/>
              <a:pPr/>
              <a:t>‹#›</a:t>
            </a:fld>
            <a:endParaRPr lang="en-US"/>
          </a:p>
        </p:txBody>
      </p:sp>
    </p:spTree>
    <p:extLst>
      <p:ext uri="{BB962C8B-B14F-4D97-AF65-F5344CB8AC3E}">
        <p14:creationId xmlns:p14="http://schemas.microsoft.com/office/powerpoint/2010/main" val="351021801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F62D13-26C6-49E8-A6B9-CF97DB82E248}" type="datetimeFigureOut">
              <a:rPr lang="en-US" smtClean="0"/>
              <a:t>1/20/2023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A5261C-F097-45A2-87DD-04B5855E2117}" type="slidenum">
              <a:rPr lang="en-US" smtClean="0"/>
              <a:t>‹#›</a:t>
            </a:fld>
            <a:endParaRPr lang="en-US"/>
          </a:p>
        </p:txBody>
      </p:sp>
    </p:spTree>
    <p:extLst>
      <p:ext uri="{BB962C8B-B14F-4D97-AF65-F5344CB8AC3E}">
        <p14:creationId xmlns:p14="http://schemas.microsoft.com/office/powerpoint/2010/main" val="18034404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2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2862"/>
            <a:ext cx="10515600" cy="865188"/>
          </a:xfrm>
        </p:spPr>
        <p:txBody>
          <a:bodyPr>
            <a:normAutofit fontScale="90000"/>
          </a:bodyPr>
          <a:lstStyle/>
          <a:p>
            <a:r>
              <a:rPr lang="si-LK" dirty="0"/>
              <a:t>පළමු ප්‍රතිචාර </a:t>
            </a:r>
            <a:r>
              <a:rPr lang="si-LK" dirty="0" smtClean="0"/>
              <a:t>ප</a:t>
            </a:r>
            <a:r>
              <a:rPr lang="si-LK" dirty="0"/>
              <a:t>ුහුණු වැඩසටහන</a:t>
            </a:r>
            <a:r>
              <a:rPr lang="en-US" dirty="0"/>
              <a:t/>
            </a:r>
            <a:br>
              <a:rPr lang="en-US" dirty="0"/>
            </a:br>
            <a:endParaRPr lang="en-US" dirty="0"/>
          </a:p>
        </p:txBody>
      </p:sp>
      <p:sp>
        <p:nvSpPr>
          <p:cNvPr id="3" name="Content Placeholder 2"/>
          <p:cNvSpPr>
            <a:spLocks noGrp="1"/>
          </p:cNvSpPr>
          <p:nvPr>
            <p:ph idx="1"/>
          </p:nvPr>
        </p:nvSpPr>
        <p:spPr/>
        <p:txBody>
          <a:bodyPr/>
          <a:lstStyle/>
          <a:p>
            <a:r>
              <a:rPr lang="si-LK" dirty="0"/>
              <a:t>මොඩියුලර්	</a:t>
            </a:r>
            <a:r>
              <a:rPr lang="si-LK" dirty="0" smtClean="0"/>
              <a:t>6: </a:t>
            </a:r>
            <a:r>
              <a:rPr lang="si-LK" dirty="0"/>
              <a:t>මූලික වෛද්</a:t>
            </a:r>
            <a:r>
              <a:rPr lang="si-LK" dirty="0" smtClean="0"/>
              <a:t>‍ය ගැලවීම</a:t>
            </a:r>
          </a:p>
          <a:p>
            <a:r>
              <a:rPr lang="si-LK" dirty="0" smtClean="0"/>
              <a:t>සැසිය 	6.6 - පාඩම් සැලැස්ම</a:t>
            </a:r>
          </a:p>
          <a:p>
            <a:r>
              <a:rPr lang="si-LK" dirty="0" smtClean="0"/>
              <a:t>මියගිය අය හැසිරවීම</a:t>
            </a:r>
          </a:p>
        </p:txBody>
      </p:sp>
      <p:pic>
        <p:nvPicPr>
          <p:cNvPr id="6" name="Picture 5"/>
          <p:cNvPicPr>
            <a:picLocks noChangeAspect="1"/>
          </p:cNvPicPr>
          <p:nvPr/>
        </p:nvPicPr>
        <p:blipFill rotWithShape="1">
          <a:blip r:embed="rId2"/>
          <a:srcRect l="28796" t="18296" r="53241" b="76370"/>
          <a:stretch/>
        </p:blipFill>
        <p:spPr>
          <a:xfrm>
            <a:off x="163286" y="84251"/>
            <a:ext cx="3115130" cy="681037"/>
          </a:xfrm>
          <a:prstGeom prst="rect">
            <a:avLst/>
          </a:prstGeom>
        </p:spPr>
      </p:pic>
      <p:pic>
        <p:nvPicPr>
          <p:cNvPr id="7" name="Picture 6"/>
          <p:cNvPicPr>
            <a:picLocks noChangeAspect="1"/>
          </p:cNvPicPr>
          <p:nvPr/>
        </p:nvPicPr>
        <p:blipFill rotWithShape="1">
          <a:blip r:embed="rId2"/>
          <a:srcRect l="78461" t="79333" r="13981" b="13852"/>
          <a:stretch/>
        </p:blipFill>
        <p:spPr>
          <a:xfrm>
            <a:off x="10451005" y="136525"/>
            <a:ext cx="1577709" cy="681037"/>
          </a:xfrm>
          <a:prstGeom prst="rect">
            <a:avLst/>
          </a:prstGeom>
        </p:spPr>
      </p:pic>
      <p:sp>
        <p:nvSpPr>
          <p:cNvPr id="8" name="Rectangle 7"/>
          <p:cNvSpPr/>
          <p:nvPr/>
        </p:nvSpPr>
        <p:spPr>
          <a:xfrm>
            <a:off x="261257" y="4368007"/>
            <a:ext cx="11669486" cy="24272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pic>
        <p:nvPicPr>
          <p:cNvPr id="9" name="Picture 8"/>
          <p:cNvPicPr>
            <a:picLocks noChangeAspect="1"/>
          </p:cNvPicPr>
          <p:nvPr/>
        </p:nvPicPr>
        <p:blipFill rotWithShape="1">
          <a:blip r:embed="rId2"/>
          <a:srcRect l="28981" t="79333" r="56370" b="13852"/>
          <a:stretch/>
        </p:blipFill>
        <p:spPr>
          <a:xfrm>
            <a:off x="675666" y="5338764"/>
            <a:ext cx="3058134" cy="681037"/>
          </a:xfrm>
          <a:prstGeom prst="rect">
            <a:avLst/>
          </a:prstGeom>
        </p:spPr>
      </p:pic>
      <p:sp>
        <p:nvSpPr>
          <p:cNvPr id="12" name="Text Box 2"/>
          <p:cNvSpPr txBox="1">
            <a:spLocks noChangeArrowheads="1"/>
          </p:cNvSpPr>
          <p:nvPr/>
        </p:nvSpPr>
        <p:spPr bwMode="auto">
          <a:xfrm>
            <a:off x="8912336" y="4420281"/>
            <a:ext cx="2729936" cy="1659215"/>
          </a:xfrm>
          <a:prstGeom prst="rect">
            <a:avLst/>
          </a:prstGeom>
          <a:noFill/>
          <a:ln w="9525">
            <a:noFill/>
            <a:miter lim="800000"/>
            <a:headEnd/>
            <a:tailEnd/>
          </a:ln>
        </p:spPr>
        <p:txBody>
          <a:bodyPr rot="0" vert="horz" wrap="square" lIns="91440" tIns="45720" rIns="91440" bIns="45720" anchor="t" anchorCtr="0">
            <a:noAutofit/>
          </a:bodyPr>
          <a:lstStyle/>
          <a:p>
            <a:pPr marL="0" marR="0" algn="just">
              <a:lnSpc>
                <a:spcPct val="107000"/>
              </a:lnSpc>
              <a:spcBef>
                <a:spcPts val="0"/>
              </a:spcBef>
              <a:spcAft>
                <a:spcPts val="0"/>
              </a:spcAft>
            </a:pPr>
            <a:r>
              <a:rPr lang="si-LK" sz="1400" dirty="0">
                <a:solidFill>
                  <a:schemeClr val="bg1"/>
                </a:solidFill>
                <a:effectLst/>
                <a:latin typeface="Calibri" panose="020F0502020204030204" pitchFamily="34" charset="0"/>
                <a:ea typeface="Calibri" panose="020F0502020204030204" pitchFamily="34" charset="0"/>
                <a:cs typeface="Iskoola Pota" panose="02010503010101010104" pitchFamily="2" charset="0"/>
              </a:rPr>
              <a:t>පළමු ප්‍රතිචාර දැක්වීමේ පුහුණු වැඩසටහන </a:t>
            </a:r>
            <a:r>
              <a:rPr lang="en-US" sz="1400" dirty="0">
                <a:solidFill>
                  <a:schemeClr val="bg1"/>
                </a:solidFill>
                <a:effectLst/>
                <a:latin typeface="Calibri" panose="020F0502020204030204" pitchFamily="34" charset="0"/>
                <a:ea typeface="Calibri" panose="020F0502020204030204" pitchFamily="34" charset="0"/>
                <a:cs typeface="Iskoola Pota" panose="02010503010101010104" pitchFamily="2" charset="0"/>
              </a:rPr>
              <a:t>INSARAG </a:t>
            </a:r>
            <a:r>
              <a:rPr lang="si-LK" sz="1400" dirty="0">
                <a:solidFill>
                  <a:schemeClr val="bg1"/>
                </a:solidFill>
                <a:effectLst/>
                <a:latin typeface="Calibri" panose="020F0502020204030204" pitchFamily="34" charset="0"/>
                <a:ea typeface="Calibri" panose="020F0502020204030204" pitchFamily="34" charset="0"/>
                <a:cs typeface="Iskoola Pota" panose="02010503010101010104" pitchFamily="2" charset="0"/>
              </a:rPr>
              <a:t>පුහුණු ක්‍රියාකාරී කණ්ඩායම විසින් සංවර්ධනය කරන ලද අතර </a:t>
            </a:r>
            <a:r>
              <a:rPr lang="si-LK" sz="1400" dirty="0" smtClean="0">
                <a:solidFill>
                  <a:schemeClr val="bg1"/>
                </a:solidFill>
                <a:effectLst/>
                <a:latin typeface="Calibri" panose="020F0502020204030204" pitchFamily="34" charset="0"/>
                <a:ea typeface="Calibri" panose="020F0502020204030204" pitchFamily="34" charset="0"/>
                <a:cs typeface="Iskoola Pota" panose="02010503010101010104" pitchFamily="2" charset="0"/>
              </a:rPr>
              <a:t>මුදවා ග</a:t>
            </a:r>
            <a:r>
              <a:rPr lang="si-LK" sz="1400" dirty="0">
                <a:solidFill>
                  <a:schemeClr val="bg1"/>
                </a:solidFill>
                <a:effectLst/>
                <a:latin typeface="Calibri" panose="020F0502020204030204" pitchFamily="34" charset="0"/>
                <a:ea typeface="Calibri" panose="020F0502020204030204" pitchFamily="34" charset="0"/>
                <a:cs typeface="Iskoola Pota" panose="02010503010101010104" pitchFamily="2" charset="0"/>
              </a:rPr>
              <a:t>ැනීමේ හැකියාව වර්ධනය කිරීමට සහ ජීවිත බේරා ගැනීමට සියලුම රටවලට සහ </a:t>
            </a:r>
            <a:r>
              <a:rPr lang="si-LK" sz="1400" dirty="0" smtClean="0">
                <a:solidFill>
                  <a:schemeClr val="bg1"/>
                </a:solidFill>
                <a:effectLst/>
                <a:latin typeface="Calibri" panose="020F0502020204030204" pitchFamily="34" charset="0"/>
                <a:ea typeface="Calibri" panose="020F0502020204030204" pitchFamily="34" charset="0"/>
                <a:cs typeface="Iskoola Pota" panose="02010503010101010104" pitchFamily="2" charset="0"/>
              </a:rPr>
              <a:t>හදිසි අවස්ථා සදහා ප</a:t>
            </a:r>
            <a:r>
              <a:rPr lang="si-LK" sz="1400" dirty="0">
                <a:solidFill>
                  <a:schemeClr val="bg1"/>
                </a:solidFill>
                <a:effectLst/>
                <a:latin typeface="Calibri" panose="020F0502020204030204" pitchFamily="34" charset="0"/>
                <a:ea typeface="Calibri" panose="020F0502020204030204" pitchFamily="34" charset="0"/>
                <a:cs typeface="Iskoola Pota" panose="02010503010101010104" pitchFamily="2" charset="0"/>
              </a:rPr>
              <a:t>්‍රතිචාර  දක්වන සංවිධානවලට උපකාර කිරීමට </a:t>
            </a:r>
            <a:r>
              <a:rPr lang="si-LK" sz="1400" dirty="0" smtClean="0">
                <a:solidFill>
                  <a:schemeClr val="bg1"/>
                </a:solidFill>
                <a:latin typeface="Calibri" panose="020F0502020204030204" pitchFamily="34" charset="0"/>
                <a:ea typeface="Calibri" panose="020F0502020204030204" pitchFamily="34" charset="0"/>
                <a:cs typeface="Iskoola Pota" panose="02010503010101010104" pitchFamily="2" charset="0"/>
              </a:rPr>
              <a:t>මෙමගින් </a:t>
            </a:r>
            <a:r>
              <a:rPr lang="si-LK" sz="1400" dirty="0" smtClean="0">
                <a:solidFill>
                  <a:schemeClr val="bg1"/>
                </a:solidFill>
                <a:effectLst/>
                <a:latin typeface="Calibri" panose="020F0502020204030204" pitchFamily="34" charset="0"/>
                <a:ea typeface="Calibri" panose="020F0502020204030204" pitchFamily="34" charset="0"/>
                <a:cs typeface="Iskoola Pota" panose="02010503010101010104" pitchFamily="2" charset="0"/>
              </a:rPr>
              <a:t>අපේක්ෂා ක</a:t>
            </a:r>
            <a:r>
              <a:rPr lang="si-LK" sz="1400" dirty="0">
                <a:solidFill>
                  <a:schemeClr val="bg1"/>
                </a:solidFill>
                <a:effectLst/>
                <a:latin typeface="Calibri" panose="020F0502020204030204" pitchFamily="34" charset="0"/>
                <a:ea typeface="Calibri" panose="020F0502020204030204" pitchFamily="34" charset="0"/>
                <a:cs typeface="Iskoola Pota" panose="02010503010101010104" pitchFamily="2" charset="0"/>
              </a:rPr>
              <a:t>ෙරේ</a:t>
            </a:r>
            <a:r>
              <a:rPr lang="si-LK" sz="1100" dirty="0">
                <a:solidFill>
                  <a:schemeClr val="bg1"/>
                </a:solidFill>
                <a:effectLst/>
                <a:latin typeface="Calibri" panose="020F0502020204030204" pitchFamily="34" charset="0"/>
                <a:ea typeface="Calibri" panose="020F0502020204030204" pitchFamily="34" charset="0"/>
                <a:cs typeface="Iskoola Pota" panose="02010503010101010104" pitchFamily="2" charset="0"/>
              </a:rPr>
              <a:t>.</a:t>
            </a:r>
            <a:endParaRPr lang="en-US" sz="1100" dirty="0">
              <a:solidFill>
                <a:schemeClr val="bg1"/>
              </a:solidFill>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Iskoola Pota" panose="02010503010101010104" pitchFamily="2" charset="0"/>
              </a:rPr>
              <a:t> </a:t>
            </a:r>
          </a:p>
        </p:txBody>
      </p:sp>
    </p:spTree>
    <p:extLst>
      <p:ext uri="{BB962C8B-B14F-4D97-AF65-F5344CB8AC3E}">
        <p14:creationId xmlns:p14="http://schemas.microsoft.com/office/powerpoint/2010/main" val="26127591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45889530"/>
              </p:ext>
            </p:extLst>
          </p:nvPr>
        </p:nvGraphicFramePr>
        <p:xfrm>
          <a:off x="168446" y="1"/>
          <a:ext cx="12023554" cy="3391980"/>
        </p:xfrm>
        <a:graphic>
          <a:graphicData uri="http://schemas.openxmlformats.org/drawingml/2006/table">
            <a:tbl>
              <a:tblPr firstRow="1" firstCol="1" bandRow="1"/>
              <a:tblGrid>
                <a:gridCol w="3512600"/>
                <a:gridCol w="3348556"/>
                <a:gridCol w="5162398"/>
              </a:tblGrid>
              <a:tr h="426468">
                <a:tc>
                  <a:txBody>
                    <a:bodyPr/>
                    <a:lstStyle/>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ඉලක්කය</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600" dirty="0" smtClean="0">
                          <a:effectLst/>
                          <a:latin typeface="Calibri" panose="020F0502020204030204" pitchFamily="34" charset="0"/>
                          <a:ea typeface="Calibri" panose="020F0502020204030204" pitchFamily="34" charset="0"/>
                          <a:cs typeface="Iskoola Pota" panose="02010503010101010104" pitchFamily="2" charset="0"/>
                        </a:rPr>
                        <a:t>Aims</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අරමුණු (</a:t>
                      </a:r>
                      <a:r>
                        <a:rPr lang="en-US" sz="1600" dirty="0" smtClean="0">
                          <a:effectLst/>
                          <a:latin typeface="Calibri" panose="020F0502020204030204" pitchFamily="34" charset="0"/>
                          <a:ea typeface="Calibri" panose="020F0502020204030204" pitchFamily="34" charset="0"/>
                          <a:cs typeface="Iskoola Pota" panose="02010503010101010104" pitchFamily="2" charset="0"/>
                        </a:rPr>
                        <a:t>Objective</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ඉගෙනුම්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ප්‍රතිඵල (</a:t>
                      </a:r>
                      <a:r>
                        <a:rPr lang="en-US" sz="1600" dirty="0" smtClean="0">
                          <a:effectLst/>
                          <a:latin typeface="Calibri" panose="020F0502020204030204" pitchFamily="34" charset="0"/>
                          <a:ea typeface="Calibri" panose="020F0502020204030204" pitchFamily="34" charset="0"/>
                          <a:cs typeface="Iskoola Pota" panose="02010503010101010104" pitchFamily="2" charset="0"/>
                        </a:rPr>
                        <a:t>Learning</a:t>
                      </a:r>
                      <a:r>
                        <a:rPr lang="en-US" sz="1600" baseline="0" dirty="0" smtClean="0">
                          <a:effectLst/>
                          <a:latin typeface="Calibri" panose="020F0502020204030204" pitchFamily="34" charset="0"/>
                          <a:ea typeface="Calibri" panose="020F0502020204030204" pitchFamily="34" charset="0"/>
                          <a:cs typeface="Iskoola Pota" panose="02010503010101010104" pitchFamily="2" charset="0"/>
                        </a:rPr>
                        <a:t> Outcomes)</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1244287">
                <a:tc>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මෙම ක්‍රියාකාරකමට සම්බන්ධ සියලුම පුද්ගලයින්ට ආරක්ෂිතව අනතුරට ලක් වූ ප්‍රදේශවලින් (සුදුසු ආයතන විසින් ඉල්ලා සිටින පරිදි) මියගිය අය ආරක්ෂිතව ඉවත් කිරිම සහ පුද්ගලයින් යථා තත්ත්වයට පත් කිරීම පිළිබඳව මෙම සැසිය සහභාගිවන්නන් දැනුවත් කරනු ඇත.</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මියගිය අයව ඉවත් කිරීමට සම්බන්ධව ක්‍රියාකරන පුද්ගලයින්ගේ ආරක්ෂාව සහතික කිරීම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මියගිය පුද්ගලයා හැසිරවීමේදි පරිසරය එයට බලපාන ආකාරය තේරුම් ගන්න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මියගිය පුද්ගලයා හැසිරවීම සම්බන්ධයෙන් හැකිනම් සංස්කෘතික ගැටළු පිළිබඳව දැනුවත් වන්න.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මෙම සැසියේ ප්‍රතිඵලයක් වශයෙන්</a:t>
                      </a: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සහභාගිකයාට පහත කරුණු හැකි වනු ඇත</a:t>
                      </a:r>
                      <a:r>
                        <a:rPr lang="en-US" sz="1600" dirty="0">
                          <a:effectLst/>
                          <a:latin typeface="Calibri" panose="020F0502020204030204" pitchFamily="34" charset="0"/>
                          <a:ea typeface="Calibri" panose="020F0502020204030204" pitchFamily="34" charset="0"/>
                          <a:cs typeface="Iskoola Pota" panose="02010503010101010104" pitchFamily="2" charset="0"/>
                        </a:rPr>
                        <a:t>;</a:t>
                      </a: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මියගිය පුද්ගලයාව හැසිරවිය යුතු ආකාරය පිළීබද අවබෝධයක් ලබා ගන්න.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එසේ කිරීමට අවශ්‍ය නම් එය ආරක්ෂිත වේ</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මියගිය පුද්ගලයාව හැසිරවිය යුතු ආකාරය දැන ගන්න.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එය සංස්කෘතික වශයෙන් සංවේදීය.</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මියගිය පුද්ගලයා හැසිරවිමේදි ඇති විය හැකි  අවදානම් තත්වය පිළිබඳව දැනුවත් වන්න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මියගිය පුද්ගලයා ඉවත් කිරීමේදී ගත යුතු සුදුසු ක්‍රියාමාර්ග දැනගන්න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419304541"/>
              </p:ext>
            </p:extLst>
          </p:nvPr>
        </p:nvGraphicFramePr>
        <p:xfrm>
          <a:off x="173677" y="3528647"/>
          <a:ext cx="12018323" cy="2852200"/>
        </p:xfrm>
        <a:graphic>
          <a:graphicData uri="http://schemas.openxmlformats.org/drawingml/2006/table">
            <a:tbl>
              <a:tblPr firstRow="1" firstCol="1" bandRow="1"/>
              <a:tblGrid>
                <a:gridCol w="705555"/>
                <a:gridCol w="1735015"/>
                <a:gridCol w="7244861"/>
                <a:gridCol w="2332892"/>
              </a:tblGrid>
              <a:tr h="228964">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කාලය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3777" marR="43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අන්තර්ගතය </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43777" marR="43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ක්‍රියාකාරිත්වය </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43777" marR="43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සම්පත් </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43777" marR="43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9542">
                <a:tc rowSpan="2">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600" dirty="0">
                          <a:effectLst/>
                          <a:latin typeface="Calibri" panose="020F0502020204030204" pitchFamily="34" charset="0"/>
                          <a:ea typeface="Calibri" panose="020F0502020204030204" pitchFamily="34" charset="0"/>
                          <a:cs typeface="Iskoola Pota" panose="02010503010101010104" pitchFamily="2" charset="0"/>
                        </a:rPr>
                        <a:t>15</a:t>
                      </a:r>
                      <a:r>
                        <a:rPr lang="si-LK" sz="1600" dirty="0">
                          <a:effectLst/>
                          <a:latin typeface="Calibri" panose="020F0502020204030204" pitchFamily="34"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මිය ගිය අය හැසිරවීම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si-LK" sz="1600">
                          <a:effectLst/>
                          <a:latin typeface="Calibri" panose="020F0502020204030204" pitchFamily="34" charset="0"/>
                          <a:ea typeface="Calibri" panose="020F0502020204030204" pitchFamily="34" charset="0"/>
                          <a:cs typeface="Iskoola Pota" panose="02010503010101010104" pitchFamily="2" charset="0"/>
                        </a:rPr>
                        <a:t>උපදේශක: මියගිය පුද්ගලයා හැසිරවිය යුතු ආකාරය පැහැදිලි කරන </a:t>
                      </a:r>
                      <a:r>
                        <a:rPr lang="en-US" sz="1600">
                          <a:effectLst/>
                          <a:latin typeface="Calibri" panose="020F0502020204030204" pitchFamily="34" charset="0"/>
                          <a:ea typeface="Calibri" panose="020F0502020204030204" pitchFamily="34" charset="0"/>
                          <a:cs typeface="Iskoola Pota" panose="02010503010101010104" pitchFamily="2" charset="0"/>
                        </a:rPr>
                        <a:t>PowerPoint </a:t>
                      </a:r>
                      <a:r>
                        <a:rPr lang="si-LK" sz="1600">
                          <a:effectLst/>
                          <a:latin typeface="Calibri" panose="020F0502020204030204" pitchFamily="34" charset="0"/>
                          <a:ea typeface="Calibri" panose="020F0502020204030204" pitchFamily="34" charset="0"/>
                          <a:cs typeface="Iskoola Pota" panose="02010503010101010104" pitchFamily="2" charset="0"/>
                        </a:rPr>
                        <a:t>ඉදිරිපත් කිරීම මගින් පෙන්වන්න.</a:t>
                      </a:r>
                      <a:endParaRPr lang="en-US" sz="16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en-US" sz="1600">
                          <a:effectLst/>
                          <a:latin typeface="Calibri" panose="020F0502020204030204" pitchFamily="34" charset="0"/>
                          <a:ea typeface="Calibri" panose="020F0502020204030204" pitchFamily="34" charset="0"/>
                          <a:cs typeface="Iskoola Pota" panose="02010503010101010104" pitchFamily="2" charset="0"/>
                        </a:rPr>
                        <a:t>FR </a:t>
                      </a:r>
                      <a:r>
                        <a:rPr lang="si-LK" sz="1600">
                          <a:effectLst/>
                          <a:latin typeface="Calibri" panose="020F0502020204030204" pitchFamily="34" charset="0"/>
                          <a:ea typeface="Calibri" panose="020F0502020204030204" pitchFamily="34" charset="0"/>
                          <a:cs typeface="Iskoola Pota" panose="02010503010101010104" pitchFamily="2" charset="0"/>
                        </a:rPr>
                        <a:t>ඉදිරිපත් කිරීම </a:t>
                      </a:r>
                      <a:r>
                        <a:rPr lang="en-US" sz="1600">
                          <a:effectLst/>
                          <a:latin typeface="Calibri" panose="020F0502020204030204" pitchFamily="34" charset="0"/>
                          <a:ea typeface="Calibri" panose="020F0502020204030204" pitchFamily="34" charset="0"/>
                          <a:cs typeface="Iskoola Pota" panose="02010503010101010104" pitchFamily="2" charset="0"/>
                        </a:rPr>
                        <a:t>6.6</a:t>
                      </a:r>
                    </a:p>
                    <a:p>
                      <a:pPr marL="0" marR="0">
                        <a:lnSpc>
                          <a:spcPct val="107000"/>
                        </a:lnSpc>
                        <a:spcBef>
                          <a:spcPts val="0"/>
                        </a:spcBef>
                        <a:spcAft>
                          <a:spcPts val="0"/>
                        </a:spcAft>
                      </a:pPr>
                      <a:r>
                        <a:rPr lang="en-US" sz="160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a:effectLst/>
                          <a:latin typeface="Calibri" panose="020F0502020204030204" pitchFamily="34" charset="0"/>
                          <a:ea typeface="Calibri" panose="020F0502020204030204" pitchFamily="34" charset="0"/>
                          <a:cs typeface="Iskoola Pota" panose="02010503010101010104" pitchFamily="2" charset="0"/>
                        </a:rPr>
                        <a:t>USAR </a:t>
                      </a:r>
                      <a:r>
                        <a:rPr lang="si-LK" sz="1600">
                          <a:effectLst/>
                          <a:latin typeface="Calibri" panose="020F0502020204030204" pitchFamily="34" charset="0"/>
                          <a:ea typeface="Calibri" panose="020F0502020204030204" pitchFamily="34" charset="0"/>
                          <a:cs typeface="Iskoola Pota" panose="02010503010101010104" pitchFamily="2" charset="0"/>
                        </a:rPr>
                        <a:t>මෙහෙයුම අතරතුර මියගිය අය ඉවත් කිරිමට භාර දෙන්න</a:t>
                      </a:r>
                      <a:endParaRPr lang="en-US" sz="16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9542">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සහභාගිවන්නා: ඉගෙනීමේ කරුණු පැහැදිලි කිරීමට ප්‍රශ්න අසමින් අවශ්‍ය පරිදි සවන් දී අන්තර් සම්බන්ධතාවය තබා ගන්න.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r>
              <a:tr h="659314">
                <a:tc>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600" dirty="0">
                          <a:effectLst/>
                          <a:latin typeface="Calibri" panose="020F0502020204030204" pitchFamily="34" charset="0"/>
                          <a:ea typeface="Calibri" panose="020F0502020204030204" pitchFamily="34" charset="0"/>
                          <a:cs typeface="Iskoola Pota" panose="02010503010101010104" pitchFamily="2" charset="0"/>
                        </a:rPr>
                        <a:t>15 </a:t>
                      </a:r>
                      <a:r>
                        <a:rPr lang="si-LK" sz="1600" dirty="0">
                          <a:effectLst/>
                          <a:latin typeface="Calibri" panose="020F0502020204030204" pitchFamily="34" charset="0"/>
                          <a:ea typeface="Calibri" panose="020F0502020204030204" pitchFamily="34" charset="0"/>
                          <a:cs typeface="Iskoola Pota" panose="02010503010101010104" pitchFamily="2" charset="0"/>
                        </a:rPr>
                        <a:t>යි</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9314">
                <a:tc gridSpan="4">
                  <a:txBody>
                    <a:bodyPr/>
                    <a:lstStyle/>
                    <a:p>
                      <a:endParaRPr lang="en-US" dirty="0"/>
                    </a:p>
                  </a:txBody>
                  <a:tcPr>
                    <a:lnT w="12700" cap="flat" cmpd="sng" algn="ctr">
                      <a:solidFill>
                        <a:srgbClr val="000000"/>
                      </a:solidFill>
                      <a:prstDash val="solid"/>
                      <a:round/>
                      <a:headEnd type="none" w="med" len="med"/>
                      <a:tailEnd type="none" w="med" len="med"/>
                    </a:lnT>
                  </a:tcPr>
                </a:tc>
                <a:tc hMerge="1">
                  <a:txBody>
                    <a:bodyPr/>
                    <a:lstStyle/>
                    <a:p>
                      <a:endParaRPr lang="en-US" dirty="0"/>
                    </a:p>
                  </a:txBody>
                  <a:tcPr>
                    <a:lnT w="12700" cap="flat" cmpd="sng" algn="ctr">
                      <a:solidFill>
                        <a:srgbClr val="000000"/>
                      </a:solidFill>
                      <a:prstDash val="solid"/>
                      <a:round/>
                      <a:headEnd type="none" w="med" len="med"/>
                      <a:tailEnd type="none" w="med" len="med"/>
                    </a:lnT>
                  </a:tcPr>
                </a:tc>
                <a:tc hMerge="1">
                  <a:txBody>
                    <a:bodyPr/>
                    <a:lstStyle/>
                    <a:p>
                      <a:pPr marL="0" marR="0">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T w="12700" cap="flat" cmpd="sng" algn="ctr">
                      <a:noFill/>
                      <a:prstDash val="solid"/>
                      <a:round/>
                      <a:headEnd type="none" w="med" len="med"/>
                      <a:tailEnd type="none" w="med" len="med"/>
                    </a:lnT>
                  </a:tcPr>
                </a:tc>
              </a:tr>
            </a:tbl>
          </a:graphicData>
        </a:graphic>
      </p:graphicFrame>
      <p:sp>
        <p:nvSpPr>
          <p:cNvPr id="5" name="Rectangle 1"/>
          <p:cNvSpPr>
            <a:spLocks noChangeArrowheads="1"/>
          </p:cNvSpPr>
          <p:nvPr/>
        </p:nvSpPr>
        <p:spPr bwMode="auto">
          <a:xfrm>
            <a:off x="3725863"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510638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587918960"/>
              </p:ext>
            </p:extLst>
          </p:nvPr>
        </p:nvGraphicFramePr>
        <p:xfrm>
          <a:off x="427718" y="589910"/>
          <a:ext cx="11394168" cy="1937990"/>
        </p:xfrm>
        <a:graphic>
          <a:graphicData uri="http://schemas.openxmlformats.org/drawingml/2006/table">
            <a:tbl>
              <a:tblPr firstRow="1" firstCol="1" bandRow="1"/>
              <a:tblGrid>
                <a:gridCol w="4087838"/>
                <a:gridCol w="7306330"/>
              </a:tblGrid>
              <a:tr h="0">
                <a:tc gridSpan="2">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උපදේශක සටහන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r>
              <a:tr h="1677068">
                <a:tc>
                  <a:txBody>
                    <a:bodyPr/>
                    <a:lstStyle/>
                    <a:p>
                      <a:pPr marL="0" marR="0">
                        <a:lnSpc>
                          <a:spcPct val="107000"/>
                        </a:lnSpc>
                        <a:spcBef>
                          <a:spcPts val="0"/>
                        </a:spcBef>
                        <a:spcAft>
                          <a:spcPts val="0"/>
                        </a:spcAft>
                      </a:pPr>
                      <a:r>
                        <a:rPr lang="si-LK" sz="1800" dirty="0">
                          <a:effectLst/>
                          <a:latin typeface="Calibri" panose="020F0502020204030204" pitchFamily="34" charset="0"/>
                          <a:ea typeface="Calibri" panose="020F0502020204030204" pitchFamily="34" charset="0"/>
                          <a:cs typeface="Iskoola Pota" panose="02010503010101010104" pitchFamily="2" charset="0"/>
                        </a:rPr>
                        <a:t>අත්පත්‍රිකා ලබා දෙන්න</a:t>
                      </a:r>
                      <a:endParaRPr lang="en-US" sz="18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Iskoola Pota" panose="02010503010101010104" pitchFamily="2" charset="0"/>
                        </a:rPr>
                        <a:t>USAR </a:t>
                      </a:r>
                      <a:r>
                        <a:rPr lang="si-LK" sz="1800" dirty="0">
                          <a:effectLst/>
                          <a:latin typeface="Calibri" panose="020F0502020204030204" pitchFamily="34" charset="0"/>
                          <a:ea typeface="Calibri" panose="020F0502020204030204" pitchFamily="34" charset="0"/>
                          <a:cs typeface="Iskoola Pota" panose="02010503010101010104" pitchFamily="2" charset="0"/>
                        </a:rPr>
                        <a:t>මෙහෙයුම් වලදී මිය ගිය අය හැසිරවීම සදහා වෛද්‍ය ක්‍රියාකාරී කණ්ඩායමේ (</a:t>
                      </a:r>
                      <a:r>
                        <a:rPr lang="en-US" sz="1800" dirty="0">
                          <a:effectLst/>
                          <a:latin typeface="Calibri" panose="020F0502020204030204" pitchFamily="34" charset="0"/>
                          <a:ea typeface="Calibri" panose="020F0502020204030204" pitchFamily="34" charset="0"/>
                          <a:cs typeface="Iskoola Pota" panose="02010503010101010104" pitchFamily="2" charset="0"/>
                        </a:rPr>
                        <a:t>MWG) </a:t>
                      </a:r>
                      <a:r>
                        <a:rPr lang="si-LK" sz="1800" dirty="0">
                          <a:effectLst/>
                          <a:latin typeface="Calibri" panose="020F0502020204030204" pitchFamily="34" charset="0"/>
                          <a:ea typeface="Calibri" panose="020F0502020204030204" pitchFamily="34" charset="0"/>
                          <a:cs typeface="Iskoola Pota" panose="02010503010101010104" pitchFamily="2" charset="0"/>
                        </a:rPr>
                        <a:t>වලට මෙම පිටපතක් භාර දෙන්න</a:t>
                      </a:r>
                      <a:endParaRPr lang="en-US" sz="18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6302727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Overlay-2ColumnText.png"/>
          <p:cNvPicPr/>
          <p:nvPr/>
        </p:nvPicPr>
        <p:blipFill>
          <a:blip r:embed="rId2"/>
          <a:stretch>
            <a:fillRect/>
          </a:stretch>
        </p:blipFill>
        <p:spPr>
          <a:xfrm>
            <a:off x="308472" y="879087"/>
            <a:ext cx="3428149" cy="5171757"/>
          </a:xfrm>
          <a:prstGeom prst="round2DiagRect">
            <a:avLst/>
          </a:prstGeom>
          <a:gradFill flip="none" rotWithShape="1">
            <a:gsLst>
              <a:gs pos="0">
                <a:srgbClr val="38ABED"/>
              </a:gs>
              <a:gs pos="100000">
                <a:srgbClr val="1B3861"/>
              </a:gs>
            </a:gsLst>
            <a:lin ang="5400000" scaled="0"/>
            <a:tileRect/>
          </a:gradFill>
        </p:spPr>
      </p:pic>
      <p:pic>
        <p:nvPicPr>
          <p:cNvPr id="10" name="Picture 9"/>
          <p:cNvPicPr>
            <a:picLocks noChangeAspect="1"/>
          </p:cNvPicPr>
          <p:nvPr/>
        </p:nvPicPr>
        <p:blipFill rotWithShape="1">
          <a:blip r:embed="rId3"/>
          <a:srcRect l="28796" t="18296" r="53241" b="76370"/>
          <a:stretch/>
        </p:blipFill>
        <p:spPr>
          <a:xfrm>
            <a:off x="390071" y="136525"/>
            <a:ext cx="2463800" cy="457200"/>
          </a:xfrm>
          <a:prstGeom prst="rect">
            <a:avLst/>
          </a:prstGeom>
        </p:spPr>
      </p:pic>
      <p:sp>
        <p:nvSpPr>
          <p:cNvPr id="4" name="Title 3"/>
          <p:cNvSpPr txBox="1">
            <a:spLocks noGrp="1"/>
          </p:cNvSpPr>
          <p:nvPr>
            <p:ph type="title"/>
          </p:nvPr>
        </p:nvSpPr>
        <p:spPr>
          <a:xfrm>
            <a:off x="490653" y="1142804"/>
            <a:ext cx="4371278" cy="1089529"/>
          </a:xfrm>
          <a:prstGeom prst="rect">
            <a:avLst/>
          </a:prstGeom>
          <a:noFill/>
        </p:spPr>
        <p:txBody>
          <a:bodyPr wrap="square" rtlCol="0">
            <a:spAutoFit/>
          </a:bodyPr>
          <a:lstStyle/>
          <a:p>
            <a:r>
              <a:rPr lang="si-LK" sz="3600" b="1" dirty="0" smtClean="0">
                <a:solidFill>
                  <a:prstClr val="black"/>
                </a:solidFill>
                <a:latin typeface="Calibri Light" panose="020F0302020204030204"/>
              </a:rPr>
              <a:t>පළමුව </a:t>
            </a:r>
            <a:br>
              <a:rPr lang="si-LK" sz="3600" b="1" dirty="0" smtClean="0">
                <a:solidFill>
                  <a:prstClr val="black"/>
                </a:solidFill>
                <a:latin typeface="Calibri Light" panose="020F0302020204030204"/>
              </a:rPr>
            </a:br>
            <a:r>
              <a:rPr lang="si-LK" sz="3600" b="1" dirty="0" smtClean="0">
                <a:solidFill>
                  <a:prstClr val="black"/>
                </a:solidFill>
                <a:latin typeface="Calibri Light" panose="020F0302020204030204"/>
              </a:rPr>
              <a:t>ප්‍රතිචාර දක්වන්නා</a:t>
            </a:r>
            <a:endParaRPr lang="en-US" sz="3600" b="1" dirty="0"/>
          </a:p>
        </p:txBody>
      </p:sp>
      <p:sp>
        <p:nvSpPr>
          <p:cNvPr id="3" name="Content Placeholder 2"/>
          <p:cNvSpPr>
            <a:spLocks noGrp="1"/>
          </p:cNvSpPr>
          <p:nvPr>
            <p:ph idx="1"/>
          </p:nvPr>
        </p:nvSpPr>
        <p:spPr>
          <a:xfrm>
            <a:off x="308473" y="2467781"/>
            <a:ext cx="11001784" cy="4694918"/>
          </a:xfrm>
          <a:noFill/>
          <a:ln>
            <a:no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si-LK" sz="2400" dirty="0"/>
              <a:t>ඉදිරිපත් කිරිමේ මාතෘකා</a:t>
            </a:r>
            <a:r>
              <a:rPr lang="si-LK" sz="2400" dirty="0" smtClean="0"/>
              <a:t>ව	:- තුවාලකරු හැසිරවීම</a:t>
            </a:r>
            <a:r>
              <a:rPr lang="si-LK" sz="2400" dirty="0"/>
              <a:t>	</a:t>
            </a:r>
            <a:r>
              <a:rPr lang="en-US" sz="2400" dirty="0"/>
              <a:t/>
            </a:r>
            <a:br>
              <a:rPr lang="en-US" sz="2400" dirty="0"/>
            </a:br>
            <a:r>
              <a:rPr lang="si-LK" sz="2400" dirty="0" smtClean="0"/>
              <a:t>	ම</a:t>
            </a:r>
            <a:r>
              <a:rPr lang="si-LK" sz="2400" dirty="0"/>
              <a:t>ොඩියුලර</a:t>
            </a:r>
            <a:r>
              <a:rPr lang="si-LK" sz="2400" dirty="0" smtClean="0"/>
              <a:t>්		: 6.6</a:t>
            </a:r>
          </a:p>
          <a:p>
            <a:pPr marL="0" indent="0">
              <a:buNone/>
            </a:pPr>
            <a:r>
              <a:rPr lang="en-US" sz="2400" dirty="0" smtClean="0"/>
              <a:t/>
            </a:r>
            <a:br>
              <a:rPr lang="en-US" sz="2400" dirty="0" smtClean="0"/>
            </a:br>
            <a:r>
              <a:rPr lang="si-LK" sz="2400" dirty="0" smtClean="0"/>
              <a:t>ඉදිරිපත් කරන්නන්/ උපදේශක	:- ඉදිරිපත් කරන්නන්ගේ නම මෙහි </a:t>
            </a:r>
            <a:r>
              <a:rPr lang="si-LK" sz="2400" dirty="0"/>
              <a:t>එක</a:t>
            </a:r>
            <a:r>
              <a:rPr lang="si-LK" sz="2400" dirty="0" smtClean="0"/>
              <a:t>් කරන</a:t>
            </a:r>
            <a:r>
              <a:rPr lang="si-LK" sz="2400" dirty="0"/>
              <a:t>්න.</a:t>
            </a:r>
            <a:r>
              <a:rPr lang="si-LK" sz="2200" dirty="0" smtClean="0"/>
              <a:t>					</a:t>
            </a:r>
          </a:p>
          <a:p>
            <a:pPr marL="0" indent="0">
              <a:buNone/>
            </a:pPr>
            <a:r>
              <a:rPr lang="en-US" dirty="0"/>
              <a:t/>
            </a:r>
            <a:br>
              <a:rPr lang="en-US" dirty="0"/>
            </a:br>
            <a:r>
              <a:rPr lang="en-US" dirty="0"/>
              <a:t/>
            </a:r>
            <a:br>
              <a:rPr lang="en-US" dirty="0"/>
            </a:br>
            <a:endParaRPr lang="si-LK" dirty="0" smtClean="0"/>
          </a:p>
          <a:p>
            <a:pPr marL="0" indent="0">
              <a:buNone/>
            </a:pPr>
            <a:r>
              <a:rPr lang="en-US" sz="1600" dirty="0">
                <a:solidFill>
                  <a:schemeClr val="bg1"/>
                </a:solidFill>
              </a:rPr>
              <a:t>Coordination Saves Lives</a:t>
            </a:r>
            <a:endParaRPr lang="si-LK" sz="1600" dirty="0" smtClean="0">
              <a:solidFill>
                <a:schemeClr val="bg1"/>
              </a:solidFill>
            </a:endParaRPr>
          </a:p>
          <a:p>
            <a:pPr marL="0" indent="0">
              <a:buNone/>
            </a:pPr>
            <a:r>
              <a:rPr lang="en-US" dirty="0" smtClean="0"/>
              <a:t>							</a:t>
            </a:r>
          </a:p>
          <a:p>
            <a:pPr marL="0" indent="0">
              <a:buNone/>
            </a:pPr>
            <a:r>
              <a:rPr lang="en-US" dirty="0"/>
              <a:t>	</a:t>
            </a:r>
            <a:r>
              <a:rPr lang="en-US" dirty="0" smtClean="0"/>
              <a:t>									</a:t>
            </a:r>
            <a:r>
              <a:rPr lang="si-LK" dirty="0" smtClean="0"/>
              <a:t>	</a:t>
            </a:r>
            <a:endParaRPr lang="en-US" dirty="0"/>
          </a:p>
        </p:txBody>
      </p:sp>
      <p:pic>
        <p:nvPicPr>
          <p:cNvPr id="11" name="Picture 10"/>
          <p:cNvPicPr>
            <a:picLocks noChangeAspect="1"/>
          </p:cNvPicPr>
          <p:nvPr/>
        </p:nvPicPr>
        <p:blipFill rotWithShape="1">
          <a:blip r:embed="rId3"/>
          <a:srcRect l="28981" t="79333" r="13981" b="13852"/>
          <a:stretch/>
        </p:blipFill>
        <p:spPr>
          <a:xfrm>
            <a:off x="198160" y="6230892"/>
            <a:ext cx="11907157" cy="681037"/>
          </a:xfrm>
          <a:prstGeom prst="rect">
            <a:avLst/>
          </a:prstGeom>
        </p:spPr>
      </p:pic>
    </p:spTree>
    <p:extLst>
      <p:ext uri="{BB962C8B-B14F-4D97-AF65-F5344CB8AC3E}">
        <p14:creationId xmlns:p14="http://schemas.microsoft.com/office/powerpoint/2010/main" val="35468879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070" y="1042635"/>
            <a:ext cx="7508682" cy="4514103"/>
          </a:xfrm>
        </p:spPr>
        <p:txBody>
          <a:bodyPr>
            <a:normAutofit fontScale="70000" lnSpcReduction="20000"/>
          </a:bodyPr>
          <a:lstStyle/>
          <a:p>
            <a:pPr marL="0" indent="0" algn="ctr">
              <a:buNone/>
            </a:pPr>
            <a:endParaRPr lang="en-US" sz="3600" b="1" dirty="0"/>
          </a:p>
          <a:p>
            <a:pPr marL="0" indent="0">
              <a:buNone/>
            </a:pPr>
            <a:r>
              <a:rPr lang="en-US" sz="4800" dirty="0" smtClean="0"/>
              <a:t>     </a:t>
            </a:r>
            <a:r>
              <a:rPr lang="si-LK" sz="6400" dirty="0" smtClean="0"/>
              <a:t>ම</a:t>
            </a:r>
            <a:r>
              <a:rPr lang="si-LK" sz="6400" dirty="0"/>
              <a:t>ූලික වෛද්‍ය ගලවා ගැනි</a:t>
            </a:r>
            <a:r>
              <a:rPr lang="si-LK" sz="6400" dirty="0" smtClean="0"/>
              <a:t>ම</a:t>
            </a:r>
          </a:p>
          <a:p>
            <a:pPr marL="0" indent="0">
              <a:buNone/>
            </a:pPr>
            <a:endParaRPr lang="si-LK" sz="4800" dirty="0"/>
          </a:p>
          <a:p>
            <a:pPr marL="0" indent="0">
              <a:buNone/>
            </a:pPr>
            <a:endParaRPr lang="en-US" sz="4800" dirty="0" smtClean="0"/>
          </a:p>
          <a:p>
            <a:pPr marL="0" indent="0">
              <a:buNone/>
            </a:pPr>
            <a:r>
              <a:rPr lang="si-LK" sz="3600" dirty="0" smtClean="0"/>
              <a:t>		</a:t>
            </a:r>
            <a:r>
              <a:rPr lang="si-LK" sz="4600" dirty="0" smtClean="0"/>
              <a:t>ම</a:t>
            </a:r>
            <a:r>
              <a:rPr lang="si-LK" sz="4600" dirty="0"/>
              <a:t>ියගිය පුද්ගලයින් හැසිරවීම</a:t>
            </a:r>
            <a:endParaRPr lang="en-US" sz="4600" dirty="0"/>
          </a:p>
          <a:p>
            <a:pPr marL="0" indent="0">
              <a:buNone/>
            </a:pPr>
            <a:endParaRPr lang="si-LK" sz="3600" dirty="0"/>
          </a:p>
          <a:p>
            <a:pPr marL="0" indent="0">
              <a:buNone/>
            </a:pPr>
            <a:endParaRPr lang="en-US" sz="3600" dirty="0"/>
          </a:p>
          <a:p>
            <a:pPr marL="0" indent="0">
              <a:buNone/>
            </a:pPr>
            <a:r>
              <a:rPr lang="si-LK" sz="3600" dirty="0" smtClean="0"/>
              <a:t>	</a:t>
            </a:r>
            <a:endParaRPr lang="en-US" sz="3600" dirty="0"/>
          </a:p>
          <a:p>
            <a:pPr marL="0" indent="0">
              <a:buNone/>
            </a:pPr>
            <a:endParaRPr lang="en-US" sz="3600" dirty="0"/>
          </a:p>
          <a:p>
            <a:pPr marL="0" indent="0">
              <a:buNone/>
            </a:pPr>
            <a:r>
              <a:rPr lang="si-LK" sz="3600" dirty="0"/>
              <a:t> </a:t>
            </a:r>
            <a:r>
              <a:rPr lang="si-LK" sz="3600" dirty="0" smtClean="0"/>
              <a:t>  </a:t>
            </a:r>
            <a:endParaRPr lang="si-LK" sz="3600" b="1" dirty="0" smtClean="0"/>
          </a:p>
          <a:p>
            <a:pPr marL="0" indent="0">
              <a:buNone/>
            </a:pPr>
            <a:endParaRPr lang="en-US" sz="3600" b="1" dirty="0"/>
          </a:p>
          <a:p>
            <a:pPr marL="0" indent="0" algn="ctr">
              <a:buNone/>
            </a:pPr>
            <a:endParaRPr lang="si-LK" sz="36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186871" y="6176963"/>
            <a:ext cx="11907157" cy="681037"/>
          </a:xfrm>
          <a:prstGeom prst="rect">
            <a:avLst/>
          </a:prstGeom>
        </p:spPr>
      </p:pic>
      <p:pic>
        <p:nvPicPr>
          <p:cNvPr id="11" name="Picture 10" descr="Overlay-2ColumnText.png"/>
          <p:cNvPicPr/>
          <p:nvPr/>
        </p:nvPicPr>
        <p:blipFill>
          <a:blip r:embed="rId3"/>
          <a:stretch>
            <a:fillRect/>
          </a:stretch>
        </p:blipFill>
        <p:spPr>
          <a:xfrm>
            <a:off x="7981244" y="223365"/>
            <a:ext cx="3603014" cy="5688981"/>
          </a:xfrm>
          <a:prstGeom prst="round2DiagRect">
            <a:avLst/>
          </a:prstGeom>
          <a:gradFill flip="none" rotWithShape="1">
            <a:gsLst>
              <a:gs pos="0">
                <a:srgbClr val="38ABED"/>
              </a:gs>
              <a:gs pos="100000">
                <a:srgbClr val="1B3861"/>
              </a:gs>
            </a:gsLst>
            <a:lin ang="5400000" scaled="0"/>
            <a:tileRect/>
          </a:gradFill>
        </p:spPr>
      </p:pic>
      <p:sp>
        <p:nvSpPr>
          <p:cNvPr id="12" name="Title 3"/>
          <p:cNvSpPr txBox="1">
            <a:spLocks noGrp="1"/>
          </p:cNvSpPr>
          <p:nvPr>
            <p:ph type="title"/>
          </p:nvPr>
        </p:nvSpPr>
        <p:spPr>
          <a:xfrm>
            <a:off x="7236178" y="372126"/>
            <a:ext cx="4084965" cy="1089529"/>
          </a:xfrm>
          <a:prstGeom prst="rect">
            <a:avLst/>
          </a:prstGeom>
          <a:noFill/>
        </p:spPr>
        <p:txBody>
          <a:bodyPr wrap="square" rtlCol="0">
            <a:spAutoFit/>
          </a:bodyPr>
          <a:lstStyle/>
          <a:p>
            <a:pPr algn="r"/>
            <a:r>
              <a:rPr lang="si-LK" sz="3600" b="1" dirty="0" smtClean="0">
                <a:solidFill>
                  <a:prstClr val="black"/>
                </a:solidFill>
                <a:latin typeface="Calibri Light" panose="020F0302020204030204"/>
              </a:rPr>
              <a:t>පළමුව </a:t>
            </a:r>
            <a:br>
              <a:rPr lang="si-LK" sz="3600" b="1" dirty="0" smtClean="0">
                <a:solidFill>
                  <a:prstClr val="black"/>
                </a:solidFill>
                <a:latin typeface="Calibri Light" panose="020F0302020204030204"/>
              </a:rPr>
            </a:br>
            <a:r>
              <a:rPr lang="si-LK" sz="3600" b="1" dirty="0" smtClean="0">
                <a:solidFill>
                  <a:prstClr val="black"/>
                </a:solidFill>
                <a:latin typeface="Calibri Light" panose="020F0302020204030204"/>
              </a:rPr>
              <a:t>ප්‍රතිචාර දක්වන්නා</a:t>
            </a:r>
            <a:endParaRPr lang="en-US" sz="3600" b="1" dirty="0"/>
          </a:p>
        </p:txBody>
      </p:sp>
      <p:sp>
        <p:nvSpPr>
          <p:cNvPr id="13" name="Rectangle 12"/>
          <p:cNvSpPr/>
          <p:nvPr/>
        </p:nvSpPr>
        <p:spPr>
          <a:xfrm>
            <a:off x="8161867" y="5278398"/>
            <a:ext cx="2997650" cy="369332"/>
          </a:xfrm>
          <a:prstGeom prst="rect">
            <a:avLst/>
          </a:prstGeom>
        </p:spPr>
        <p:txBody>
          <a:bodyPr wrap="square">
            <a:spAutoFit/>
          </a:bodyPr>
          <a:lstStyle/>
          <a:p>
            <a:r>
              <a:rPr lang="en-US" dirty="0">
                <a:solidFill>
                  <a:schemeClr val="bg1"/>
                </a:solidFill>
              </a:rPr>
              <a:t>Coordination Saves Lives</a:t>
            </a:r>
          </a:p>
        </p:txBody>
      </p:sp>
    </p:spTree>
    <p:extLst>
      <p:ext uri="{BB962C8B-B14F-4D97-AF65-F5344CB8AC3E}">
        <p14:creationId xmlns:p14="http://schemas.microsoft.com/office/powerpoint/2010/main" val="8350668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530578" y="872242"/>
            <a:ext cx="6096000" cy="1366528"/>
          </a:xfrm>
          <a:prstGeom prst="rect">
            <a:avLst/>
          </a:prstGeom>
        </p:spPr>
        <p:txBody>
          <a:bodyPr>
            <a:spAutoFit/>
          </a:bodyPr>
          <a:lstStyle/>
          <a:p>
            <a:pPr>
              <a:lnSpc>
                <a:spcPct val="107000"/>
              </a:lnSpc>
              <a:tabLst>
                <a:tab pos="3983355" algn="l"/>
              </a:tabLst>
            </a:pPr>
            <a:r>
              <a:rPr lang="si-LK" sz="4000" b="1" dirty="0">
                <a:latin typeface="Calibri" panose="020F0502020204030204" pitchFamily="34" charset="0"/>
                <a:ea typeface="Calibri" panose="020F0502020204030204" pitchFamily="34" charset="0"/>
              </a:rPr>
              <a:t>මියගිය පුද්ගලයින් හැසිරවීම	</a:t>
            </a:r>
            <a:endParaRPr lang="en-US" sz="4000" b="1" dirty="0">
              <a:latin typeface="Calibri" panose="020F0502020204030204" pitchFamily="34" charset="0"/>
              <a:ea typeface="Calibri" panose="020F0502020204030204" pitchFamily="34" charset="0"/>
              <a:cs typeface="Iskoola Pota" panose="02010503010101010104" pitchFamily="2" charset="0"/>
            </a:endParaRPr>
          </a:p>
          <a:p>
            <a:r>
              <a:rPr lang="si-LK" sz="4000" b="1" dirty="0">
                <a:latin typeface="Calibri" panose="020F0502020204030204" pitchFamily="34" charset="0"/>
                <a:ea typeface="Calibri" panose="020F0502020204030204" pitchFamily="34" charset="0"/>
              </a:rPr>
              <a:t>ඉගෙනුම් ප්‍රතිඵල </a:t>
            </a:r>
            <a:endParaRPr lang="en-US" sz="4000" b="1" dirty="0"/>
          </a:p>
        </p:txBody>
      </p:sp>
      <p:sp>
        <p:nvSpPr>
          <p:cNvPr id="3" name="Rectangle 2"/>
          <p:cNvSpPr/>
          <p:nvPr/>
        </p:nvSpPr>
        <p:spPr>
          <a:xfrm>
            <a:off x="632177" y="2532834"/>
            <a:ext cx="11017955" cy="2798202"/>
          </a:xfrm>
          <a:prstGeom prst="rect">
            <a:avLst/>
          </a:prstGeom>
        </p:spPr>
        <p:txBody>
          <a:bodyPr wrap="square">
            <a:spAutoFit/>
          </a:bodyPr>
          <a:lstStyle/>
          <a:p>
            <a:pPr marL="342900" marR="0" lvl="0" indent="-342900" algn="just">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මියගිය පුද්ගලයා ආරක්ෂිතව හැසිරවිය යුතු ආකාරය දැන ගන්න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මියගිය පුද්ගලයාට උචිත හා සංස්කෘතික වශයෙන් සංවේදී වන ආකාරයෙන් හැසිරවිය යුතු ආකාරය පිළිබද අවබෝධයක් ලබා ගන්න.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මියගිය පුද්ගලයා හැසිරවීමෙන් ඇති වන අවදානම් පිළිබඳව දැනුවත් වන්න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38138" indent="-338138" algn="just">
              <a:buFont typeface="Wingdings" panose="05000000000000000000" pitchFamily="2" charset="2"/>
              <a:buChar char="§"/>
              <a:tabLst>
                <a:tab pos="395288" algn="l"/>
              </a:tabLst>
            </a:pPr>
            <a:r>
              <a:rPr lang="si-LK" sz="2800" dirty="0" smtClean="0">
                <a:latin typeface="Calibri" panose="020F0502020204030204" pitchFamily="34" charset="0"/>
                <a:ea typeface="Calibri" panose="020F0502020204030204" pitchFamily="34" charset="0"/>
              </a:rPr>
              <a:t>ම</a:t>
            </a:r>
            <a:r>
              <a:rPr lang="si-LK" sz="2800" dirty="0">
                <a:latin typeface="Calibri" panose="020F0502020204030204" pitchFamily="34" charset="0"/>
                <a:ea typeface="Calibri" panose="020F0502020204030204" pitchFamily="34" charset="0"/>
              </a:rPr>
              <a:t>ියගිය පුද්ගලයා ඉවත් කිරීමේදී ගත යුතු සුදුසු ක්‍රියාමාර්ග පිළිබද අවබෝධයක් ලබා ගන්න.</a:t>
            </a:r>
            <a:endParaRPr lang="en-US" sz="2800" dirty="0"/>
          </a:p>
        </p:txBody>
      </p:sp>
    </p:spTree>
    <p:extLst>
      <p:ext uri="{BB962C8B-B14F-4D97-AF65-F5344CB8AC3E}">
        <p14:creationId xmlns:p14="http://schemas.microsoft.com/office/powerpoint/2010/main" val="18281149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530578" y="872242"/>
            <a:ext cx="6096000" cy="721031"/>
          </a:xfrm>
          <a:prstGeom prst="rect">
            <a:avLst/>
          </a:prstGeom>
        </p:spPr>
        <p:txBody>
          <a:bodyPr>
            <a:spAutoFit/>
          </a:bodyPr>
          <a:lstStyle/>
          <a:p>
            <a:pPr>
              <a:lnSpc>
                <a:spcPct val="107000"/>
              </a:lnSpc>
              <a:tabLst>
                <a:tab pos="3983355" algn="l"/>
              </a:tabLst>
            </a:pPr>
            <a:r>
              <a:rPr lang="si-LK" sz="4000" b="1" dirty="0">
                <a:latin typeface="Calibri" panose="020F0502020204030204" pitchFamily="34" charset="0"/>
                <a:ea typeface="Calibri" panose="020F0502020204030204" pitchFamily="34" charset="0"/>
              </a:rPr>
              <a:t>මියගිය පුද්ගලයින් හැසිරවීම	</a:t>
            </a:r>
            <a:endParaRPr lang="en-US" sz="4000" b="1" dirty="0">
              <a:latin typeface="Calibri" panose="020F0502020204030204" pitchFamily="34" charset="0"/>
              <a:ea typeface="Calibri" panose="020F0502020204030204" pitchFamily="34" charset="0"/>
              <a:cs typeface="Iskoola Pota" panose="02010503010101010104" pitchFamily="2" charset="0"/>
            </a:endParaRPr>
          </a:p>
        </p:txBody>
      </p:sp>
      <p:sp>
        <p:nvSpPr>
          <p:cNvPr id="6" name="Rectangle 5"/>
          <p:cNvSpPr/>
          <p:nvPr/>
        </p:nvSpPr>
        <p:spPr>
          <a:xfrm>
            <a:off x="699911" y="1725286"/>
            <a:ext cx="11176000" cy="4702569"/>
          </a:xfrm>
          <a:prstGeom prst="rect">
            <a:avLst/>
          </a:prstGeom>
        </p:spPr>
        <p:txBody>
          <a:bodyPr wrap="square">
            <a:spAutoFit/>
          </a:bodyPr>
          <a:lstStyle/>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සුන්බුන් හෝ සුන්බුන් තුළින් සිරුරු ඉවත්කර ගැනීම පළමු ප්‍රතිචාර දක්වන්නාගේ මූලික කාර්යයක් නොවේ</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කෙසේ වෙතත්</a:t>
            </a:r>
            <a:r>
              <a:rPr lang="en-US" sz="2800" dirty="0">
                <a:latin typeface="Calibri" panose="020F0502020204030204" pitchFamily="34" charset="0"/>
                <a:ea typeface="Calibri" panose="020F0502020204030204" pitchFamily="34" charset="0"/>
                <a:cs typeface="Iskoola Pota" panose="02010503010101010104" pitchFamily="2" charset="0"/>
              </a:rPr>
              <a:t>, </a:t>
            </a:r>
            <a:r>
              <a:rPr lang="si-LK" sz="2800" dirty="0">
                <a:latin typeface="Calibri" panose="020F0502020204030204" pitchFamily="34" charset="0"/>
                <a:ea typeface="Calibri" panose="020F0502020204030204" pitchFamily="34" charset="0"/>
              </a:rPr>
              <a:t>ඔබට එසේ කිරීමට අවශ්‍ය නම් පහත කරුණු පිළිබද අවධානය යොමු කරන්න.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අනතුරට පත් ප්‍රදේශවලින් මියගිය අයව නැවත ගැනිම ආරක්ෂිතව සිදු කිරිම මෙහි මූලික අරමුණයි.</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මියගිය පුද්ගලයා හැසිරවිය යුතු ආකාරය:</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914400" marR="0" lvl="1" indent="-457200" algn="just">
              <a:lnSpc>
                <a:spcPct val="107000"/>
              </a:lnSpc>
              <a:spcBef>
                <a:spcPts val="0"/>
              </a:spcBef>
              <a:spcAft>
                <a:spcPts val="0"/>
              </a:spcAft>
              <a:buFont typeface="Arial" panose="020B0604020202020204" pitchFamily="34" charset="0"/>
              <a:buChar char="•"/>
            </a:pPr>
            <a:r>
              <a:rPr lang="si-LK" sz="2800" dirty="0">
                <a:latin typeface="Calibri" panose="020F0502020204030204" pitchFamily="34" charset="0"/>
                <a:ea typeface="Calibri" panose="020F0502020204030204" pitchFamily="34" charset="0"/>
              </a:rPr>
              <a:t>ගෞරවයෙන්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914400" marR="0" lvl="1" indent="-457200" algn="just">
              <a:lnSpc>
                <a:spcPct val="107000"/>
              </a:lnSpc>
              <a:spcBef>
                <a:spcPts val="0"/>
              </a:spcBef>
              <a:spcAft>
                <a:spcPts val="0"/>
              </a:spcAft>
              <a:buFont typeface="Arial" panose="020B0604020202020204" pitchFamily="34" charset="0"/>
              <a:buChar char="•"/>
            </a:pPr>
            <a:r>
              <a:rPr lang="si-LK" sz="2800" dirty="0">
                <a:latin typeface="Calibri" panose="020F0502020204030204" pitchFamily="34" charset="0"/>
                <a:ea typeface="Calibri" panose="020F0502020204030204" pitchFamily="34" charset="0"/>
              </a:rPr>
              <a:t>ආරක්ෂිතව (</a:t>
            </a:r>
            <a:r>
              <a:rPr lang="en-US" sz="2800" dirty="0">
                <a:latin typeface="Calibri" panose="020F0502020204030204" pitchFamily="34" charset="0"/>
                <a:ea typeface="Calibri" panose="020F0502020204030204" pitchFamily="34" charset="0"/>
                <a:cs typeface="Iskoola Pota" panose="02010503010101010104" pitchFamily="2" charset="0"/>
              </a:rPr>
              <a:t>PPE)</a:t>
            </a:r>
          </a:p>
          <a:p>
            <a:pPr marL="914400" marR="0" lvl="1" indent="-457200" algn="just">
              <a:lnSpc>
                <a:spcPct val="107000"/>
              </a:lnSpc>
              <a:spcBef>
                <a:spcPts val="0"/>
              </a:spcBef>
              <a:spcAft>
                <a:spcPts val="0"/>
              </a:spcAft>
              <a:buFont typeface="Arial" panose="020B0604020202020204" pitchFamily="34" charset="0"/>
              <a:buChar char="•"/>
            </a:pPr>
            <a:r>
              <a:rPr lang="si-LK" sz="2800" dirty="0">
                <a:latin typeface="Calibri" panose="020F0502020204030204" pitchFamily="34" charset="0"/>
                <a:ea typeface="Calibri" panose="020F0502020204030204" pitchFamily="34" charset="0"/>
              </a:rPr>
              <a:t>සමාජයේ සංස්කෘතියට සංවේදී වන ආකාරයෙන්</a:t>
            </a:r>
            <a:endParaRPr lang="en-US" sz="28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41714312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530578" y="872242"/>
            <a:ext cx="6096000" cy="721031"/>
          </a:xfrm>
          <a:prstGeom prst="rect">
            <a:avLst/>
          </a:prstGeom>
        </p:spPr>
        <p:txBody>
          <a:bodyPr>
            <a:spAutoFit/>
          </a:bodyPr>
          <a:lstStyle/>
          <a:p>
            <a:pPr>
              <a:lnSpc>
                <a:spcPct val="107000"/>
              </a:lnSpc>
              <a:tabLst>
                <a:tab pos="3983355" algn="l"/>
              </a:tabLst>
            </a:pPr>
            <a:r>
              <a:rPr lang="si-LK" sz="4000" b="1" dirty="0">
                <a:latin typeface="Calibri" panose="020F0502020204030204" pitchFamily="34" charset="0"/>
                <a:ea typeface="Calibri" panose="020F0502020204030204" pitchFamily="34" charset="0"/>
              </a:rPr>
              <a:t>මියගිය පුද්ගලයින් හැසිරවීම	</a:t>
            </a:r>
            <a:endParaRPr lang="en-US" sz="4000" b="1" dirty="0">
              <a:latin typeface="Calibri" panose="020F0502020204030204" pitchFamily="34" charset="0"/>
              <a:ea typeface="Calibri" panose="020F0502020204030204" pitchFamily="34" charset="0"/>
              <a:cs typeface="Iskoola Pota" panose="02010503010101010104" pitchFamily="2" charset="0"/>
            </a:endParaRPr>
          </a:p>
        </p:txBody>
      </p:sp>
      <p:sp>
        <p:nvSpPr>
          <p:cNvPr id="3" name="Rectangle 2"/>
          <p:cNvSpPr/>
          <p:nvPr/>
        </p:nvSpPr>
        <p:spPr>
          <a:xfrm>
            <a:off x="778932" y="2310968"/>
            <a:ext cx="10961511" cy="2835776"/>
          </a:xfrm>
          <a:prstGeom prst="rect">
            <a:avLst/>
          </a:prstGeom>
        </p:spPr>
        <p:txBody>
          <a:bodyPr wrap="square">
            <a:spAutoFit/>
          </a:bodyPr>
          <a:lstStyle/>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යම් නීතිමය ආයතනයක් මරණය ප්‍රකාශ කර ඇතැයි උපකල්පනය කෙරේ (මෙය රට සහ තත්ත්වය මත රඳා පවතී</a:t>
            </a:r>
            <a:r>
              <a:rPr lang="si-LK" sz="2800" dirty="0" smtClean="0">
                <a:latin typeface="Calibri" panose="020F0502020204030204" pitchFamily="34" charset="0"/>
                <a:ea typeface="Calibri" panose="020F0502020204030204" pitchFamily="34" charset="0"/>
              </a:rPr>
              <a:t>)</a:t>
            </a:r>
          </a:p>
          <a:p>
            <a:pPr marL="342900" marR="0" lvl="0" indent="-342900" algn="just">
              <a:lnSpc>
                <a:spcPct val="107000"/>
              </a:lnSpc>
              <a:spcBef>
                <a:spcPts val="0"/>
              </a:spcBef>
              <a:spcAft>
                <a:spcPts val="0"/>
              </a:spcAft>
              <a:buFont typeface="Symbol" panose="05050102010706020507" pitchFamily="18" charset="2"/>
              <a:buChar char=""/>
            </a:pP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මියගිය පුද්ගලයා ගලවා ගැනිම් අවදානම ගැලවුම්කරුවන්ට වැඩි නම් එය සිදු නොකරන්න.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457200" marR="0" algn="just">
              <a:lnSpc>
                <a:spcPct val="107000"/>
              </a:lnSpc>
              <a:spcBef>
                <a:spcPts val="0"/>
              </a:spcBef>
              <a:spcAft>
                <a:spcPts val="0"/>
              </a:spcAft>
            </a:pPr>
            <a:r>
              <a:rPr lang="si-LK" sz="2800" dirty="0">
                <a:latin typeface="Calibri" panose="020F0502020204030204" pitchFamily="34" charset="0"/>
                <a:ea typeface="Calibri" panose="020F0502020204030204" pitchFamily="34" charset="0"/>
              </a:rPr>
              <a:t>කරන්න</a:t>
            </a:r>
            <a:endParaRPr lang="en-US" sz="28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11718204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530578" y="872242"/>
            <a:ext cx="6096000" cy="721031"/>
          </a:xfrm>
          <a:prstGeom prst="rect">
            <a:avLst/>
          </a:prstGeom>
        </p:spPr>
        <p:txBody>
          <a:bodyPr>
            <a:spAutoFit/>
          </a:bodyPr>
          <a:lstStyle/>
          <a:p>
            <a:pPr>
              <a:lnSpc>
                <a:spcPct val="107000"/>
              </a:lnSpc>
              <a:tabLst>
                <a:tab pos="3983355" algn="l"/>
              </a:tabLst>
            </a:pPr>
            <a:r>
              <a:rPr lang="si-LK" sz="4000" b="1" dirty="0">
                <a:latin typeface="Calibri" panose="020F0502020204030204" pitchFamily="34" charset="0"/>
                <a:ea typeface="Calibri" panose="020F0502020204030204" pitchFamily="34" charset="0"/>
              </a:rPr>
              <a:t>මියගිය පුද්ගලයින් හැසිරවීම	</a:t>
            </a:r>
            <a:endParaRPr lang="en-US" sz="4000" b="1" dirty="0">
              <a:latin typeface="Calibri" panose="020F0502020204030204" pitchFamily="34" charset="0"/>
              <a:ea typeface="Calibri" panose="020F0502020204030204" pitchFamily="34" charset="0"/>
              <a:cs typeface="Iskoola Pota" panose="02010503010101010104" pitchFamily="2" charset="0"/>
            </a:endParaRPr>
          </a:p>
        </p:txBody>
      </p:sp>
      <p:sp>
        <p:nvSpPr>
          <p:cNvPr id="6" name="Rectangle 5"/>
          <p:cNvSpPr/>
          <p:nvPr/>
        </p:nvSpPr>
        <p:spPr>
          <a:xfrm>
            <a:off x="530578" y="1845999"/>
            <a:ext cx="11435644" cy="3780522"/>
          </a:xfrm>
          <a:prstGeom prst="rect">
            <a:avLst/>
          </a:prstGeom>
        </p:spPr>
        <p:txBody>
          <a:bodyPr wrap="square">
            <a:spAutoFit/>
          </a:bodyPr>
          <a:lstStyle/>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ජීවත්ව සිටින අයගේ ශරීර වලින් පිටවන තරලවලට නිරාවරණය වීමට වඩා මියගිය පුද්ගලයාගේ ශරීරයෙන් ගලන තරලයට නිරාවරණය වීම මගින් ගලවා ගැනිම සිදු කරන්නන්ට වෛද්‍යමය අවදානම අඩු කරයි.</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ශරීර තරල කොටස් වලට හානිවිම නිසා ඒවා  (උදා: රුධිරය</a:t>
            </a:r>
            <a:r>
              <a:rPr lang="en-US" sz="2800" dirty="0">
                <a:latin typeface="Calibri" panose="020F0502020204030204" pitchFamily="34" charset="0"/>
                <a:ea typeface="Calibri" panose="020F0502020204030204" pitchFamily="34" charset="0"/>
                <a:cs typeface="Iskoola Pota" panose="02010503010101010104" pitchFamily="2" charset="0"/>
              </a:rPr>
              <a:t>, </a:t>
            </a:r>
            <a:r>
              <a:rPr lang="si-LK" sz="2800" dirty="0">
                <a:latin typeface="Calibri" panose="020F0502020204030204" pitchFamily="34" charset="0"/>
                <a:ea typeface="Calibri" panose="020F0502020204030204" pitchFamily="34" charset="0"/>
              </a:rPr>
              <a:t>මුත්‍රා</a:t>
            </a:r>
            <a:r>
              <a:rPr lang="en-US" sz="2800" dirty="0">
                <a:latin typeface="Calibri" panose="020F0502020204030204" pitchFamily="34" charset="0"/>
                <a:ea typeface="Calibri" panose="020F0502020204030204" pitchFamily="34" charset="0"/>
                <a:cs typeface="Iskoola Pota" panose="02010503010101010104" pitchFamily="2" charset="0"/>
              </a:rPr>
              <a:t>, </a:t>
            </a:r>
            <a:r>
              <a:rPr lang="si-LK" sz="2800" dirty="0">
                <a:latin typeface="Calibri" panose="020F0502020204030204" pitchFamily="34" charset="0"/>
                <a:ea typeface="Calibri" panose="020F0502020204030204" pitchFamily="34" charset="0"/>
              </a:rPr>
              <a:t>මළ මූත්‍රා) ස්ප්ලෑෂ් අනතුරක් ලෙස ඉදිරිපත් කළ හැක</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අස්ථි කොටස් ඉතා තියුණු විය හැකි අතර එම අස්ථි ශරීරයේ අවයව වලින් පිටවීම සිදු වේ.</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දුර්ගන්ධය අධික විය හැක</a:t>
            </a:r>
            <a:endParaRPr lang="en-US" sz="28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17939031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530578" y="872242"/>
            <a:ext cx="6096000" cy="721031"/>
          </a:xfrm>
          <a:prstGeom prst="rect">
            <a:avLst/>
          </a:prstGeom>
        </p:spPr>
        <p:txBody>
          <a:bodyPr>
            <a:spAutoFit/>
          </a:bodyPr>
          <a:lstStyle/>
          <a:p>
            <a:pPr>
              <a:lnSpc>
                <a:spcPct val="107000"/>
              </a:lnSpc>
              <a:tabLst>
                <a:tab pos="3983355" algn="l"/>
              </a:tabLst>
            </a:pPr>
            <a:r>
              <a:rPr lang="si-LK" sz="4000" b="1" dirty="0">
                <a:latin typeface="Calibri" panose="020F0502020204030204" pitchFamily="34" charset="0"/>
                <a:ea typeface="Calibri" panose="020F0502020204030204" pitchFamily="34" charset="0"/>
              </a:rPr>
              <a:t>මියගිය පුද්ගලයින් හැසිරවීම	</a:t>
            </a:r>
            <a:endParaRPr lang="en-US" sz="4000" b="1" dirty="0">
              <a:latin typeface="Calibri" panose="020F0502020204030204" pitchFamily="34" charset="0"/>
              <a:ea typeface="Calibri" panose="020F0502020204030204" pitchFamily="34" charset="0"/>
              <a:cs typeface="Iskoola Pota" panose="02010503010101010104" pitchFamily="2" charset="0"/>
            </a:endParaRPr>
          </a:p>
        </p:txBody>
      </p:sp>
      <p:sp>
        <p:nvSpPr>
          <p:cNvPr id="3" name="Rectangle 2"/>
          <p:cNvSpPr/>
          <p:nvPr/>
        </p:nvSpPr>
        <p:spPr>
          <a:xfrm>
            <a:off x="846666" y="1891155"/>
            <a:ext cx="11142133" cy="3648884"/>
          </a:xfrm>
          <a:prstGeom prst="rect">
            <a:avLst/>
          </a:prstGeom>
        </p:spPr>
        <p:txBody>
          <a:bodyPr wrap="square">
            <a:spAutoFit/>
          </a:bodyPr>
          <a:lstStyle/>
          <a:p>
            <a:pPr marL="342900" marR="0" lvl="0" indent="-342900" algn="just">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මියගිය පුද්ගලයා හැසිරවීම සිදු කරන්නන්ට දැඩි ආතතිය ඇති කළ හැකි බැවින් ඒ පිළිබදව දැනුවත් වන්න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මියගිය පුද්ගලයාට බලපාන කරුණු පිළිබදව සලකා බලන්න: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gn="just">
              <a:lnSpc>
                <a:spcPct val="107000"/>
              </a:lnSpc>
              <a:buFont typeface="Wingdings" panose="05000000000000000000" pitchFamily="2" charset="2"/>
              <a:buChar char=""/>
            </a:pPr>
            <a:r>
              <a:rPr lang="si-LK" sz="2400" dirty="0">
                <a:latin typeface="Calibri" panose="020F0502020204030204" pitchFamily="34" charset="0"/>
                <a:ea typeface="Calibri" panose="020F0502020204030204" pitchFamily="34" charset="0"/>
              </a:rPr>
              <a:t>අන්තරායකාරී අනතුරු වර්ගය</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gn="just">
              <a:lnSpc>
                <a:spcPct val="107000"/>
              </a:lnSpc>
              <a:buFont typeface="Wingdings" panose="05000000000000000000" pitchFamily="2" charset="2"/>
              <a:buChar char=""/>
            </a:pPr>
            <a:r>
              <a:rPr lang="si-LK" sz="2400" dirty="0">
                <a:latin typeface="Calibri" panose="020F0502020204030204" pitchFamily="34" charset="0"/>
                <a:ea typeface="Calibri" panose="020F0502020204030204" pitchFamily="34" charset="0"/>
              </a:rPr>
              <a:t>අනතුරු හා සම්බන්ධ ව්‍යුහයන් වර්ග</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gn="just">
              <a:lnSpc>
                <a:spcPct val="107000"/>
              </a:lnSpc>
              <a:buFont typeface="Wingdings" panose="05000000000000000000" pitchFamily="2" charset="2"/>
              <a:buChar char=""/>
            </a:pPr>
            <a:r>
              <a:rPr lang="si-LK" sz="2400" dirty="0">
                <a:latin typeface="Calibri" panose="020F0502020204030204" pitchFamily="34" charset="0"/>
                <a:ea typeface="Calibri" panose="020F0502020204030204" pitchFamily="34" charset="0"/>
              </a:rPr>
              <a:t>තාපය / ආර්ද්‍රතාවය:</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2171700" lvl="4" indent="-342900" algn="just">
              <a:lnSpc>
                <a:spcPct val="107000"/>
              </a:lnSpc>
              <a:buFont typeface="Wingdings" panose="05000000000000000000" pitchFamily="2" charset="2"/>
              <a:buChar char=""/>
            </a:pPr>
            <a:r>
              <a:rPr lang="si-LK" sz="2400" dirty="0">
                <a:latin typeface="Calibri" panose="020F0502020204030204" pitchFamily="34" charset="0"/>
                <a:ea typeface="Calibri" panose="020F0502020204030204" pitchFamily="34" charset="0"/>
              </a:rPr>
              <a:t>මියගිය පුද්ගලයා දිරාපත් වීමේ  තත්වයක සිටිය හැකිය</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2171700" lvl="4" indent="-342900" algn="just">
              <a:lnSpc>
                <a:spcPct val="107000"/>
              </a:lnSpc>
              <a:buFont typeface="Wingdings" panose="05000000000000000000" pitchFamily="2" charset="2"/>
              <a:buChar char=""/>
            </a:pPr>
            <a:r>
              <a:rPr lang="si-LK" sz="2400" dirty="0">
                <a:latin typeface="Calibri" panose="020F0502020204030204" pitchFamily="34" charset="0"/>
                <a:ea typeface="Calibri" panose="020F0502020204030204" pitchFamily="34" charset="0"/>
              </a:rPr>
              <a:t>සමහර විට බඩ පිම්බී ඇත</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2171700" lvl="4" indent="-342900" algn="just">
              <a:lnSpc>
                <a:spcPct val="107000"/>
              </a:lnSpc>
              <a:buFont typeface="Wingdings" panose="05000000000000000000" pitchFamily="2" charset="2"/>
              <a:buChar char=""/>
            </a:pPr>
            <a:r>
              <a:rPr lang="si-LK" sz="2400" dirty="0">
                <a:latin typeface="Calibri" panose="020F0502020204030204" pitchFamily="34" charset="0"/>
                <a:ea typeface="Calibri" panose="020F0502020204030204" pitchFamily="34" charset="0"/>
              </a:rPr>
              <a:t>හැසිරවීමේදී පහසුවෙන් ශරීර කොටස් කැඩී යා හැක</a:t>
            </a: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4637441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530578" y="872242"/>
            <a:ext cx="6096000" cy="721031"/>
          </a:xfrm>
          <a:prstGeom prst="rect">
            <a:avLst/>
          </a:prstGeom>
        </p:spPr>
        <p:txBody>
          <a:bodyPr>
            <a:spAutoFit/>
          </a:bodyPr>
          <a:lstStyle/>
          <a:p>
            <a:pPr>
              <a:lnSpc>
                <a:spcPct val="107000"/>
              </a:lnSpc>
              <a:tabLst>
                <a:tab pos="3983355" algn="l"/>
              </a:tabLst>
            </a:pPr>
            <a:r>
              <a:rPr lang="si-LK" sz="4000" b="1" dirty="0">
                <a:latin typeface="Calibri" panose="020F0502020204030204" pitchFamily="34" charset="0"/>
                <a:ea typeface="Calibri" panose="020F0502020204030204" pitchFamily="34" charset="0"/>
              </a:rPr>
              <a:t>මියගිය පුද්ගලයින් හැසිරවීම	</a:t>
            </a:r>
            <a:endParaRPr lang="en-US" sz="4000" b="1" dirty="0">
              <a:latin typeface="Calibri" panose="020F0502020204030204" pitchFamily="34" charset="0"/>
              <a:ea typeface="Calibri" panose="020F0502020204030204" pitchFamily="34" charset="0"/>
              <a:cs typeface="Iskoola Pota" panose="02010503010101010104" pitchFamily="2" charset="0"/>
            </a:endParaRPr>
          </a:p>
        </p:txBody>
      </p:sp>
      <p:sp>
        <p:nvSpPr>
          <p:cNvPr id="6" name="Rectangle 5"/>
          <p:cNvSpPr/>
          <p:nvPr/>
        </p:nvSpPr>
        <p:spPr>
          <a:xfrm>
            <a:off x="666044" y="1971591"/>
            <a:ext cx="11164711" cy="4044056"/>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මියගිය පුද්ගලයා ඉවත් කරන විට:</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nSpc>
                <a:spcPct val="107000"/>
              </a:lnSpc>
              <a:buFont typeface="Calibri" panose="020F0502020204030204" pitchFamily="34" charset="0"/>
              <a:buChar char="–"/>
            </a:pPr>
            <a:r>
              <a:rPr lang="en-US" sz="2400" dirty="0">
                <a:latin typeface="Calibri" panose="020F0502020204030204" pitchFamily="34" charset="0"/>
                <a:ea typeface="Calibri" panose="020F0502020204030204" pitchFamily="34" charset="0"/>
                <a:cs typeface="Iskoola Pota" panose="02010503010101010104" pitchFamily="2" charset="0"/>
              </a:rPr>
              <a:t>PPE </a:t>
            </a:r>
            <a:r>
              <a:rPr lang="si-LK" sz="2400" dirty="0">
                <a:latin typeface="Calibri" panose="020F0502020204030204" pitchFamily="34" charset="0"/>
                <a:ea typeface="Calibri" panose="020F0502020204030204" pitchFamily="34" charset="0"/>
              </a:rPr>
              <a:t>භාවිතා කරන්න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nSpc>
                <a:spcPct val="107000"/>
              </a:lnSpc>
              <a:buFont typeface="Calibri" panose="020F0502020204030204" pitchFamily="34" charset="0"/>
              <a:buChar char="–"/>
            </a:pPr>
            <a:r>
              <a:rPr lang="si-LK" sz="2400" dirty="0">
                <a:latin typeface="Calibri" panose="020F0502020204030204" pitchFamily="34" charset="0"/>
                <a:ea typeface="Calibri" panose="020F0502020204030204" pitchFamily="34" charset="0"/>
              </a:rPr>
              <a:t>මියගිය පුද්ගලයා ඉවත් කළ ස්ථානය පිළිබදව සටහන් කර ගන්න.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nSpc>
                <a:spcPct val="107000"/>
              </a:lnSpc>
              <a:buFont typeface="Calibri" panose="020F0502020204030204" pitchFamily="34" charset="0"/>
              <a:buChar char="–"/>
            </a:pPr>
            <a:r>
              <a:rPr lang="si-LK" sz="2400" dirty="0">
                <a:latin typeface="Calibri" panose="020F0502020204030204" pitchFamily="34" charset="0"/>
                <a:ea typeface="Calibri" panose="020F0502020204030204" pitchFamily="34" charset="0"/>
              </a:rPr>
              <a:t>ඉවත් කිරීමට පෙර (හැකි නම්) ඡායාරූප ගන්න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nSpc>
                <a:spcPct val="107000"/>
              </a:lnSpc>
              <a:buFont typeface="Calibri" panose="020F0502020204030204" pitchFamily="34" charset="0"/>
              <a:buChar char="–"/>
            </a:pPr>
            <a:r>
              <a:rPr lang="si-LK" sz="2400" dirty="0">
                <a:latin typeface="Calibri" panose="020F0502020204030204" pitchFamily="34" charset="0"/>
                <a:ea typeface="Calibri" panose="020F0502020204030204" pitchFamily="34" charset="0"/>
              </a:rPr>
              <a:t>මිය ගිය තැනැත්තා භාරදෙන තෙක් සිදු කළ යුතු දැ පිළිබඳ සැලැස්මක් සකස් කර ගන්න.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nSpc>
                <a:spcPct val="107000"/>
              </a:lnSpc>
              <a:buFont typeface="Calibri" panose="020F0502020204030204" pitchFamily="34" charset="0"/>
              <a:buChar char="–"/>
            </a:pPr>
            <a:r>
              <a:rPr lang="si-LK" sz="2400" dirty="0">
                <a:latin typeface="Calibri" panose="020F0502020204030204" pitchFamily="34" charset="0"/>
                <a:ea typeface="Calibri" panose="020F0502020204030204" pitchFamily="34" charset="0"/>
              </a:rPr>
              <a:t>මහජන නිරාවරණය වීම අවම කරන්න.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nSpc>
                <a:spcPct val="107000"/>
              </a:lnSpc>
              <a:buFont typeface="Calibri" panose="020F0502020204030204" pitchFamily="34" charset="0"/>
              <a:buChar char="–"/>
            </a:pPr>
            <a:r>
              <a:rPr lang="si-LK" sz="2400" dirty="0">
                <a:latin typeface="Calibri" panose="020F0502020204030204" pitchFamily="34" charset="0"/>
                <a:ea typeface="Calibri" panose="020F0502020204030204" pitchFamily="34" charset="0"/>
              </a:rPr>
              <a:t>සංස්කෘතිකමය වශයෙන් සුදුසු ආකාරයෙන් ශරීරය ආවරණය කරන්න </a:t>
            </a:r>
            <a:r>
              <a:rPr lang="si-LK" sz="2400" dirty="0" smtClean="0">
                <a:latin typeface="Calibri" panose="020F0502020204030204" pitchFamily="34" charset="0"/>
                <a:ea typeface="Calibri" panose="020F0502020204030204" pitchFamily="34" charset="0"/>
              </a:rPr>
              <a:t>               උද</a:t>
            </a:r>
            <a:r>
              <a:rPr lang="si-LK" sz="2400" dirty="0">
                <a:latin typeface="Calibri" panose="020F0502020204030204" pitchFamily="34" charset="0"/>
                <a:ea typeface="Calibri" panose="020F0502020204030204" pitchFamily="34" charset="0"/>
              </a:rPr>
              <a:t>ා.</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a:latin typeface="Calibri" panose="020F0502020204030204" pitchFamily="34" charset="0"/>
                <a:ea typeface="Calibri" panose="020F0502020204030204" pitchFamily="34" charset="0"/>
              </a:rPr>
              <a:t>බඳ බෑගය එදිරිව ආවරණය</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1257300" lvl="2" indent="-342900">
              <a:lnSpc>
                <a:spcPct val="107000"/>
              </a:lnSpc>
              <a:buFont typeface="Calibri" panose="020F0502020204030204" pitchFamily="34" charset="0"/>
              <a:buChar char="–"/>
            </a:pPr>
            <a:r>
              <a:rPr lang="si-LK" sz="2400" dirty="0">
                <a:latin typeface="Calibri" panose="020F0502020204030204" pitchFamily="34" charset="0"/>
                <a:ea typeface="Calibri" panose="020F0502020204030204" pitchFamily="34" charset="0"/>
              </a:rPr>
              <a:t>මෘත දේහය සමග ඔහුගේ පුද්ගලික ද්‍රව්‍ය භාරදීම සිදු කරන්න.</a:t>
            </a: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9129876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309511" y="1672507"/>
            <a:ext cx="10306756" cy="2858475"/>
          </a:xfrm>
          <a:prstGeom prst="rect">
            <a:avLst/>
          </a:prstGeom>
        </p:spPr>
        <p:txBody>
          <a:bodyPr wrap="square">
            <a:spAutoFit/>
          </a:bodyPr>
          <a:lstStyle/>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ස්වර්ණමය රීතිය </a:t>
            </a:r>
            <a:r>
              <a:rPr lang="en-US" sz="2800" dirty="0">
                <a:latin typeface="Calibri" panose="020F0502020204030204" pitchFamily="34" charset="0"/>
                <a:ea typeface="Calibri" panose="020F0502020204030204" pitchFamily="34" charset="0"/>
                <a:cs typeface="Iskoola Pota" panose="02010503010101010104" pitchFamily="2" charset="0"/>
              </a:rPr>
              <a:t>1:</a:t>
            </a:r>
            <a:r>
              <a:rPr lang="si-LK" sz="2800" dirty="0">
                <a:latin typeface="Calibri" panose="020F0502020204030204" pitchFamily="34" charset="0"/>
                <a:ea typeface="Calibri" panose="020F0502020204030204" pitchFamily="34" charset="0"/>
              </a:rPr>
              <a:t> මියගිය අය ඉවත්කර ගැනිම ඔබේ මූලික වගකීම නොවේ</a:t>
            </a:r>
            <a:r>
              <a:rPr lang="si-LK" sz="2800" dirty="0" smtClean="0">
                <a:latin typeface="Calibri" panose="020F0502020204030204" pitchFamily="34" charset="0"/>
                <a:ea typeface="Calibri" panose="020F0502020204030204" pitchFamily="34" charset="0"/>
              </a:rPr>
              <a:t>.</a:t>
            </a:r>
          </a:p>
          <a:p>
            <a:pPr marL="342900" marR="0" lvl="0" indent="-342900" algn="just">
              <a:lnSpc>
                <a:spcPct val="107000"/>
              </a:lnSpc>
              <a:spcBef>
                <a:spcPts val="0"/>
              </a:spcBef>
              <a:spcAft>
                <a:spcPts val="0"/>
              </a:spcAft>
              <a:buFont typeface="Symbol" panose="05050102010706020507" pitchFamily="18" charset="2"/>
              <a:buChar char=""/>
            </a:pPr>
            <a:endParaRPr lang="si-LK"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gn="just">
              <a:lnSpc>
                <a:spcPct val="107000"/>
              </a:lnSpc>
              <a:spcBef>
                <a:spcPts val="0"/>
              </a:spcBef>
              <a:spcAft>
                <a:spcPts val="0"/>
              </a:spcAft>
              <a:buFont typeface="Symbol" panose="05050102010706020507" pitchFamily="18" charset="2"/>
              <a:buChar char=""/>
            </a:pPr>
            <a:r>
              <a:rPr lang="si-LK" sz="2800" dirty="0">
                <a:latin typeface="Calibri" panose="020F0502020204030204" pitchFamily="34" charset="0"/>
                <a:ea typeface="Calibri" panose="020F0502020204030204" pitchFamily="34" charset="0"/>
              </a:rPr>
              <a:t>ස්වර්ණමය රීතිය 2: මෘත දේහ ඉවත්කිරිමේ අවධානම විශාල නම් එම ඉවත් කිරිම සිදු නොකරන්න.</a:t>
            </a:r>
            <a:endParaRPr lang="en-US" sz="28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931916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981200" y="304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lstStyle>
            <a:lvl1pPr marL="382588" indent="-3429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fontAlgn="base">
              <a:spcBef>
                <a:spcPts val="800"/>
              </a:spcBef>
              <a:spcAft>
                <a:spcPct val="0"/>
              </a:spcAft>
              <a:buClr>
                <a:srgbClr val="FFFFFF"/>
              </a:buClr>
              <a:buSzPct val="100000"/>
            </a:pPr>
            <a:endParaRPr lang="en-US" sz="4000">
              <a:solidFill>
                <a:srgbClr val="056CB6"/>
              </a:solidFill>
              <a:latin typeface="Arial" panose="020B0604020202020204" pitchFamily="34" charset="0"/>
              <a:sym typeface="Times" panose="02020603050405020304" pitchFamily="18" charset="0"/>
            </a:endParaRPr>
          </a:p>
        </p:txBody>
      </p:sp>
      <p:sp>
        <p:nvSpPr>
          <p:cNvPr id="13315" name="TextBox 1"/>
          <p:cNvSpPr txBox="1">
            <a:spLocks noChangeArrowheads="1"/>
          </p:cNvSpPr>
          <p:nvPr/>
        </p:nvSpPr>
        <p:spPr bwMode="auto">
          <a:xfrm>
            <a:off x="2133600" y="609601"/>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endParaRPr lang="en-US">
              <a:solidFill>
                <a:srgbClr val="000000"/>
              </a:solidFill>
            </a:endParaRPr>
          </a:p>
        </p:txBody>
      </p:sp>
      <p:pic>
        <p:nvPicPr>
          <p:cNvPr id="13316" name="Picture 1" descr="background.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24000"/>
            <a:ext cx="876300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2"/>
          <p:cNvSpPr txBox="1">
            <a:spLocks noChangeArrowheads="1"/>
          </p:cNvSpPr>
          <p:nvPr/>
        </p:nvSpPr>
        <p:spPr bwMode="auto">
          <a:xfrm>
            <a:off x="3276600" y="2592388"/>
            <a:ext cx="2819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4400">
                <a:solidFill>
                  <a:srgbClr val="FFFFFF"/>
                </a:solidFill>
                <a:latin typeface="Avenir Medium" charset="0"/>
              </a:rPr>
              <a:t>Questions</a:t>
            </a:r>
          </a:p>
        </p:txBody>
      </p:sp>
      <p:sp>
        <p:nvSpPr>
          <p:cNvPr id="13318" name="TextBox 4"/>
          <p:cNvSpPr txBox="1">
            <a:spLocks noChangeArrowheads="1"/>
          </p:cNvSpPr>
          <p:nvPr/>
        </p:nvSpPr>
        <p:spPr bwMode="auto">
          <a:xfrm rot="-5400000">
            <a:off x="5450682" y="3358357"/>
            <a:ext cx="1752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Cuestión</a:t>
            </a:r>
          </a:p>
        </p:txBody>
      </p:sp>
      <p:sp>
        <p:nvSpPr>
          <p:cNvPr id="13319" name="Rectangle 6"/>
          <p:cNvSpPr>
            <a:spLocks noChangeArrowheads="1"/>
          </p:cNvSpPr>
          <p:nvPr/>
        </p:nvSpPr>
        <p:spPr bwMode="auto">
          <a:xfrm>
            <a:off x="7086600" y="1676401"/>
            <a:ext cx="1798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La question</a:t>
            </a:r>
          </a:p>
        </p:txBody>
      </p:sp>
      <p:sp>
        <p:nvSpPr>
          <p:cNvPr id="13320" name="Rectangle 7"/>
          <p:cNvSpPr>
            <a:spLocks noChangeArrowheads="1"/>
          </p:cNvSpPr>
          <p:nvPr/>
        </p:nvSpPr>
        <p:spPr bwMode="auto">
          <a:xfrm>
            <a:off x="7086600" y="2582864"/>
            <a:ext cx="13756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ar-SA" sz="4400">
                <a:solidFill>
                  <a:srgbClr val="FFFFFF"/>
                </a:solidFill>
              </a:rPr>
              <a:t>الأسئلة</a:t>
            </a:r>
            <a:endParaRPr lang="en-US" sz="4400">
              <a:solidFill>
                <a:srgbClr val="FFFFFF"/>
              </a:solidFill>
            </a:endParaRPr>
          </a:p>
        </p:txBody>
      </p:sp>
      <p:sp>
        <p:nvSpPr>
          <p:cNvPr id="13321" name="Rectangle 8"/>
          <p:cNvSpPr>
            <a:spLocks noChangeArrowheads="1"/>
          </p:cNvSpPr>
          <p:nvPr/>
        </p:nvSpPr>
        <p:spPr bwMode="auto">
          <a:xfrm>
            <a:off x="1905001" y="3200401"/>
            <a:ext cx="1801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bg-BG" sz="3600">
                <a:solidFill>
                  <a:srgbClr val="FFFFFF"/>
                </a:solidFill>
              </a:rPr>
              <a:t>въпроси</a:t>
            </a:r>
            <a:endParaRPr lang="en-US" sz="3600">
              <a:solidFill>
                <a:srgbClr val="FFFFFF"/>
              </a:solidFill>
            </a:endParaRPr>
          </a:p>
        </p:txBody>
      </p:sp>
      <p:sp>
        <p:nvSpPr>
          <p:cNvPr id="13322" name="Rectangle 9"/>
          <p:cNvSpPr>
            <a:spLocks noChangeArrowheads="1"/>
          </p:cNvSpPr>
          <p:nvPr/>
        </p:nvSpPr>
        <p:spPr bwMode="auto">
          <a:xfrm>
            <a:off x="5334001" y="1676401"/>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zh-TW" altLang="en-US" sz="3600">
                <a:solidFill>
                  <a:srgbClr val="FFFFFF"/>
                </a:solidFill>
              </a:rPr>
              <a:t>问题</a:t>
            </a:r>
            <a:endParaRPr lang="en-US" sz="3600">
              <a:solidFill>
                <a:srgbClr val="FFFFFF"/>
              </a:solidFill>
            </a:endParaRPr>
          </a:p>
        </p:txBody>
      </p:sp>
      <p:sp>
        <p:nvSpPr>
          <p:cNvPr id="13323" name="Rectangle 10"/>
          <p:cNvSpPr>
            <a:spLocks noChangeArrowheads="1"/>
          </p:cNvSpPr>
          <p:nvPr/>
        </p:nvSpPr>
        <p:spPr bwMode="auto">
          <a:xfrm>
            <a:off x="5029201" y="3429001"/>
            <a:ext cx="1096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otázky</a:t>
            </a:r>
          </a:p>
        </p:txBody>
      </p:sp>
      <p:sp>
        <p:nvSpPr>
          <p:cNvPr id="13324" name="Rectangle 11"/>
          <p:cNvSpPr>
            <a:spLocks noChangeArrowheads="1"/>
          </p:cNvSpPr>
          <p:nvPr/>
        </p:nvSpPr>
        <p:spPr bwMode="auto">
          <a:xfrm>
            <a:off x="6826250" y="3886201"/>
            <a:ext cx="1860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spørgsmål</a:t>
            </a:r>
          </a:p>
        </p:txBody>
      </p:sp>
      <p:sp>
        <p:nvSpPr>
          <p:cNvPr id="13325" name="Rectangle 12"/>
          <p:cNvSpPr>
            <a:spLocks noChangeArrowheads="1"/>
          </p:cNvSpPr>
          <p:nvPr/>
        </p:nvSpPr>
        <p:spPr bwMode="auto">
          <a:xfrm rot="-5400000">
            <a:off x="2151856" y="2267744"/>
            <a:ext cx="1462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vragen</a:t>
            </a:r>
          </a:p>
        </p:txBody>
      </p:sp>
      <p:sp>
        <p:nvSpPr>
          <p:cNvPr id="13326" name="Rectangle 13"/>
          <p:cNvSpPr>
            <a:spLocks noChangeArrowheads="1"/>
          </p:cNvSpPr>
          <p:nvPr/>
        </p:nvSpPr>
        <p:spPr bwMode="auto">
          <a:xfrm>
            <a:off x="4267201" y="3962401"/>
            <a:ext cx="1655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küsimused</a:t>
            </a:r>
          </a:p>
        </p:txBody>
      </p:sp>
      <p:sp>
        <p:nvSpPr>
          <p:cNvPr id="13327" name="Rectangle 14"/>
          <p:cNvSpPr>
            <a:spLocks noChangeArrowheads="1"/>
          </p:cNvSpPr>
          <p:nvPr/>
        </p:nvSpPr>
        <p:spPr bwMode="auto">
          <a:xfrm>
            <a:off x="7086600" y="2209801"/>
            <a:ext cx="1785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kysymykset</a:t>
            </a:r>
          </a:p>
        </p:txBody>
      </p:sp>
      <p:sp>
        <p:nvSpPr>
          <p:cNvPr id="13328" name="Rectangle 15"/>
          <p:cNvSpPr>
            <a:spLocks noChangeArrowheads="1"/>
          </p:cNvSpPr>
          <p:nvPr/>
        </p:nvSpPr>
        <p:spPr bwMode="auto">
          <a:xfrm rot="-5400000">
            <a:off x="1476376" y="2201863"/>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600">
                <a:solidFill>
                  <a:srgbClr val="FFFFFF"/>
                </a:solidFill>
                <a:latin typeface="Avenir Medium" charset="0"/>
              </a:rPr>
              <a:t>Fragen</a:t>
            </a:r>
          </a:p>
        </p:txBody>
      </p:sp>
      <p:sp>
        <p:nvSpPr>
          <p:cNvPr id="13329" name="Rectangle 16"/>
          <p:cNvSpPr>
            <a:spLocks noChangeArrowheads="1"/>
          </p:cNvSpPr>
          <p:nvPr/>
        </p:nvSpPr>
        <p:spPr bwMode="auto">
          <a:xfrm>
            <a:off x="5410200" y="2667001"/>
            <a:ext cx="76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 </a:t>
            </a:r>
          </a:p>
        </p:txBody>
      </p:sp>
      <p:sp>
        <p:nvSpPr>
          <p:cNvPr id="13330" name="Rectangle 18"/>
          <p:cNvSpPr>
            <a:spLocks noChangeArrowheads="1"/>
          </p:cNvSpPr>
          <p:nvPr/>
        </p:nvSpPr>
        <p:spPr bwMode="auto">
          <a:xfrm>
            <a:off x="3276601" y="2133601"/>
            <a:ext cx="20617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सवालों के जवाब</a:t>
            </a:r>
          </a:p>
        </p:txBody>
      </p:sp>
      <p:sp>
        <p:nvSpPr>
          <p:cNvPr id="13331" name="Rectangle 19"/>
          <p:cNvSpPr>
            <a:spLocks noChangeArrowheads="1"/>
          </p:cNvSpPr>
          <p:nvPr/>
        </p:nvSpPr>
        <p:spPr bwMode="auto">
          <a:xfrm>
            <a:off x="1752600" y="3886200"/>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pertanyaan</a:t>
            </a:r>
          </a:p>
        </p:txBody>
      </p:sp>
      <p:sp>
        <p:nvSpPr>
          <p:cNvPr id="13332" name="Rectangle 20"/>
          <p:cNvSpPr>
            <a:spLocks noChangeArrowheads="1"/>
          </p:cNvSpPr>
          <p:nvPr/>
        </p:nvSpPr>
        <p:spPr bwMode="auto">
          <a:xfrm rot="-5400000">
            <a:off x="5919788" y="2279651"/>
            <a:ext cx="17287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domande</a:t>
            </a:r>
          </a:p>
        </p:txBody>
      </p:sp>
      <p:sp>
        <p:nvSpPr>
          <p:cNvPr id="13333" name="Rectangle 21"/>
          <p:cNvSpPr>
            <a:spLocks noChangeArrowheads="1"/>
          </p:cNvSpPr>
          <p:nvPr/>
        </p:nvSpPr>
        <p:spPr bwMode="auto">
          <a:xfrm>
            <a:off x="3886200" y="33528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ja-JP" altLang="en-US" sz="3200">
                <a:solidFill>
                  <a:srgbClr val="FFFFFF"/>
                </a:solidFill>
              </a:rPr>
              <a:t>質問</a:t>
            </a:r>
            <a:endParaRPr lang="en-US" sz="3200">
              <a:solidFill>
                <a:srgbClr val="FFFFFF"/>
              </a:solidFill>
            </a:endParaRPr>
          </a:p>
        </p:txBody>
      </p:sp>
      <p:sp>
        <p:nvSpPr>
          <p:cNvPr id="13334" name="Rectangle 22"/>
          <p:cNvSpPr>
            <a:spLocks noChangeArrowheads="1"/>
          </p:cNvSpPr>
          <p:nvPr/>
        </p:nvSpPr>
        <p:spPr bwMode="auto">
          <a:xfrm>
            <a:off x="5105401" y="2286001"/>
            <a:ext cx="159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perguntas</a:t>
            </a:r>
          </a:p>
        </p:txBody>
      </p:sp>
      <p:sp>
        <p:nvSpPr>
          <p:cNvPr id="13335" name="Rectangle 23"/>
          <p:cNvSpPr>
            <a:spLocks noChangeArrowheads="1"/>
          </p:cNvSpPr>
          <p:nvPr/>
        </p:nvSpPr>
        <p:spPr bwMode="auto">
          <a:xfrm>
            <a:off x="3654426" y="1600201"/>
            <a:ext cx="1398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Times" panose="02020603050405020304" pitchFamily="18" charset="0"/>
              </a:rPr>
              <a:t>вопросов</a:t>
            </a:r>
          </a:p>
        </p:txBody>
      </p:sp>
      <p:sp>
        <p:nvSpPr>
          <p:cNvPr id="13336" name="Rectangle 24"/>
          <p:cNvSpPr>
            <a:spLocks noChangeArrowheads="1"/>
          </p:cNvSpPr>
          <p:nvPr/>
        </p:nvSpPr>
        <p:spPr bwMode="auto">
          <a:xfrm>
            <a:off x="7162800" y="3360738"/>
            <a:ext cx="113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sorular</a:t>
            </a:r>
          </a:p>
        </p:txBody>
      </p:sp>
      <p:sp>
        <p:nvSpPr>
          <p:cNvPr id="13337" name="TextBox 25"/>
          <p:cNvSpPr txBox="1">
            <a:spLocks noChangeArrowheads="1"/>
          </p:cNvSpPr>
          <p:nvPr/>
        </p:nvSpPr>
        <p:spPr bwMode="auto">
          <a:xfrm>
            <a:off x="8991600" y="1371601"/>
            <a:ext cx="15240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19900">
                <a:solidFill>
                  <a:srgbClr val="FFFFFF"/>
                </a:solidFill>
                <a:latin typeface="Avenir Medium" charset="0"/>
              </a:rPr>
              <a:t>?</a:t>
            </a:r>
          </a:p>
        </p:txBody>
      </p:sp>
    </p:spTree>
    <p:extLst>
      <p:ext uri="{BB962C8B-B14F-4D97-AF65-F5344CB8AC3E}">
        <p14:creationId xmlns:p14="http://schemas.microsoft.com/office/powerpoint/2010/main" val="35879600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hangingPunct="1"/>
            <a:fld id="{207FAFF6-E146-4F48-809E-3DA26EEA4871}" type="slidenum">
              <a:rPr lang="en-US" sz="1400">
                <a:latin typeface="Times" panose="02020603050405020304" pitchFamily="18" charset="0"/>
                <a:sym typeface="Times" panose="02020603050405020304" pitchFamily="18" charset="0"/>
              </a:rPr>
              <a:pPr eaLnBrk="1" hangingPunct="1"/>
              <a:t>14</a:t>
            </a:fld>
            <a:endParaRPr lang="en-US" sz="1400">
              <a:latin typeface="Times" panose="02020603050405020304" pitchFamily="18" charset="0"/>
              <a:sym typeface="Times" panose="02020603050405020304" pitchFamily="18" charset="0"/>
            </a:endParaRPr>
          </a:p>
        </p:txBody>
      </p:sp>
    </p:spTree>
    <p:extLst>
      <p:ext uri="{BB962C8B-B14F-4D97-AF65-F5344CB8AC3E}">
        <p14:creationId xmlns:p14="http://schemas.microsoft.com/office/powerpoint/2010/main" val="4196441691"/>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2428</TotalTime>
  <Words>2569</Words>
  <Application>Microsoft Office PowerPoint</Application>
  <PresentationFormat>Widescreen</PresentationFormat>
  <Paragraphs>131</Paragraphs>
  <Slides>14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vt:lpstr>
      <vt:lpstr>Avenir Medium</vt:lpstr>
      <vt:lpstr>Calibri</vt:lpstr>
      <vt:lpstr>Calibri Light</vt:lpstr>
      <vt:lpstr>Iskoola Pota</vt:lpstr>
      <vt:lpstr>Symbol</vt:lpstr>
      <vt:lpstr>Times</vt:lpstr>
      <vt:lpstr>Times New Roman</vt:lpstr>
      <vt:lpstr>Wingdings</vt:lpstr>
      <vt:lpstr>ヒラギノ明朝 ProN W3</vt:lpstr>
      <vt:lpstr>Office Theme</vt:lpstr>
      <vt:lpstr>පළමු ප්‍රතිචාර පුහුණු වැඩසටහන </vt:lpstr>
      <vt:lpstr>PowerPoint Presentation</vt:lpstr>
      <vt:lpstr>PowerPoint Presentation</vt:lpstr>
      <vt:lpstr>පළමුව  ප්‍රතිචාර දක්වන්නා</vt:lpstr>
      <vt:lpstr>පළමුව  ප්‍රතිචාර දක්වන්නා</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Military PC</dc:creator>
  <cp:lastModifiedBy>Military PC</cp:lastModifiedBy>
  <cp:revision>469</cp:revision>
  <cp:lastPrinted>2022-08-16T06:16:25Z</cp:lastPrinted>
  <dcterms:created xsi:type="dcterms:W3CDTF">2022-07-11T05:41:01Z</dcterms:created>
  <dcterms:modified xsi:type="dcterms:W3CDTF">2023-01-20T09:17:55Z</dcterms:modified>
</cp:coreProperties>
</file>