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  <p:sldMasterId id="2147483816" r:id="rId2"/>
  </p:sldMasterIdLst>
  <p:notesMasterIdLst>
    <p:notesMasterId r:id="rId46"/>
  </p:notesMasterIdLst>
  <p:handoutMasterIdLst>
    <p:handoutMasterId r:id="rId47"/>
  </p:handoutMasterIdLst>
  <p:sldIdLst>
    <p:sldId id="269" r:id="rId3"/>
    <p:sldId id="268" r:id="rId4"/>
    <p:sldId id="267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84" r:id="rId13"/>
    <p:sldId id="385" r:id="rId14"/>
    <p:sldId id="386" r:id="rId15"/>
    <p:sldId id="392" r:id="rId16"/>
    <p:sldId id="393" r:id="rId17"/>
    <p:sldId id="378" r:id="rId18"/>
    <p:sldId id="394" r:id="rId19"/>
    <p:sldId id="379" r:id="rId20"/>
    <p:sldId id="380" r:id="rId21"/>
    <p:sldId id="395" r:id="rId22"/>
    <p:sldId id="396" r:id="rId23"/>
    <p:sldId id="397" r:id="rId24"/>
    <p:sldId id="398" r:id="rId25"/>
    <p:sldId id="399" r:id="rId26"/>
    <p:sldId id="400" r:id="rId27"/>
    <p:sldId id="401" r:id="rId28"/>
    <p:sldId id="402" r:id="rId29"/>
    <p:sldId id="403" r:id="rId30"/>
    <p:sldId id="404" r:id="rId31"/>
    <p:sldId id="405" r:id="rId32"/>
    <p:sldId id="406" r:id="rId33"/>
    <p:sldId id="407" r:id="rId34"/>
    <p:sldId id="408" r:id="rId35"/>
    <p:sldId id="409" r:id="rId36"/>
    <p:sldId id="410" r:id="rId37"/>
    <p:sldId id="411" r:id="rId38"/>
    <p:sldId id="412" r:id="rId39"/>
    <p:sldId id="414" r:id="rId40"/>
    <p:sldId id="415" r:id="rId41"/>
    <p:sldId id="416" r:id="rId42"/>
    <p:sldId id="417" r:id="rId43"/>
    <p:sldId id="309" r:id="rId44"/>
    <p:sldId id="314" r:id="rId45"/>
  </p:sldIdLst>
  <p:sldSz cx="12192000" cy="6858000"/>
  <p:notesSz cx="6800850" cy="9932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2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81FE1-49FF-49A7-A7F1-7BA43AFF21B6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6B333-660B-4C8D-ABAD-4F77470B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3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6CE2F-C41B-4D8B-95EE-5D8EFFB3B4CF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80250"/>
            <a:ext cx="5440680" cy="39111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34173-98C6-48F6-BF0E-3F7CF8242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8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7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7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3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9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3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9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89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8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2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0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2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ocha-insarag-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4400"/>
            <a:ext cx="1108286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01600" y="0"/>
            <a:ext cx="12090400" cy="762000"/>
          </a:xfrm>
          <a:solidFill>
            <a:schemeClr val="bg1"/>
          </a:solidFill>
        </p:spPr>
        <p:txBody>
          <a:bodyPr/>
          <a:lstStyle>
            <a:lvl1pPr marL="39688" indent="0">
              <a:buNone/>
              <a:defRPr/>
            </a:lvl1pPr>
          </a:lstStyle>
          <a:p>
            <a:pPr lvl="0"/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5943600"/>
            <a:ext cx="12192000" cy="914400"/>
          </a:xfrm>
          <a:solidFill>
            <a:schemeClr val="bg1"/>
          </a:solidFill>
        </p:spPr>
        <p:txBody>
          <a:bodyPr/>
          <a:lstStyle>
            <a:lvl5pPr marL="1766888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3"/>
          </p:nvPr>
        </p:nvSpPr>
        <p:spPr>
          <a:xfrm>
            <a:off x="9812867" y="6248400"/>
            <a:ext cx="389467" cy="330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68CC436-DB0C-4D40-95CD-0C678C839D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1801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95401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76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6425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0477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066801"/>
            <a:ext cx="10363200" cy="33401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659286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981200"/>
            <a:ext cx="5486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486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889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66800"/>
            <a:ext cx="1097280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408238"/>
            <a:ext cx="5386917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276600"/>
            <a:ext cx="5386917" cy="2743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2408238"/>
            <a:ext cx="5389033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3276600"/>
            <a:ext cx="5389033" cy="2743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9942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9860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75001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838200"/>
            <a:ext cx="4011084" cy="1162050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990601"/>
            <a:ext cx="6815667" cy="50292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3601"/>
            <a:ext cx="4011084" cy="3886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836281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00600"/>
            <a:ext cx="10668000" cy="457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990600"/>
            <a:ext cx="10668000" cy="3736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>
              <a:sym typeface="Time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367338"/>
            <a:ext cx="10668000" cy="6524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067810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ocha-insarag-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4400"/>
            <a:ext cx="1108286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01600" y="0"/>
            <a:ext cx="12090400" cy="762000"/>
          </a:xfrm>
          <a:solidFill>
            <a:schemeClr val="bg1"/>
          </a:solidFill>
        </p:spPr>
        <p:txBody>
          <a:bodyPr/>
          <a:lstStyle>
            <a:lvl1pPr marL="39688" indent="0">
              <a:buNone/>
              <a:defRPr/>
            </a:lvl1pPr>
          </a:lstStyle>
          <a:p>
            <a:pPr lvl="0"/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5943600"/>
            <a:ext cx="12192000" cy="914400"/>
          </a:xfrm>
          <a:solidFill>
            <a:schemeClr val="bg1"/>
          </a:solidFill>
        </p:spPr>
        <p:txBody>
          <a:bodyPr/>
          <a:lstStyle>
            <a:lvl5pPr marL="1766888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3"/>
          </p:nvPr>
        </p:nvSpPr>
        <p:spPr>
          <a:xfrm>
            <a:off x="9812867" y="6248400"/>
            <a:ext cx="389467" cy="330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8CC436-DB0C-4D40-95CD-0C678C839DC7}" type="slidenum"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smtClean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1140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2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990600"/>
            <a:ext cx="11176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4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imes" panose="02020603050405020304" pitchFamily="18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981200"/>
            <a:ext cx="11176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4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imes" panose="02020603050405020304" pitchFamily="18" charset="0"/>
              </a:rPr>
              <a:t>Click to edit Master text styles</a:t>
            </a:r>
          </a:p>
          <a:p>
            <a:pPr lvl="1"/>
            <a:r>
              <a:rPr lang="en-US" smtClean="0">
                <a:sym typeface="Times" panose="02020603050405020304" pitchFamily="18" charset="0"/>
              </a:rPr>
              <a:t>Second level</a:t>
            </a:r>
          </a:p>
          <a:p>
            <a:pPr lvl="2"/>
            <a:r>
              <a:rPr lang="en-US" smtClean="0">
                <a:sym typeface="Times" panose="02020603050405020304" pitchFamily="18" charset="0"/>
              </a:rPr>
              <a:t>Third level</a:t>
            </a:r>
          </a:p>
          <a:p>
            <a:pPr lvl="3"/>
            <a:r>
              <a:rPr lang="en-US" smtClean="0">
                <a:sym typeface="Times" panose="02020603050405020304" pitchFamily="18" charset="0"/>
              </a:rPr>
              <a:t>Fourth level</a:t>
            </a:r>
          </a:p>
          <a:p>
            <a:pPr lvl="4"/>
            <a:r>
              <a:rPr lang="en-US" smtClean="0">
                <a:sym typeface="Times" panose="02020603050405020304" pitchFamily="18" charset="0"/>
              </a:rPr>
              <a:t>Fifth level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203200" y="152400"/>
            <a:ext cx="3556000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29" name="Picture 1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6248400"/>
            <a:ext cx="2844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2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065839"/>
            <a:ext cx="1490133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1" name="Straight Connector 2"/>
          <p:cNvCxnSpPr>
            <a:cxnSpLocks noChangeShapeType="1"/>
          </p:cNvCxnSpPr>
          <p:nvPr userDrawn="1"/>
        </p:nvCxnSpPr>
        <p:spPr bwMode="auto">
          <a:xfrm>
            <a:off x="3100917" y="6300788"/>
            <a:ext cx="7416800" cy="0"/>
          </a:xfrm>
          <a:prstGeom prst="line">
            <a:avLst/>
          </a:prstGeom>
          <a:noFill/>
          <a:ln w="20320">
            <a:solidFill>
              <a:srgbClr val="174C8E">
                <a:alpha val="9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84437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</p:sldLayoutIdLst>
  <p:transition/>
  <p:hf hdr="0" ftr="0" dt="0"/>
  <p:txStyles>
    <p:titleStyle>
      <a:lvl1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/>
          <a:ea typeface="+mj-ea"/>
          <a:cs typeface="Verdana"/>
          <a:sym typeface="Times" panose="02020603050405020304" pitchFamily="18" charset="0"/>
        </a:defRPr>
      </a:lvl1pPr>
      <a:lvl2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2pPr>
      <a:lvl3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3pPr>
      <a:lvl4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4pPr>
      <a:lvl5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5pPr>
      <a:lvl6pPr marL="4968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6pPr>
      <a:lvl7pPr marL="9540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7pPr>
      <a:lvl8pPr marL="14112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8pPr>
      <a:lvl9pPr marL="18684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9pPr>
    </p:titleStyle>
    <p:bodyStyle>
      <a:lvl1pPr marL="382588" indent="-342900" algn="l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•"/>
        <a:defRPr sz="32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1pPr>
      <a:lvl2pPr marL="681038" indent="-285750" algn="l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–"/>
        <a:defRPr sz="28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2pPr>
      <a:lvl3pPr marL="1081088" indent="-228600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•"/>
        <a:defRPr sz="24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3pPr>
      <a:lvl4pPr marL="1538288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–"/>
        <a:defRPr sz="20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4pPr>
      <a:lvl5pPr marL="1995488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»"/>
        <a:defRPr sz="20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5pPr>
      <a:lvl6pPr marL="24526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6pPr>
      <a:lvl7pPr marL="29098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7pPr>
      <a:lvl8pPr marL="33670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8pPr>
      <a:lvl9pPr marL="38242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gif"/><Relationship Id="rId4" Type="http://schemas.openxmlformats.org/officeDocument/2006/relationships/image" Target="../media/image28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62862"/>
            <a:ext cx="10515600" cy="865188"/>
          </a:xfrm>
        </p:spPr>
        <p:txBody>
          <a:bodyPr>
            <a:normAutofit fontScale="90000"/>
          </a:bodyPr>
          <a:lstStyle/>
          <a:p>
            <a:r>
              <a:rPr lang="si-LK" dirty="0"/>
              <a:t>පළමු ප්‍රතිචාර </a:t>
            </a:r>
            <a:r>
              <a:rPr lang="si-LK" dirty="0" smtClean="0"/>
              <a:t>ප</a:t>
            </a:r>
            <a:r>
              <a:rPr lang="si-LK" dirty="0"/>
              <a:t>ුහුණු වැඩසටහන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i-LK" dirty="0"/>
              <a:t>මොඩියුලර්	</a:t>
            </a:r>
            <a:r>
              <a:rPr lang="si-LK" dirty="0" smtClean="0"/>
              <a:t>6: </a:t>
            </a:r>
            <a:r>
              <a:rPr lang="si-LK" dirty="0"/>
              <a:t>මූලික වෛද්</a:t>
            </a:r>
            <a:r>
              <a:rPr lang="si-LK" dirty="0" smtClean="0"/>
              <a:t>‍ය ගලවා ගැනිම</a:t>
            </a:r>
          </a:p>
          <a:p>
            <a:r>
              <a:rPr lang="si-LK" dirty="0" smtClean="0"/>
              <a:t>සැසිය 	6.5 - පාඩම් සැලැස්ම</a:t>
            </a:r>
          </a:p>
          <a:p>
            <a:r>
              <a:rPr lang="si-LK" dirty="0"/>
              <a:t>රෝගිය</a:t>
            </a:r>
            <a:r>
              <a:rPr lang="si-LK" dirty="0" smtClean="0"/>
              <a:t>ා හැසිරවීම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163286" y="84251"/>
            <a:ext cx="3115130" cy="68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78461" t="79333" r="13981" b="13852"/>
          <a:stretch/>
        </p:blipFill>
        <p:spPr>
          <a:xfrm>
            <a:off x="10451005" y="136525"/>
            <a:ext cx="1577709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1257" y="4368007"/>
            <a:ext cx="11669486" cy="24272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981" t="79333" r="56370" b="13852"/>
          <a:stretch/>
        </p:blipFill>
        <p:spPr>
          <a:xfrm>
            <a:off x="675666" y="5338764"/>
            <a:ext cx="3058134" cy="681037"/>
          </a:xfrm>
          <a:prstGeom prst="rect">
            <a:avLst/>
          </a:prstGeom>
        </p:spPr>
      </p:pic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8912336" y="4420281"/>
            <a:ext cx="2729936" cy="165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පළමු ප්‍රතිචාර දැක්වීමේ පුහුණු වැඩසටහන </a:t>
            </a:r>
            <a:r>
              <a:rPr lang="en-US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INSARAG </a:t>
            </a:r>
            <a:r>
              <a:rPr lang="si-LK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පුහුණු ක්‍රියාකාරී කණ්ඩායම විසින් සංවර්ධනය කරන ලද අතර </a:t>
            </a:r>
            <a:r>
              <a:rPr lang="si-LK" sz="1400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මුදවා ග</a:t>
            </a:r>
            <a:r>
              <a:rPr lang="si-LK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ැනීමේ හැකියාව වර්ධනය කිරීමට සහ ජීවිත බේරා ගැනීමට සියලුම රටවලට සහ </a:t>
            </a:r>
            <a:r>
              <a:rPr lang="si-LK" sz="1400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හදිසි අවස්ථා සදහා ප</a:t>
            </a:r>
            <a:r>
              <a:rPr lang="si-LK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්‍රතිචාර  දක්වන සංවිධානවලට උපකාර කිරීමට </a:t>
            </a:r>
            <a:r>
              <a:rPr lang="si-LK" sz="14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මෙයින් </a:t>
            </a:r>
            <a:r>
              <a:rPr lang="si-LK" sz="1400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අදහස</a:t>
            </a:r>
            <a:r>
              <a:rPr lang="si-LK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් කෙරේ</a:t>
            </a:r>
            <a:r>
              <a:rPr lang="si-LK" sz="1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.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6686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151872"/>
              </p:ext>
            </p:extLst>
          </p:nvPr>
        </p:nvGraphicFramePr>
        <p:xfrm>
          <a:off x="168446" y="1"/>
          <a:ext cx="12023554" cy="4078988"/>
        </p:xfrm>
        <a:graphic>
          <a:graphicData uri="http://schemas.openxmlformats.org/drawingml/2006/table">
            <a:tbl>
              <a:tblPr firstRow="1" firstCol="1" bandRow="1"/>
              <a:tblGrid>
                <a:gridCol w="1666213"/>
                <a:gridCol w="5194943"/>
                <a:gridCol w="5162398"/>
              </a:tblGrid>
              <a:tr h="4264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ඉලක්කය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Aims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අරමුණු (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Objective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ඉගෙනුම්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ප්‍රතිඵල (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Learning</a:t>
                      </a:r>
                      <a:r>
                        <a:rPr lang="en-US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Outcomes)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244287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 සහභාගිවන්නන් තුවාල කරුවන් හැසිරවීම සහ ඉවත් කිරීම මෙන්ම රෝගී ඇසුරුම් සහ ප්‍රවාහනය පිළිබඳව දැනුමක් ලැබෙනු ඇත.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ගලවාගැනීමේ මූලික පියවර හත තේරුම් ගන්න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විසන්ධි කිරීම සහ ඉවත් කිරීම අතර වෙනස තේරුම් ගන්න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රෝගියා ඇසුරුම් කිරීමේ මූලධර්ම තේරුම් ගන්න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මතුපිට ව්‍යුහයකින් රෝගියෙකු ඉවත් කිරීම සඳහා විවිධ ක්‍රම භාවිතය පිළිබදව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සීමිත අවකාශයකින් රෝගියෙකු ඉවත් කිරීමට විවිධ ක්‍රම භාවිතා කිරිම පිළිබද තේරුම් ගැනිම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ඉගෙනුම් ප්‍රතිඵල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සැසියේ ප්‍රතිඵලයක් වශයෙන්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සහභාගිකයාට පහත විෂය කරුණු පිළිබද දැනුමක් ලැබෙනු ඇත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;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වේගවත් වෙන් කර ගැනිමක් සිදු කරන්නේ කෙසේද යන්න පිළිබද දැනුම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රෝගීන් ආරක්ෂිතව සහ ඵලදායී ලෙස ඇසුරුම් කිරීමට හැකි දැනුම ලැබිම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නිවැරදි අනතුරු වලට මුහුණ දිමේ ශිල්පීය ක්‍රම ක්‍රියාත්මක කිරීමේ හැකියාව ලැබිම.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ස්ට්‍රෙචර් සහ වැඩිදියුණු කළ ක්‍රම භාවිතයෙන් තුවාල කරුවන් ඉවත් කිරීමේ ශිල්පීය ක්‍රම සහ හදිසි අවස්ථා සදහා මුහුණ දිමේ හැකියාව ලැබීම.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ලොග් රෝල් එකක් සිදු කරන්නේ කෙසේද?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භාහිර ප්‍රදේශයකින් හදිසි ඉවත් කිරීමක් සිදු කරන්නේ කෙසේද?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සීමිත අවකාශයක් තුළින් හදිසි ඉවත් කිරිමක් සිදු කරන්නේ කෙසේද?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අනතුරු වු තුවාල කරුවන්ට රැඳවුම් ස්ථානයක් සකසන්නේ කෙසේද?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350560"/>
              </p:ext>
            </p:extLst>
          </p:nvPr>
        </p:nvGraphicFramePr>
        <p:xfrm>
          <a:off x="173677" y="4126524"/>
          <a:ext cx="12018323" cy="2511790"/>
        </p:xfrm>
        <a:graphic>
          <a:graphicData uri="http://schemas.openxmlformats.org/drawingml/2006/table">
            <a:tbl>
              <a:tblPr firstRow="1" firstCol="1" bandRow="1"/>
              <a:tblGrid>
                <a:gridCol w="705555"/>
                <a:gridCol w="1735015"/>
                <a:gridCol w="7244861"/>
                <a:gridCol w="2332892"/>
              </a:tblGrid>
              <a:tr h="228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කාලය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අන්තර්ගතය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ක්‍රියාකාරිත්වය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සම්පත්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3777" marR="4377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542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මිනිත්තු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15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ශරීර කොටස් වෙන්කිරිම සහ ඉවත් කිරීම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උපදේශක: 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PowerPoint </a:t>
                      </a: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මගින් ඉදිරිපත් කිරීම සහ රෝගීන් ඉවත් කරන ආකාරය පැහැදිලි කරන වීඩියෝව පෙන්වන්න.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වීඩියෝවක් ඇතුළුව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6.5a (extrication)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5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ඉගෙනීමේ කරුණු පැහැදිලි කිරීමට ප්‍රශ්න අසමින් අවශ්‍ය පරිදි සවන් දී අන්තර් ක්‍රියාකාරීත්වය සිදු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59314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මිනිත්තු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30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රෝගියා ඇසුරුම් කිරීම සහ ප්‍රවාහනය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උපදේශක: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PowerPoint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සහ රෝගීන් ඇසුරුම් කිරීම සහ ප්‍රවාහනය කරන ආකාරය පැහැදිලි කරන වීඩියෝව පෙන්වන්න.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 </a:t>
                      </a: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6.5b </a:t>
                      </a:r>
                      <a:r>
                        <a:rPr lang="si-LK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වීඩියෝවක් ඇතුළුව 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(packaging)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3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ඉගෙනීමේ කරුණු පැහැදිලි කිරීමට ප්‍රශ්න අසමින් අවශ්‍ය පරිදි සවන් දී අන්තර් ක්‍රියා කාරීත්වය සිදු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වීඩියෝවක් ඇතුළුව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6.5a (extrication)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725863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92" y="6581736"/>
            <a:ext cx="857370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4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075357"/>
              </p:ext>
            </p:extLst>
          </p:nvPr>
        </p:nvGraphicFramePr>
        <p:xfrm>
          <a:off x="427718" y="367279"/>
          <a:ext cx="11394168" cy="4672608"/>
        </p:xfrm>
        <a:graphic>
          <a:graphicData uri="http://schemas.openxmlformats.org/drawingml/2006/table">
            <a:tbl>
              <a:tblPr firstRow="1" firstCol="1" bandRow="1"/>
              <a:tblGrid>
                <a:gridCol w="4087838"/>
                <a:gridCol w="7306330"/>
              </a:tblGrid>
              <a:tr h="23694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 සටහන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5412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රෝගියා හැසිරවීම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ශරීර කොටස් ඉවත් කිරීම සහ රෝගියා ඉවත් කිරීම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රෝගියා ඇසුරුම් කිරීම සහ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ප්‍රවාහනය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6.5a Disentanglement &amp; Extrication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සමඟ කටයුතු කරයි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6.5b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රෝගීන් ඇසුරුම් කිරීම සහ ප්‍රවාහනය සමඟ කටයුතු කරයි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si-LK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්පූර්ණ මූලික වෛද්‍ය ක්‍රියාවලිය සමඟ රෝගියා හැසිරවීම පෙන්වීමට ඇතුළත් කිරීමට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Slide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අංක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4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භාවිතා කරන්න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ේශකයෙකු විසින් සීමිත අවකාශයක් තුළින් හදිසි අනතුරුවලට ලක්වු පුද්ගලයකු ඉවත් කිරීම ප්‍රදර්ශනය කිරීම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උපරිම කාලය විනාඩි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 විසින් පුහුණුව සිදු කිරිම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උපරිම කාලය විනාඩි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10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 විසින් ලොග් රෝල් ක්‍රමවේදය නිරූපණය කිරීම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උපරිම කාලය විනාඩි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 විසින් පුහුණුව සිදු කිරිම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උපරිම කාලය විනාඩි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10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51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08472" y="879087"/>
            <a:ext cx="3428149" cy="5171757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1142804"/>
            <a:ext cx="4371278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473" y="2467781"/>
            <a:ext cx="11001784" cy="469491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si-LK" sz="2400" dirty="0"/>
              <a:t>ඉදිරිපත් කිරිමේ මාතෘකා</a:t>
            </a:r>
            <a:r>
              <a:rPr lang="si-LK" sz="2400" dirty="0" smtClean="0"/>
              <a:t>ව	:- </a:t>
            </a:r>
            <a:r>
              <a:rPr lang="si-LK" sz="2400" dirty="0"/>
              <a:t>රෝග</a:t>
            </a:r>
            <a:r>
              <a:rPr lang="si-LK" sz="2400" dirty="0" smtClean="0"/>
              <a:t>ියා හැසිරවීම</a:t>
            </a:r>
            <a:r>
              <a:rPr lang="si-LK" sz="2400" dirty="0"/>
              <a:t>	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si-LK" sz="2400" dirty="0" smtClean="0"/>
              <a:t>	ම</a:t>
            </a:r>
            <a:r>
              <a:rPr lang="si-LK" sz="2400" dirty="0"/>
              <a:t>ොඩියුලර</a:t>
            </a:r>
            <a:r>
              <a:rPr lang="si-LK" sz="2400" dirty="0" smtClean="0"/>
              <a:t>්		: 6.5</a:t>
            </a:r>
            <a:r>
              <a:rPr lang="en-US" sz="2400" dirty="0" smtClean="0"/>
              <a:t>a</a:t>
            </a:r>
            <a:endParaRPr lang="si-LK" sz="2400" dirty="0" smtClean="0"/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si-LK" sz="2400" dirty="0" smtClean="0"/>
              <a:t>ඉදිරිපත් කරන්නන්/ උපදේශක	:- ඉදිරිපත් කරන්නන්ගේ නම මෙහි </a:t>
            </a:r>
            <a:r>
              <a:rPr lang="si-LK" sz="2400" dirty="0"/>
              <a:t>එක</a:t>
            </a:r>
            <a:r>
              <a:rPr lang="si-LK" sz="2400" dirty="0" smtClean="0"/>
              <a:t>් කරන</a:t>
            </a:r>
            <a:r>
              <a:rPr lang="si-LK" sz="2400" dirty="0"/>
              <a:t>්න.</a:t>
            </a:r>
            <a:r>
              <a:rPr lang="si-LK" sz="2200" dirty="0" smtClean="0"/>
              <a:t>					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si-LK" dirty="0" smtClean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Coordination Saves Lives</a:t>
            </a:r>
            <a:endParaRPr lang="si-LK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/>
              <a:t>		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			</a:t>
            </a:r>
            <a:r>
              <a:rPr lang="si-LK" dirty="0" smtClean="0"/>
              <a:t>	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98160" y="6230892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0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70" y="1042635"/>
            <a:ext cx="6972021" cy="45141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si-LK" sz="4000" dirty="0" smtClean="0"/>
              <a:t>     ම</a:t>
            </a:r>
            <a:r>
              <a:rPr lang="si-LK" sz="4000" dirty="0"/>
              <a:t>ූලික වෛද්‍ය ගලවා ගැනි</a:t>
            </a:r>
            <a:r>
              <a:rPr lang="si-LK" sz="4000" dirty="0" smtClean="0"/>
              <a:t>ම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si-LK" sz="3600" dirty="0"/>
              <a:t> </a:t>
            </a:r>
            <a:r>
              <a:rPr lang="si-LK" sz="3600" dirty="0" smtClean="0"/>
              <a:t>            ර</a:t>
            </a:r>
            <a:r>
              <a:rPr lang="si-LK" sz="3600" dirty="0"/>
              <a:t>ෝගිය</a:t>
            </a:r>
            <a:r>
              <a:rPr lang="si-LK" sz="3600" dirty="0" smtClean="0"/>
              <a:t>ා</a:t>
            </a:r>
            <a:r>
              <a:rPr lang="si-LK" sz="3600" dirty="0"/>
              <a:t> </a:t>
            </a:r>
            <a:r>
              <a:rPr lang="si-LK" sz="3600" dirty="0" smtClean="0"/>
              <a:t>හැසිරවීම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si-LK" sz="3600" dirty="0" smtClean="0"/>
              <a:t>     ම</a:t>
            </a:r>
            <a:r>
              <a:rPr lang="si-LK" sz="3600" dirty="0"/>
              <a:t>ුදවා ගැනිම සහ ඉවත්කර ගැනිම</a:t>
            </a:r>
            <a:endParaRPr lang="en-US" sz="3600" dirty="0"/>
          </a:p>
          <a:p>
            <a:pPr marL="0" indent="0">
              <a:buNone/>
            </a:pPr>
            <a:endParaRPr lang="si-LK" sz="3600" b="1" dirty="0" smtClean="0"/>
          </a:p>
          <a:p>
            <a:pPr marL="0" indent="0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si-LK" sz="3600" b="1" dirty="0"/>
          </a:p>
          <a:p>
            <a:pPr marL="0" indent="0" algn="ctr">
              <a:buNone/>
            </a:pPr>
            <a:endParaRPr lang="en-US" sz="3600" b="1" dirty="0" smtClean="0"/>
          </a:p>
          <a:p>
            <a:pPr marL="0" indent="0" algn="ctr">
              <a:buNone/>
            </a:pPr>
            <a:endParaRPr lang="si-LK" sz="3600" b="1" dirty="0" smtClean="0"/>
          </a:p>
          <a:p>
            <a:endParaRPr lang="si-LK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981244" y="223365"/>
            <a:ext cx="3603014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7236178" y="372126"/>
            <a:ext cx="4084965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</a:t>
            </a:r>
            <a:endParaRPr lang="en-US" sz="3600" b="1" dirty="0"/>
          </a:p>
        </p:txBody>
      </p:sp>
      <p:sp>
        <p:nvSpPr>
          <p:cNvPr id="13" name="Rectangle 12"/>
          <p:cNvSpPr/>
          <p:nvPr/>
        </p:nvSpPr>
        <p:spPr>
          <a:xfrm>
            <a:off x="8161867" y="5278398"/>
            <a:ext cx="29976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Coordination Saves Lives</a:t>
            </a:r>
          </a:p>
        </p:txBody>
      </p:sp>
    </p:spTree>
    <p:extLst>
      <p:ext uri="{BB962C8B-B14F-4D97-AF65-F5344CB8AC3E}">
        <p14:creationId xmlns:p14="http://schemas.microsoft.com/office/powerpoint/2010/main" val="361907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64444" y="724745"/>
            <a:ext cx="3698448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හැසිරවීම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4444" y="1590513"/>
            <a:ext cx="11198578" cy="4505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2800" dirty="0"/>
              <a:t>ඉගෙනිමේ ප්‍රතිඵල</a:t>
            </a:r>
            <a:endParaRPr lang="en-US" sz="2800" dirty="0"/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වේගවත්ව මුදවා ගැනිම සිදු කරන අවස්ථාව සහ  කෙසේද යන්න පිළිබද අවබෝධයක් ලබා ගැනිම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රෝගීන් ආරක්ෂිතව සහ ඵලදායී ලෙස හැසිරවීම කිරීමට හැකි වීම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නිවැරදි තුවාල කරුවන් හැසිරවීමේ ශිල්පීය ක්‍රම අනුගමනය කිරීමේ හැකියාව ප්‍රදර්ශනය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ස්ට්‍රෙචර් සහ වැඩිදියුණු කළ ක්‍රම භාවිතා කරමින් තුවාල කරුවන් ඉවත් කිරීමේ ක්‍රම සහ අනතුරු හැසිරවීමේ හැකියාව ප්‍රදර්ශනය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මතුපිට ප්‍රදේශයකින් තුවාල කරුවන් හදිසි ඉවත් කිරීමක් සිදු කිරිම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සීමිත අවකාශයකින් තුවාල කරුවන් මුදවා ගැනිම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හදිසි තුවාල කරුවන් රැඳවුම් ස්ථානයක් සකසන්නේ කෙසේදැයි දැන ගන්න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717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0204" y="886563"/>
            <a:ext cx="11325536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හැසිරවීම - ගලවා ගැනීමේ පියවර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7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 හි කොටසකි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7600" y="1973030"/>
            <a:ext cx="6096000" cy="32968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1. </a:t>
            </a: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දර්ශන තක්සේරුව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2. </a:t>
            </a: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උපද්‍රව පාලනය කරන්න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3. </a:t>
            </a: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ඇසිඩ් රෝගියා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4. </a:t>
            </a:r>
            <a:r>
              <a:rPr lang="si-LK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වෛද්ය ප්රතිකාර ලබා දීම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5.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විසන්ධි කිරීම සහ ඉවත් කිරීම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6.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හැසිරවීම/ ප්‍රතිකාර කිරීම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7.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ප්‍රවාහන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90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75868" y="1676786"/>
            <a:ext cx="6264857" cy="783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400" b="1" dirty="0">
                <a:latin typeface="Calibri" panose="020F0502020204030204" pitchFamily="34" charset="0"/>
                <a:ea typeface="Calibri" panose="020F0502020204030204" pitchFamily="34" charset="0"/>
              </a:rPr>
              <a:t>මුදවා ගැනිම සහ ඉවත් කිරීම</a:t>
            </a:r>
            <a:endParaRPr lang="en-US" sz="4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174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60110" y="1216218"/>
            <a:ext cx="5707012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මුදවා ගැනිම සහ ඉවත්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13353" y="2237457"/>
            <a:ext cx="10639979" cy="2858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මුදවා ගැනිම : තුවාලකරු ශාරීරිකව මුදා හැරීම (මුදවා ගැනීම).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ඉවත් කිරීම: තුවාලකරු ඉවත් කිරීම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සියලුම රෝගීන් පටලවා නොගත යුතු අතර සමහර විට යට වී තිබිය හැකිය.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 ආරක්ෂිතව කිරීමට කණ්ඩායම් ලෙස කටයුතු කිරිම අවශ්‍ය වේ.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ඔබ තුවාලකරු විසුරුවා මුදවා ගැනිම අතරතුර "මම රෝගියා ගෙන යන්නේ කෙසේද" යැයි කල්පනා කළ යුතුය.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493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97266" y="943008"/>
            <a:ext cx="5707012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මුදවා ගැනිම සහ ඉවත්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07910" y="1931239"/>
            <a:ext cx="10374490" cy="3296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මලානික වීමේ  සලකුණු ඇතිවේදැයි තුවාලකරු නිරීක්ෂණය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වෛද්‍ය ප්‍රතිකාර ලබාදෙන්න. උදා: රුධිර වහනය පාලනය කිරීමට සෘජු පීඩනය යොදන්න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බේරාගැනිමට අවශ්‍ය දේ පමණක් ඉවත්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යම් වස්තුවක් ඉවත් කිරීම නිසා එම ස්ථානයේ නිරීක්ෂණයට බලපාන ආකාරය ගැන සිතන්න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ආරක්ෂා කරන්න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831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97266" y="943008"/>
            <a:ext cx="5707012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මුදවා ගැනිම සහ ඉවත්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53067" y="2294822"/>
            <a:ext cx="10160000" cy="1936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කණ්ඩායමක් ලෙස වැඩ අත්‍යවශ්‍යය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ි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 අසළින් වස්තු ක්‍රමයෙන් ඉවත් කරන්න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හිරවී සිටින තුවාලකරු රෝගියා ඇදිම සිදු නොකරන්න.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853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4572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13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6072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08472" y="879087"/>
            <a:ext cx="3428149" cy="5171757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1142804"/>
            <a:ext cx="4371278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473" y="2467781"/>
            <a:ext cx="11001784" cy="469491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si-LK" sz="2400" dirty="0"/>
              <a:t>ඉදිරිපත් කිරිමේ මාතෘකා</a:t>
            </a:r>
            <a:r>
              <a:rPr lang="si-LK" sz="2400" dirty="0" smtClean="0"/>
              <a:t>ව	:- </a:t>
            </a:r>
            <a:r>
              <a:rPr lang="si-LK" sz="2400" dirty="0" smtClean="0"/>
              <a:t>රෝගියා හ</a:t>
            </a:r>
            <a:r>
              <a:rPr lang="si-LK" sz="2400" dirty="0" smtClean="0"/>
              <a:t>ැසිරවීම</a:t>
            </a:r>
            <a:r>
              <a:rPr lang="si-LK" sz="2400" dirty="0"/>
              <a:t>	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si-LK" sz="2400" dirty="0" smtClean="0"/>
              <a:t>	ම</a:t>
            </a:r>
            <a:r>
              <a:rPr lang="si-LK" sz="2400" dirty="0"/>
              <a:t>ොඩියුලර</a:t>
            </a:r>
            <a:r>
              <a:rPr lang="si-LK" sz="2400" dirty="0" smtClean="0"/>
              <a:t>්		: 6.5</a:t>
            </a:r>
            <a:r>
              <a:rPr lang="en-US" sz="2400" dirty="0" smtClean="0"/>
              <a:t>b</a:t>
            </a:r>
            <a:endParaRPr lang="si-LK" sz="2400" dirty="0" smtClean="0"/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si-LK" sz="2400" dirty="0" smtClean="0"/>
              <a:t>ඉදිරිපත් කරන්නන්/ උපදේශක	:- ඉදිරිපත් කරන්නන්ගේ නම මෙහි </a:t>
            </a:r>
            <a:r>
              <a:rPr lang="si-LK" sz="2400" dirty="0"/>
              <a:t>එක</a:t>
            </a:r>
            <a:r>
              <a:rPr lang="si-LK" sz="2400" dirty="0" smtClean="0"/>
              <a:t>් කරන</a:t>
            </a:r>
            <a:r>
              <a:rPr lang="si-LK" sz="2400" dirty="0"/>
              <a:t>්න.</a:t>
            </a:r>
            <a:r>
              <a:rPr lang="si-LK" sz="2200" dirty="0" smtClean="0"/>
              <a:t>					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si-LK" dirty="0" smtClean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Coordination Saves Lives</a:t>
            </a:r>
            <a:endParaRPr lang="si-LK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/>
              <a:t>		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			</a:t>
            </a:r>
            <a:r>
              <a:rPr lang="si-LK" dirty="0" smtClean="0"/>
              <a:t>	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98160" y="6230892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57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444" y="1112975"/>
            <a:ext cx="7508682" cy="4514103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en-US" sz="6500" dirty="0" smtClean="0"/>
              <a:t>     </a:t>
            </a:r>
            <a:r>
              <a:rPr lang="si-LK" sz="6500" dirty="0" smtClean="0"/>
              <a:t>  </a:t>
            </a:r>
            <a:r>
              <a:rPr lang="si-LK" sz="8000" dirty="0" smtClean="0"/>
              <a:t>     </a:t>
            </a:r>
            <a:r>
              <a:rPr lang="si-LK" sz="12800" dirty="0" smtClean="0"/>
              <a:t>ම</a:t>
            </a:r>
            <a:r>
              <a:rPr lang="si-LK" sz="12800" dirty="0"/>
              <a:t>ූලික වෛද්‍ය ගලවා ගැනි</a:t>
            </a:r>
            <a:r>
              <a:rPr lang="si-LK" sz="12800" dirty="0" smtClean="0"/>
              <a:t>ම</a:t>
            </a:r>
          </a:p>
          <a:p>
            <a:pPr marL="0" indent="0" algn="ctr">
              <a:buNone/>
            </a:pPr>
            <a:endParaRPr lang="si-LK" sz="12800" dirty="0"/>
          </a:p>
          <a:p>
            <a:pPr marL="0" indent="0" algn="ctr">
              <a:buNone/>
            </a:pPr>
            <a:endParaRPr lang="en-US" sz="12800" dirty="0"/>
          </a:p>
          <a:p>
            <a:pPr marL="0" indent="0" algn="ctr">
              <a:buNone/>
            </a:pPr>
            <a:r>
              <a:rPr lang="si-LK" sz="12800" dirty="0" smtClean="0"/>
              <a:t>	   ර</a:t>
            </a:r>
            <a:r>
              <a:rPr lang="si-LK" sz="12800" dirty="0"/>
              <a:t>ෝගියා හැසිරවී</a:t>
            </a:r>
            <a:r>
              <a:rPr lang="si-LK" sz="12800" dirty="0" smtClean="0"/>
              <a:t>ම</a:t>
            </a:r>
          </a:p>
          <a:p>
            <a:pPr marL="0" indent="0" algn="ctr">
              <a:buNone/>
            </a:pPr>
            <a:endParaRPr lang="si-LK" sz="12800" dirty="0"/>
          </a:p>
          <a:p>
            <a:pPr marL="0" indent="0" algn="ctr">
              <a:buNone/>
            </a:pPr>
            <a:endParaRPr lang="en-US" sz="12800" dirty="0"/>
          </a:p>
          <a:p>
            <a:pPr marL="0" indent="0" algn="ctr">
              <a:buNone/>
            </a:pPr>
            <a:r>
              <a:rPr lang="si-LK" sz="12800" dirty="0"/>
              <a:t> </a:t>
            </a:r>
            <a:r>
              <a:rPr lang="si-LK" sz="12800" dirty="0" smtClean="0"/>
              <a:t>        ඇස</a:t>
            </a:r>
            <a:r>
              <a:rPr lang="si-LK" sz="12800" dirty="0"/>
              <a:t>ුරුම්කරණය සහ ප්‍රවාහනය</a:t>
            </a:r>
            <a:endParaRPr lang="en-US" sz="12800" dirty="0"/>
          </a:p>
          <a:p>
            <a:pPr marL="0" indent="0">
              <a:buNone/>
            </a:pPr>
            <a:endParaRPr lang="si-LK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si-LK" sz="3600" dirty="0" smtClean="0"/>
              <a:t>	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si-LK" sz="3600" dirty="0"/>
              <a:t> </a:t>
            </a:r>
            <a:r>
              <a:rPr lang="si-LK" sz="3600" dirty="0" smtClean="0"/>
              <a:t>  </a:t>
            </a:r>
            <a:endParaRPr lang="si-LK" sz="3600" b="1" dirty="0" smtClean="0"/>
          </a:p>
          <a:p>
            <a:pPr marL="0" indent="0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si-LK" sz="3600" b="1" dirty="0"/>
          </a:p>
          <a:p>
            <a:pPr marL="0" indent="0" algn="ctr">
              <a:buNone/>
            </a:pPr>
            <a:endParaRPr lang="en-US" sz="3600" b="1" dirty="0" smtClean="0"/>
          </a:p>
          <a:p>
            <a:pPr marL="0" indent="0" algn="ctr">
              <a:buNone/>
            </a:pPr>
            <a:endParaRPr lang="si-LK" sz="3600" b="1" dirty="0" smtClean="0"/>
          </a:p>
          <a:p>
            <a:endParaRPr lang="si-LK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981244" y="223365"/>
            <a:ext cx="3603014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7236178" y="372126"/>
            <a:ext cx="4084965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</a:t>
            </a:r>
            <a:endParaRPr lang="en-US" sz="3600" b="1" dirty="0"/>
          </a:p>
        </p:txBody>
      </p:sp>
      <p:sp>
        <p:nvSpPr>
          <p:cNvPr id="13" name="Rectangle 12"/>
          <p:cNvSpPr/>
          <p:nvPr/>
        </p:nvSpPr>
        <p:spPr>
          <a:xfrm>
            <a:off x="8161867" y="5278398"/>
            <a:ext cx="29976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Coordination Saves Lives</a:t>
            </a:r>
          </a:p>
        </p:txBody>
      </p:sp>
    </p:spTree>
    <p:extLst>
      <p:ext uri="{BB962C8B-B14F-4D97-AF65-F5344CB8AC3E}">
        <p14:creationId xmlns:p14="http://schemas.microsoft.com/office/powerpoint/2010/main" val="70182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57115" y="812416"/>
            <a:ext cx="3698448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හැසිරවීම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6356" y="2180388"/>
            <a:ext cx="10972800" cy="4044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වේගවත් ඉවත්කිරිමක් සිදු කරන්නේ කිනම් වේලාවකද සහ කෙසේද යන්න දැන ගන්න.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රෝගීන් ආරක්ෂිතව සහ ඵලදායී ලෙස ඇසුරුම් කිරීමට හැකි වීම.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නිවැරදිව අනතුරක් හැසිරවීමේ ශිල්පීය ක්‍රම ක්‍රියාත්මක කිරීමේ හැකියාව ප්‍රදර්ශනය කරන්න.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ස්ට්‍රෙචර් සහ වැඩිදියුණු කළ රෝගීන් රැගෙන යන ක්‍රම භාවිතයෙන් රෝගීන් ඉවත් කිරීමේ ශිල්පීය ක්‍රම සහ අනතුරකදී රෝගීන් හැසිරවීමේ හැකියාව පිළීබද ප්‍රදර්ශනය කරන්න.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මතුපිට ප්‍රදේශයකින් හදිසි ඉවත් කිරීම සිදු කරන්න.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සීමිත අවකාශයකින් හදිසි ඉවත් කිරිම් සිදු කරන්න.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හදිසි අනතුරු රැඳවුම් ස්ථානයක් සකසන්නේ කෙසේදැයි දැන ගන්න.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57115" y="1502521"/>
            <a:ext cx="2735044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ඉගෙනුම් ප්‍රතිඵල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68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7955" y="966893"/>
            <a:ext cx="10284177" cy="5295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හැසිරවීම - ගලවා ගැනිමේ පියවර කොටස් 07 ක් ඇත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>
              <a:lnSpc>
                <a:spcPct val="107000"/>
              </a:lnSpc>
            </a:pP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lvl="1">
              <a:lnSpc>
                <a:spcPct val="107000"/>
              </a:lnSpc>
            </a:pPr>
            <a:r>
              <a:rPr lang="en-US" sz="2800" dirty="0">
                <a:solidFill>
                  <a:srgbClr val="AEAAAA"/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1. </a:t>
            </a:r>
            <a:r>
              <a:rPr lang="si-LK" sz="2800" dirty="0">
                <a:solidFill>
                  <a:srgbClr val="AEAAAA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දර්ශන තක්සේරුව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lvl="1">
              <a:lnSpc>
                <a:spcPct val="107000"/>
              </a:lnSpc>
            </a:pPr>
            <a:r>
              <a:rPr lang="en-US" sz="2800" dirty="0">
                <a:solidFill>
                  <a:srgbClr val="AEAAAA"/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</a:t>
            </a:r>
            <a:r>
              <a:rPr lang="si-LK" sz="2800" dirty="0">
                <a:solidFill>
                  <a:srgbClr val="AEAAAA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කෝ ට්‍රොල් උපද්‍රව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lvl="1">
              <a:lnSpc>
                <a:spcPct val="107000"/>
              </a:lnSpc>
            </a:pPr>
            <a:r>
              <a:rPr lang="en-US" sz="2800" dirty="0">
                <a:solidFill>
                  <a:srgbClr val="AEAAAA"/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3. </a:t>
            </a:r>
            <a:r>
              <a:rPr lang="si-LK" sz="2800" dirty="0">
                <a:solidFill>
                  <a:srgbClr val="AEAAAA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රෝගියාට ප්‍රවේශ 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lvl="1">
              <a:lnSpc>
                <a:spcPct val="107000"/>
              </a:lnSpc>
            </a:pPr>
            <a:r>
              <a:rPr lang="en-US" sz="2800" dirty="0">
                <a:solidFill>
                  <a:srgbClr val="AEAAAA"/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4. </a:t>
            </a:r>
            <a:r>
              <a:rPr lang="si-LK" sz="2800" dirty="0">
                <a:solidFill>
                  <a:srgbClr val="AEAAAA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වෛද්‍ය ප්‍රතිකාර ලබා දීම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lvl="1"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5.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විසන්ධි කිරීම සහ ඉවත් කිරීම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lvl="1"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6.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ඇසුරුම් කිරීම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lvl="1"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7.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ප්‍රවාහන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55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88358" y="551202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හනය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495" y="1460330"/>
            <a:ext cx="6074909" cy="45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001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6448" y="503544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හනය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0070" y="1248855"/>
            <a:ext cx="10160001" cy="2397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ඇසුරුම්කරණය යනු ඔහුගේ ශරීරය ස්ථායීකරණය සහ ප්‍රවාහනය සඳහා සූදානම් වීමයි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කණ්ඩායමක් ලෙස උත්සාහය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ක්‍රියාකාරකම් සම්බන්ධීකරණය කිරීම සහ රෝගී සත්කාරක කිරිම සාර්ථක ප්‍රතිඵලයක් සඳහා මහඟු අවස්ථාව ලබා දෙයි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050" y="3115733"/>
            <a:ext cx="4220978" cy="297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5114" y="943008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48267" y="2204400"/>
            <a:ext cx="10927644" cy="2858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රෝගීන් කිරිමේදි: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තුවාල/රෝග ඇති වු ස්ථානයේ සිට රැඳවුම් ස්ථානය දක්වා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අනතුරුදායක භූමි ප්‍රදේශ හරහා රෝගීන් රැගෙනයාමට අවශ්‍ය විය හැක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රැඳවුම් ස්ථානයේ සිට සෞඛ්‍ය සේවා පහසුකම ලබාදෙන ස්ථානය දක්වා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ඔබ රෝගියා මුදවා ගැනිම සිදුකරන අතරතුර රෝගියා චලනය කරන්නේ කෙසේද යන්න පිළිබඳව සැලැස්මක් සකස් කළ යුතුය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72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7070" y="559185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1249374"/>
            <a:ext cx="11610019" cy="2595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 කොටස: විවෘත ප්‍රදේශයයේදි හදිසි අනතුරකදි තුවාලකරුවන් ඉවත් කිරී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ගිනි නිවන භටයා ඔසවාගෙන යාම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714500" lvl="3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එක් පුද්ගලයෙක් මෙම කාර්යයට දායකවේ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714500" lvl="3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සැහැල්ලු තුවාලකරුවන් සිහිසුන්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4490" y="2031510"/>
            <a:ext cx="3949148" cy="394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0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6092" y="646490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6871" y="1250194"/>
            <a:ext cx="11763024" cy="305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 කොටස: විවෘත ප්‍රදේශයකදි හදිසි අනතුරකදි තුවාලකරුවන් ඉවත් කිරී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ොටිල්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එක් පුද්ගල මෙම කාර්යයට සහභාගීවේ.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සැහැල්ලු බර අඩු තුවාලකරුවන්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ළමයි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075" y="2026867"/>
            <a:ext cx="3016581" cy="415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7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3203" y="646490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6871" y="1250194"/>
            <a:ext cx="11763024" cy="336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 කොටස: විවෘත ප්‍රදේශයකදි හදිසි අනතුරකදි තුවාලකරුවන් ඉවත් කිරී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3200" dirty="0"/>
              <a:t>පික්-ඒ-බැක්</a:t>
            </a:r>
            <a:endParaRPr lang="en-US" sz="3200" dirty="0"/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si-LK" sz="2800" dirty="0" smtClean="0"/>
              <a:t>එක් පුද්ගලයකු සහභාගිවේ.</a:t>
            </a:r>
            <a:endParaRPr lang="en-US" sz="2800" dirty="0" smtClean="0"/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si-LK" sz="2800" dirty="0" smtClean="0"/>
              <a:t>වැඩි හානියක් සිදු වු තුවාලකරුවන්</a:t>
            </a:r>
            <a:endParaRPr lang="en-US" sz="2800" dirty="0" smtClean="0"/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si-LK" sz="2800" dirty="0" smtClean="0"/>
              <a:t>තුවාලකරුට එල්ලී සිටීමට හැකි වේ</a:t>
            </a:r>
            <a:endParaRPr lang="en-US" sz="2800" dirty="0" smtClean="0"/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si-LK" sz="2800" dirty="0" smtClean="0"/>
              <a:t>සිහිය ඇති තුවාල කරුවකු විය යුතුය.</a:t>
            </a:r>
            <a:endParaRPr lang="en-US" sz="2800" dirty="0" smtClean="0"/>
          </a:p>
          <a:p>
            <a:pPr>
              <a:lnSpc>
                <a:spcPct val="107000"/>
              </a:lnSpc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076" y="1793506"/>
            <a:ext cx="2757546" cy="438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219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5780" y="638208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65780" y="1328397"/>
            <a:ext cx="10713419" cy="2660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 කොටස: විවෘත ස්ථානයකදි හදිසි අනතුරක් සිදු වු විට අනතුරට පත් පුද්ගලයා ඉවත් කිරීම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පසුපසට ඇදගෙන යාම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එක් පුද්ගලයකු විසින් මෙම කාර්යය සිදුකරනු ලබයි.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අනතුරට ලක් වූ පුද්ගලයා එසවීමට නොහැකි තරම් බරකින් යුක්තනම් මෙම ක්‍රමය අනුගමනය කරනු ලැබේ.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28" y="3547801"/>
            <a:ext cx="5079171" cy="251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27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6871" y="1219335"/>
            <a:ext cx="10713156" cy="2891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 කොටස: විවෘතව ඇති ස්ථානයක හදිසි අනතුරු සිදු විමට අනතුරුට පත් පුද්ගලයා ඉවත් කිරී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ානව කිහිලිකර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ු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එක් පුද්ගලයකු විසින් මෙම කාර්යය සිදුකරනු ලබයි.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තුවාලකරුට ඇවිදීමට හැකි නමුත් උපකාර අවශ්‍ය වේ.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9958" y="615631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918" y="1842571"/>
            <a:ext cx="2662196" cy="413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4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9958" y="615631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7605" y="1305820"/>
            <a:ext cx="11085688" cy="2806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 වෙනි කොටස: සීමා සහිත අවකාශයන් තුළ හදිසි අනතුරු සිදු වු විට තුවාල කරුවන් ඉවත් කිරී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ඉද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ිරියට ඇදගෙන යාම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එක් පුද්ගලයකු මෙම කාර්යයට සහභාගිවේ.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 සිහිසුන්ව සිටී නම්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ඔබේ දෑත් බැඳ ඔබේ බෙල්ලට උඩින් ලූපයක් සේ දමා ගන්න.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430" y="3826933"/>
            <a:ext cx="3903370" cy="251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09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9958" y="615631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3383" y="1305820"/>
            <a:ext cx="8173862" cy="3187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 වෙනි කොටස: සීමා සහිත අවකාශයන් තුළ හදිසි අනතුරු සිදු වු විට තුවාල කරුවන් ඉවත් කිරී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ෙර ක්‍රමය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එක් පුද්ගලයකු මෙම කාර්යයට සහභාගි වේ.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රෝගියාගේ පපුව හරහා අල්ලා ගන්න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එසේම කරපටි මගින් ඇදගෙන යාමේ හැකියාව පිළිබද සලකා බලන්න.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179" y="1388504"/>
            <a:ext cx="2825850" cy="441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45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9958" y="615631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6871" y="1384925"/>
            <a:ext cx="7941129" cy="33525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 වෙනි කොටස: පුද්ගලයන් දෙදෙනෙකු මගින් තුවාලකරු ඉවත් කිරීමේ ක්‍රම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මානව කිහිලිකරු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දෙදෙනෙකු මෙම කාර්යයට සහභාගිවේ.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තුවාලකරුට ඇවිදීමට හැකි නමුත් උපකාර අවශ්‍ය වේ.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511" y="1446928"/>
            <a:ext cx="3341511" cy="46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6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9958" y="615631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53204" y="1276325"/>
            <a:ext cx="10374489" cy="2397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වෙනි කොටස: පුද්ගලයන් දෙදෙනෙකු මගින් තුවාල කරු ඉවත් කිරීමේ ක්‍රම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පෙර සහ පසුපස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දෙදෙනෙකුගේ මෙම කාර්යයට සහභාගිවේ.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තුවාලකරුට ඇවිදීමට හැකියාව නැත.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7" name="Picture 6" descr="Lesson 15 Part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778" y="2475115"/>
            <a:ext cx="4269343" cy="3575729"/>
          </a:xfrm>
          <a:prstGeom prst="rect">
            <a:avLst/>
          </a:prstGeom>
          <a:noFill/>
          <a:extLst/>
        </p:spPr>
      </p:pic>
    </p:spTree>
    <p:extLst>
      <p:ext uri="{BB962C8B-B14F-4D97-AF65-F5344CB8AC3E}">
        <p14:creationId xmlns:p14="http://schemas.microsoft.com/office/powerpoint/2010/main" val="23041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9958" y="615631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7021" y="1219335"/>
            <a:ext cx="10656712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 වෙනි කොටස: පුද්ගලයන් දෙදෙනෙකු මගින් ඉවත් කිරීමේ ක්‍රමය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අත් දෙකේ ආසනය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දෙදෙනෙකු මෙම කාර්යයට සහභාගි වේ.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තුවාලකරුට ඇවිදීමට හැකියාව නොමැත.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 සිහියෙන් සිටි.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765" y="1914177"/>
            <a:ext cx="3531968" cy="440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9958" y="615631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0070" y="1305820"/>
            <a:ext cx="7365397" cy="4900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 වෙනි කොටස: පුද්ගලයන් දෙදෙනෙකු මගින් ඉවත් කිරීමේ ක්‍රමය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3200" b="1" dirty="0">
                <a:latin typeface="Calibri" panose="020F0502020204030204" pitchFamily="34" charset="0"/>
                <a:ea typeface="Calibri" panose="020F0502020204030204" pitchFamily="34" charset="0"/>
              </a:rPr>
              <a:t>අත් තුනේ ආසනය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දෙදෙනෙකුගේ මෙම කාර්යයට සහභාගි වේ.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අනතුරට ලක් වූ පුද්ගලයාට ඇවිදීමට නොහැකිය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තුවාලකරුට සිහිය ඇත.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ගලවා ගැනිම් සිදුකරන පුද්ගලයාට නිදහස් අතක් තබා ගැනිමට හැකිවීම හා අවශ්‍ය වූ විට ප්‍රයෝජනයට ගත හැකිවේ.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356" y="2675467"/>
            <a:ext cx="3838222" cy="330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9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9958" y="615631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7848" y="1429558"/>
            <a:ext cx="10182578" cy="2924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 වෙනි කොටස: පුද්ගලයන් දෙදෙනෙකු මගින් ඉවත් කිරීමේ ක්‍රම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914400" lvl="1" indent="-45720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අත් හතරේ ආසනය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371600" lvl="2" indent="-4572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දෙදෙනෙකු මෙම කාර්යයට දායකවේ.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371600" lvl="2" indent="-4572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තුවාලකරුට ඇවිදීමට නොහැකි 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371600" lvl="2" indent="-4572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 සිහියෙන් සිටි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371600" lvl="2" indent="-4572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වඩාත්ම සහයෝගය ලැබේ.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111" y="2325511"/>
            <a:ext cx="4591998" cy="347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42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9958" y="615631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5627" y="2047801"/>
            <a:ext cx="10489039" cy="2727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තෝරාගත් තුවාල කරුවන් ඉවත් කිරීමේ ශිල්පීය ක්‍රම පිළිබඳ උපදේශක විසින් නිරූපණය කිරීම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371600" lvl="2" indent="-45720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උපරිම කාලය විනාඩි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5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 යි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සහභාගිවන්නන් විසින් පුහුණු වීම කරන්න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371600" lvl="2" indent="-45720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උපරිම කාලය විනාඩි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10 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යි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24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9958" y="615631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19200" y="1450905"/>
            <a:ext cx="10874828" cy="3846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ලොග් රෝල්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කොඳු ඇට පෙළේ තුවාල සහිතතාවයන් කොදුඇට පෙළේ ආබාධයක් ඇති නම් මෙම ක්‍රමය භාවිතා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ගලවා ගන්නන්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ක් මෙම ඉවත් කිරිමේ ක්‍රමයට සහභාගි වේ.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කොඳු ඇට පෙළ සමපාතව තබා ගනිමින් රෝගියා චලනය කිරීමට ඉඩ සලසයි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රෝගීන් නැවත පරීක්ෂා කිරීමට ඉඩ සලසයි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රෝගීන් ඉවත්කර ගැනීමේ උපකරණ මත තැබීමට ඉඩ සලසයි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                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උද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ා.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Spine board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88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9958" y="615631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43377" y="1832676"/>
            <a:ext cx="10272889" cy="2463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ලොග් රෝල් ක්‍රමය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උපදේශකයා විසින් නිරූපණය කිරීම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828800" lvl="3" indent="-4572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උපරිම කාලය විනාඩි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5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 යි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සහභ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ාගිවන්නන් කණ්ඩායම් වශයෙන් ලොග් රෝල් ක්‍රමය පුහුණු කරයි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828800" lvl="3" indent="-4572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උපරිම කාලය විනාඩි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10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යි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14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9958" y="615631"/>
            <a:ext cx="7447873" cy="1380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0070" y="1641607"/>
            <a:ext cx="6789663" cy="4307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ස්ට්‍රෙචර්ස්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තුවාලකරුවන් එක් ස්ථානයක සිට තවත් ස්ථානයකට ප්‍රවාහනය කිරීමට මෙම උපකරණය භාවිතා කරයි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තුවාලකරුට තවදුරටත් තුවාල සිදුවීම අවම කරයි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අනතුරෙන් තුවාල ලැබූවන් ප්‍රවාහනය කිරීම සඳහා ගලවාගන්නන්ට මෙම ස්ට්‍රේචර් පහසුවෙන් හැසිරවීම හැකිය.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757" y="1996009"/>
            <a:ext cx="4978136" cy="39530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6743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9958" y="615631"/>
            <a:ext cx="7447873" cy="20682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ස්ට්‍රෙචර්ස්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9958" y="2493998"/>
            <a:ext cx="6096000" cy="19364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්ට්රෙචර් වර්ග: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SKED</a:t>
            </a: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Collapsible</a:t>
            </a: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Scoop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844" y="1311297"/>
            <a:ext cx="3986712" cy="31668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556" y="1134113"/>
            <a:ext cx="3341511" cy="2880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395" y="4014340"/>
            <a:ext cx="2663561" cy="229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9959" y="615631"/>
            <a:ext cx="7557589" cy="1409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r>
              <a:rPr lang="si-LK" sz="4000" dirty="0" smtClean="0"/>
              <a:t>ව</a:t>
            </a:r>
            <a:r>
              <a:rPr lang="si-LK" sz="4000" dirty="0"/>
              <a:t>ැඩිදියුණු කළ ස්ට්‍රෙචර්ස</a:t>
            </a:r>
            <a:r>
              <a:rPr lang="si-LK" sz="4000" dirty="0" smtClean="0"/>
              <a:t>්</a:t>
            </a:r>
            <a:endParaRPr lang="en-US" sz="4000" b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5880" y="2375441"/>
            <a:ext cx="5726525" cy="3451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වැඩිදියුණු කළ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්ට්‍රෙචර් සඳහා උදාහරණ: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බ්ලැන්කට්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දොරවල්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ඉණිමං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පුවරු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පුටු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7" name="Picture 2" descr="Lifts &amp; Carries | CERT-LA | CERT-L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48" y="438377"/>
            <a:ext cx="2898775" cy="3111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Standard First Aid Course - Chapter 11 - Rescue and Transporta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160" y="3844984"/>
            <a:ext cx="4593075" cy="261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Other Methods (Figures 5:18 &amp; 5:19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399" y="4426023"/>
            <a:ext cx="4400550" cy="169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47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9025" y="740229"/>
            <a:ext cx="11469775" cy="1377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 කිරිම සදහා වැඩිදියුණු කළ ස්ට්‍රේචර්ස්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887" y="1739249"/>
            <a:ext cx="6262635" cy="41771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9547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9025" y="740229"/>
            <a:ext cx="11469775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</a:p>
        </p:txBody>
      </p:sp>
      <p:sp>
        <p:nvSpPr>
          <p:cNvPr id="2" name="Rectangle 1"/>
          <p:cNvSpPr/>
          <p:nvPr/>
        </p:nvSpPr>
        <p:spPr>
          <a:xfrm>
            <a:off x="1038578" y="1715869"/>
            <a:ext cx="10182578" cy="3583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තුවාල කරුවන් තබා ගන්නා ස්ථානය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සිද්ධියෙන් තුවාල ලැබූවන් ඉවත් කරන ස්ථානයට ආසන්නව ආරක්ෂිත ප්‍රදේශයක මෙම ස්ථානය පිහිටුවනු ලැබේ.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00150" lvl="2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කඩාවැටෙන සුන්බුන් වලින් ආරක්ෂා වේ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00150" lvl="2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දුම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ගෑස්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දූවිලි සහ අන්තරායකර ද්‍රව්‍ය පතිත වීම වළක්වා ගැනීම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00150" lvl="2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විවෘත ප්‍රදේශයක් විය යුතුය. (පසු කම්පන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; 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ද්විතියික කඩා වැටීම)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හැකි නම් ප්‍රමාණවත් ආලෝකයක් සහිත ප්‍රදේශයක් විය යුතුය.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වාහන ප්‍රවේශය වීම සදහා හැකියාව තිබිය යුතුය.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වෙනත් ගලවා ගැනීමේ කටයුතු වලට බාධාවක් නොවන ස්ථානයක් විය යුතුය.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මියගිය අය තැබීම සඳහා තාවකාලික ස්ථානයක් සකසා ගන්න.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51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9025" y="740229"/>
            <a:ext cx="11469775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රෝගීයා ඇසුරුම් කිරිම සහ ප්‍රවාහනය</a:t>
            </a:r>
          </a:p>
        </p:txBody>
      </p:sp>
      <p:sp>
        <p:nvSpPr>
          <p:cNvPr id="3" name="Rectangle 2"/>
          <p:cNvSpPr/>
          <p:nvPr/>
        </p:nvSpPr>
        <p:spPr>
          <a:xfrm>
            <a:off x="688622" y="1837563"/>
            <a:ext cx="11119556" cy="4241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රන් රීතිය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		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ගෙන යන ආකාරය සඳහා සැලැස්මක් යොදාගන්න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රන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 රීතිය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		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ඔබට බොහෝ විට එම ක්‍රමය වැඩිදියුණු කිරීමට සිදුවනු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ඇත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ස්වර්ණමය රීතිය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සිද්ධියට ආසන්නව ආරක්ෂිත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විවෘත ප්‍රදේශයක තුවාල කරුවන් රැදවිම සදහා රැදවුම්  ස්ථානයක් සකසන්න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32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11097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43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4471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Times"/>
        <a:ea typeface="ヒラギノ明朝 ProN W3"/>
        <a:cs typeface="ヒラギノ明朝 ProN W3"/>
      </a:majorFont>
      <a:minorFont>
        <a:latin typeface="Times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spDef>
    <a:lnDef>
      <a:spPr bwMode="auto">
        <a:solidFill>
          <a:srgbClr val="00CC99"/>
        </a:solidFill>
        <a:ln w="19050" cap="flat" cmpd="sng" algn="ctr">
          <a:solidFill>
            <a:srgbClr val="174C8E">
              <a:alpha val="84000"/>
            </a:srgb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2455</TotalTime>
  <Words>6506</Words>
  <Application>Microsoft Office PowerPoint</Application>
  <PresentationFormat>Widescreen</PresentationFormat>
  <Paragraphs>356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Arial</vt:lpstr>
      <vt:lpstr>Avenir Medium</vt:lpstr>
      <vt:lpstr>Calibri</vt:lpstr>
      <vt:lpstr>Calibri Light</vt:lpstr>
      <vt:lpstr>Iskoola Pota</vt:lpstr>
      <vt:lpstr>Symbol</vt:lpstr>
      <vt:lpstr>Times</vt:lpstr>
      <vt:lpstr>Times New Roman</vt:lpstr>
      <vt:lpstr>Verdana</vt:lpstr>
      <vt:lpstr>Wingdings</vt:lpstr>
      <vt:lpstr>ヒラギノ明朝 ProN W3</vt:lpstr>
      <vt:lpstr>Office Theme</vt:lpstr>
      <vt:lpstr>1_Title &amp; Bullets</vt:lpstr>
      <vt:lpstr>පළමු ප්‍රතිචාර පුහුණු වැඩසටහන </vt:lpstr>
      <vt:lpstr>PowerPoint Presentation</vt:lpstr>
      <vt:lpstr>PowerPoint Presentation</vt:lpstr>
      <vt:lpstr>පළමුව  ප්‍රතිචාර දක්වන්නා</vt:lpstr>
      <vt:lpstr>පළමුව  ප්‍රතිචාර දක්වන්නා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පළමුව  ප්‍රතිචාර දක්වන්නා</vt:lpstr>
      <vt:lpstr>පළමුව  ප්‍රතිචාර දක්වන්නා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Military PC</dc:creator>
  <cp:lastModifiedBy>Military PC</cp:lastModifiedBy>
  <cp:revision>474</cp:revision>
  <cp:lastPrinted>2022-08-16T06:16:25Z</cp:lastPrinted>
  <dcterms:created xsi:type="dcterms:W3CDTF">2022-07-11T05:41:01Z</dcterms:created>
  <dcterms:modified xsi:type="dcterms:W3CDTF">2023-01-24T03:40:37Z</dcterms:modified>
</cp:coreProperties>
</file>