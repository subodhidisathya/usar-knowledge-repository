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16" r:id="rId2"/>
  </p:sldMasterIdLst>
  <p:notesMasterIdLst>
    <p:notesMasterId r:id="rId34"/>
  </p:notesMasterIdLst>
  <p:handoutMasterIdLst>
    <p:handoutMasterId r:id="rId35"/>
  </p:handoutMasterIdLst>
  <p:sldIdLst>
    <p:sldId id="269" r:id="rId3"/>
    <p:sldId id="268" r:id="rId4"/>
    <p:sldId id="267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09" r:id="rId32"/>
    <p:sldId id="314" r:id="rId33"/>
  </p:sldIdLst>
  <p:sldSz cx="12192000" cy="6858000"/>
  <p:notesSz cx="6800850" cy="9932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2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1FE1-49FF-49A7-A7F1-7BA43AFF21B6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B333-660B-4C8D-ABAD-4F77470B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3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E2F-C41B-4D8B-95EE-5D8EFFB3B4CF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80250"/>
            <a:ext cx="5440680" cy="39111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34173-98C6-48F6-BF0E-3F7CF8242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7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3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9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8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8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2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8CC436-DB0C-4D40-95CD-0C678C839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801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540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76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6425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47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066801"/>
            <a:ext cx="10363200" cy="33401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65928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8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280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408238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276600"/>
            <a:ext cx="5386917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408238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3276600"/>
            <a:ext cx="5389033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9942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9860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5001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83820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90601"/>
            <a:ext cx="6815667" cy="50292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3601"/>
            <a:ext cx="4011084" cy="3886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836281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0"/>
            <a:ext cx="10668000" cy="457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990600"/>
            <a:ext cx="10668000" cy="3736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Time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367338"/>
            <a:ext cx="10668000" cy="652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067810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8CC436-DB0C-4D40-95CD-0C678C839DC7}" type="slidenum"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smtClean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14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2D13-26C6-49E8-A6B9-CF97DB82E248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990600"/>
            <a:ext cx="11176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981200"/>
            <a:ext cx="11176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text styles</a:t>
            </a:r>
          </a:p>
          <a:p>
            <a:pPr lvl="1"/>
            <a:r>
              <a:rPr lang="en-US" smtClean="0">
                <a:sym typeface="Times" panose="02020603050405020304" pitchFamily="18" charset="0"/>
              </a:rPr>
              <a:t>Second level</a:t>
            </a:r>
          </a:p>
          <a:p>
            <a:pPr lvl="2"/>
            <a:r>
              <a:rPr lang="en-US" smtClean="0">
                <a:sym typeface="Times" panose="02020603050405020304" pitchFamily="18" charset="0"/>
              </a:rPr>
              <a:t>Third level</a:t>
            </a:r>
          </a:p>
          <a:p>
            <a:pPr lvl="3"/>
            <a:r>
              <a:rPr lang="en-US" smtClean="0">
                <a:sym typeface="Times" panose="02020603050405020304" pitchFamily="18" charset="0"/>
              </a:rPr>
              <a:t>Fourth level</a:t>
            </a:r>
          </a:p>
          <a:p>
            <a:pPr lvl="4"/>
            <a:r>
              <a:rPr lang="en-US" smtClean="0">
                <a:sym typeface="Times" panose="02020603050405020304" pitchFamily="18" charset="0"/>
              </a:rPr>
              <a:t>Fifth level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3200" y="152400"/>
            <a:ext cx="35560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9" name="Picture 1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248400"/>
            <a:ext cx="284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065839"/>
            <a:ext cx="149013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1" name="Straight Connector 2"/>
          <p:cNvCxnSpPr>
            <a:cxnSpLocks noChangeShapeType="1"/>
          </p:cNvCxnSpPr>
          <p:nvPr userDrawn="1"/>
        </p:nvCxnSpPr>
        <p:spPr bwMode="auto">
          <a:xfrm>
            <a:off x="3100917" y="6300788"/>
            <a:ext cx="7416800" cy="0"/>
          </a:xfrm>
          <a:prstGeom prst="line">
            <a:avLst/>
          </a:prstGeom>
          <a:noFill/>
          <a:ln w="20320">
            <a:solidFill>
              <a:srgbClr val="174C8E">
                <a:alpha val="9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443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transition/>
  <p:hf hdr="0" ftr="0" dt="0"/>
  <p:txStyles>
    <p:titleStyle>
      <a:lvl1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/>
          <a:ea typeface="+mj-ea"/>
          <a:cs typeface="Verdana"/>
          <a:sym typeface="Times" panose="02020603050405020304" pitchFamily="18" charset="0"/>
        </a:defRPr>
      </a:lvl1pPr>
      <a:lvl2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2pPr>
      <a:lvl3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3pPr>
      <a:lvl4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4pPr>
      <a:lvl5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5pPr>
      <a:lvl6pPr marL="4968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6pPr>
      <a:lvl7pPr marL="9540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7pPr>
      <a:lvl8pPr marL="14112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8pPr>
      <a:lvl9pPr marL="18684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9pPr>
    </p:titleStyle>
    <p:bodyStyle>
      <a:lvl1pPr marL="382588" indent="-342900" algn="l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32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1pPr>
      <a:lvl2pPr marL="681038" indent="-285750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8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2pPr>
      <a:lvl3pPr marL="1081088" indent="-228600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24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3pPr>
      <a:lvl4pPr marL="15382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4pPr>
      <a:lvl5pPr marL="19954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»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5pPr>
      <a:lvl6pPr marL="24526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6pPr>
      <a:lvl7pPr marL="29098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7pPr>
      <a:lvl8pPr marL="33670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8pPr>
      <a:lvl9pPr marL="38242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666" y="820470"/>
            <a:ext cx="10515600" cy="1325563"/>
          </a:xfrm>
        </p:spPr>
        <p:txBody>
          <a:bodyPr/>
          <a:lstStyle/>
          <a:p>
            <a:r>
              <a:rPr lang="si-LK" dirty="0"/>
              <a:t>පළමු ප්‍රතිචාර දැක්වීම් පුහුණු වැඩසටහන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i-LK" dirty="0"/>
              <a:t>මොඩියුලර්	</a:t>
            </a:r>
            <a:r>
              <a:rPr lang="si-LK" dirty="0" smtClean="0"/>
              <a:t>6: </a:t>
            </a:r>
            <a:r>
              <a:rPr lang="si-LK" dirty="0"/>
              <a:t>මූලික වෛද්‍ය ගැලවීම</a:t>
            </a:r>
            <a:endParaRPr lang="si-LK" dirty="0" smtClean="0"/>
          </a:p>
          <a:p>
            <a:r>
              <a:rPr lang="si-LK" dirty="0" smtClean="0"/>
              <a:t>සැසිය 	6.3 - පාඩම් සැලැස්ම</a:t>
            </a:r>
          </a:p>
          <a:p>
            <a:r>
              <a:rPr lang="si-LK" dirty="0"/>
              <a:t>රෝගියාගේ තත්වය තක්සේරු කිරිම</a:t>
            </a:r>
            <a:endParaRPr lang="en-US" dirty="0"/>
          </a:p>
          <a:p>
            <a:endParaRPr lang="si-LK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8999220" y="4555394"/>
            <a:ext cx="2354580" cy="165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පළමු ප්‍රතිචාර දැක්වීමේ පුහුණු වැඩසටහන 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INSARAG </a:t>
            </a:r>
            <a:r>
              <a:rPr lang="si-LK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පුහුණු ක්‍රියාකාරී කණ්ඩායම විසින් සංවර්ධනය කරන ලද අතර ගලවා ගැනීමේ හැකියාව වර්ධනය කිරීමට සහ ජීවිත බේරා ගැනීමට සියලුම රටවලට සහ ප්‍රතිචාර  දක්වන සංවිධානවලට උපකාර කිරීමට අදහස් කෙරේ.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6686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394466"/>
              </p:ext>
            </p:extLst>
          </p:nvPr>
        </p:nvGraphicFramePr>
        <p:xfrm>
          <a:off x="168446" y="0"/>
          <a:ext cx="11655425" cy="2569420"/>
        </p:xfrm>
        <a:graphic>
          <a:graphicData uri="http://schemas.openxmlformats.org/drawingml/2006/table">
            <a:tbl>
              <a:tblPr firstRow="1" firstCol="1" bandRow="1"/>
              <a:tblGrid>
                <a:gridCol w="3491140"/>
                <a:gridCol w="3363686"/>
                <a:gridCol w="4800599"/>
              </a:tblGrid>
              <a:tr h="6123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Aims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 (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Objective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ප්‍රතිඵල (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Learning</a:t>
                      </a:r>
                      <a:r>
                        <a:rPr lang="en-US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Outcomes)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7866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 සහභාගිවන්නන්ට රෝගියාගේ තත්වය තක්සේරුවක් කිරීමට හැකි වේ.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රෝගී සත්කාරයේ ප්‍රමුඛතා තේරුම් ගන්න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ශරීරයෙන් පිටවන තරල වලින් පුද්ගලිකවම ආරක්ෂාවීමේ වැදගත්කම තේරුම් ගන්න උදා. ලේ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දර්ශන (ස්ථානයේ) ආරක්ෂාව පළමුව ස්ථාපිත කිරීමේ වැදගත්කම තේරුම් ගන්න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ප්‍රාථමික සමීක්ෂණයේ වැදගත්කම තේරුම් ගන්න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ද්විතියික සමීක්ෂණයේ වැදගත්කම තේරුම් ගන්න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ඉතිහාසය විමසීමේ වැදගත්කම තේරුම් ගන්න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සහභාගිවන්නාට විෂයන් හැකි වනු ඇත: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රෝගියාට ප්‍රවේශය විමේදි 3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H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භාවිතා කරන්න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‍ප්‍රාථමික සමීක්ෂණයක් සිදු කරන්න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ව්‍යාසනකාරී රුධිර වහනය හඳුනා ගැනීම සහ පාලනය කිරීම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ශ්වසනය සදහා මාර්ගයක් විවෘත කරන්න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රෝගියෙකු සුවය ලබන ආකාරයට තබන්න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හුස්ම ගැනීම පිලිබදව තක්සේරු කරන්න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ද්විතියික සමීක්ෂණයක් සිදු කරන්න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රෝගියාගේ ඉතිහාසය පිළිබදව තොරතුරු ලබා ගන්න.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72564"/>
              </p:ext>
            </p:extLst>
          </p:nvPr>
        </p:nvGraphicFramePr>
        <p:xfrm>
          <a:off x="238467" y="2657535"/>
          <a:ext cx="11578394" cy="4054622"/>
        </p:xfrm>
        <a:graphic>
          <a:graphicData uri="http://schemas.openxmlformats.org/drawingml/2006/table">
            <a:tbl>
              <a:tblPr firstRow="1" firstCol="1" bandRow="1"/>
              <a:tblGrid>
                <a:gridCol w="3651175"/>
                <a:gridCol w="1960761"/>
                <a:gridCol w="3651175"/>
                <a:gridCol w="2315283"/>
              </a:tblGrid>
              <a:tr h="5250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වේලාව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ක්‍රියාකාරිත්වය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058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35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ප්‍රාථමික සමීක්ෂණය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ප්‍රාථමික සමීක්ෂණය පැහැදිලි කිරිම සදහා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Point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සහ වීඩියෝව පෙන්වන්න.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6.3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 FR-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වීඩියෝවක් ඇතුළුව (මූලික සමීක්ෂණය)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 අන්තර් ක්‍රියා කරන්න.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5058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මිනිත්තු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ද්විතීයික සමීක්ෂණය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ද්විතීයික සමීක්ෂණය පැහැදිලි කරන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PowerPoint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සහ වීඩියෝව පෙන්වන්න.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වීඩියෝවක් ඇතුළුව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PowerPoint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කිරිම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ද්විතියික සමීක්ෂණය)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6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 අන්තර් ක්‍රියා 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5058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මිනිත්තු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රෝගීයා සමීක්ෂණය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රෝගියාගේ ඉතිහාසය වාර්තා කරන ආකාරය පැහැදිලි කරන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PowerPoint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සහ වීඩියෝව පෙන්වන්න.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වීඩියෝවක් ඇතුළුව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PowerPoint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ඉදිරිපත් කිරිම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රෝගී ඉතිහාසය)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 කාමරය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කිරීමට ප්‍රශ්න අසමින් අවශ්‍ය පරිදි සවන් දී අන්තර් සම්බන්ධතාවය ගොඩනගන්න.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625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75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4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392411"/>
              </p:ext>
            </p:extLst>
          </p:nvPr>
        </p:nvGraphicFramePr>
        <p:xfrm>
          <a:off x="427718" y="367279"/>
          <a:ext cx="11394168" cy="3791064"/>
        </p:xfrm>
        <a:graphic>
          <a:graphicData uri="http://schemas.openxmlformats.org/drawingml/2006/table">
            <a:tbl>
              <a:tblPr firstRow="1" firstCol="1" bandRow="1"/>
              <a:tblGrid>
                <a:gridCol w="3722907"/>
                <a:gridCol w="7671261"/>
              </a:tblGrid>
              <a:tr h="23694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සටහන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541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2" y="879087"/>
            <a:ext cx="3428149" cy="5171757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1142804"/>
            <a:ext cx="4371278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පළමුවන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i-LK" sz="2200" dirty="0"/>
              <a:t>ඉදිරිපත් කිරිමේ මාතෘකා</a:t>
            </a:r>
            <a:r>
              <a:rPr lang="si-LK" sz="2200" dirty="0" smtClean="0"/>
              <a:t>ව	:- </a:t>
            </a:r>
            <a:r>
              <a:rPr lang="si-LK" sz="2400" dirty="0"/>
              <a:t>රෝගියා ගේ තත්වය තක්සේරු කිරීම</a:t>
            </a:r>
            <a:endParaRPr lang="en-US" sz="2400" dirty="0"/>
          </a:p>
          <a:p>
            <a:pPr marL="0" indent="0">
              <a:buNone/>
            </a:pPr>
            <a:r>
              <a:rPr lang="si-LK" sz="2200" dirty="0"/>
              <a:t>	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si-LK" sz="2200" dirty="0" smtClean="0"/>
              <a:t>	ම</a:t>
            </a:r>
            <a:r>
              <a:rPr lang="si-LK" sz="2200" dirty="0"/>
              <a:t>ොඩියුලර</a:t>
            </a:r>
            <a:r>
              <a:rPr lang="si-LK" sz="2200" dirty="0" smtClean="0"/>
              <a:t>්		: 6.3</a:t>
            </a:r>
            <a:r>
              <a:rPr lang="en-US" sz="2200" dirty="0" smtClean="0"/>
              <a:t>a</a:t>
            </a:r>
            <a:endParaRPr lang="si-LK" sz="2200" dirty="0" smtClean="0"/>
          </a:p>
          <a:p>
            <a:pPr marL="0" indent="0">
              <a:buNone/>
            </a:pP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si-LK" sz="2200" dirty="0" smtClean="0"/>
              <a:t>ඉදිරිපත් කරන්නන්/ උපදේශක	:- ඉදිරිපත් කරන්නන්ගේ නම මෙහි </a:t>
            </a:r>
            <a:r>
              <a:rPr lang="si-LK" sz="2200" dirty="0"/>
              <a:t>එක</a:t>
            </a:r>
            <a:r>
              <a:rPr lang="si-LK" sz="2200" dirty="0" smtClean="0"/>
              <a:t>් කරන</a:t>
            </a:r>
            <a:r>
              <a:rPr lang="si-LK" sz="2200" dirty="0"/>
              <a:t>්න.</a:t>
            </a:r>
            <a:r>
              <a:rPr lang="si-LK" sz="2200" dirty="0" smtClean="0"/>
              <a:t>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Coordination Saves Lives</a:t>
            </a:r>
            <a:endParaRPr lang="si-LK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98160" y="6230892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0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70" y="1042635"/>
            <a:ext cx="6972021" cy="45141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si-LK" sz="4400" b="1" dirty="0"/>
              <a:t>මූලික වෛද්‍ය ගලවා ගැනිම </a:t>
            </a:r>
            <a:endParaRPr lang="en-US" sz="4400" b="1" dirty="0" smtClean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si-LK" sz="3600" dirty="0"/>
              <a:t>රෝගියාගේ තත්වය තක්සේරු</a:t>
            </a:r>
            <a:r>
              <a:rPr lang="si-LK" sz="3600" dirty="0" smtClean="0"/>
              <a:t>ව</a:t>
            </a:r>
            <a:endParaRPr lang="en-US" sz="3600" dirty="0" smtClean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si-LK" sz="3600" dirty="0"/>
              <a:t>රෝගියා වෙත ප්‍රවේශ වීම</a:t>
            </a:r>
            <a:endParaRPr lang="en-US" sz="3600" dirty="0"/>
          </a:p>
          <a:p>
            <a:pPr marL="0" indent="0" algn="ctr">
              <a:buNone/>
            </a:pPr>
            <a:r>
              <a:rPr lang="si-LK" sz="3600" dirty="0"/>
              <a:t>ප්‍රාථමික සමීක්ෂණය කිරිම</a:t>
            </a:r>
            <a:endParaRPr lang="en-US" sz="3600" dirty="0"/>
          </a:p>
          <a:p>
            <a:pPr marL="0" indent="0">
              <a:buNone/>
            </a:pPr>
            <a:endParaRPr lang="si-LK" sz="3600" b="1" dirty="0" smtClean="0"/>
          </a:p>
          <a:p>
            <a:pPr marL="0" indent="0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si-LK" sz="3600" b="1" dirty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81244" y="223365"/>
            <a:ext cx="3603014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7236178" y="372126"/>
            <a:ext cx="408496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161867" y="5278398"/>
            <a:ext cx="2997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361907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37139" y="929425"/>
            <a:ext cx="6096000" cy="13437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ඇගයීම 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ඉගෙනිම් ප්‍රතිඵල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7139" y="2342444"/>
            <a:ext cx="9249507" cy="325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සිටින ස්ථානයට ප්‍රවේශවීම සදහා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 H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 ක්‍රමවේදය භාවිතා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ප්‍රාථමික සමීක්ෂණයක් සිදු කරගන්න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ව්‍යාසනකාරී රුධිර වහනය හඳුනා ගැනීම සහ එය පාලනය කිරීම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ශ්වසනය සදහා මාර්ගයක් විවෘත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රෝගියෙකු සුවය ලබන ආකාරයට තබන්න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හුස්ම ගැනීම තක්සේරු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සමීක්ෂණයක් සිදු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රෝගී ඉතිහාසය ගන්න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71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95959" y="988163"/>
            <a:ext cx="5237331" cy="783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තක්සේරුව</a:t>
            </a:r>
            <a:endParaRPr lang="en-US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59467" y="2368951"/>
            <a:ext cx="8387644" cy="2463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රෝගීන් සිටින ස්ථානය සඳහා ප්‍රවේශ වීමට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ප්‍රාථමික සමීක්ෂණය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ද්විතියික සමීක්ෂණය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ඉතිහාසය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90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00558" y="886564"/>
            <a:ext cx="631454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තත්වය තක්සේරුව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5091" y="1996401"/>
            <a:ext cx="10960864" cy="2924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800" b="1" dirty="0">
                <a:latin typeface="Calibri" panose="020F0502020204030204" pitchFamily="34" charset="0"/>
                <a:ea typeface="Calibri" panose="020F0502020204030204" pitchFamily="34" charset="0"/>
              </a:rPr>
              <a:t>එසේ කිරීම එක් වරක් පමණක් ආරක්ෂිත වේ. - රෝගියා වෙත ළඟා වන්න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800" b="1" dirty="0">
                <a:latin typeface="Calibri" panose="020F0502020204030204" pitchFamily="34" charset="0"/>
                <a:ea typeface="Calibri" panose="020F0502020204030204" pitchFamily="34" charset="0"/>
              </a:rPr>
              <a:t>හඳුනා ගැනීම් ප්‍රමුඛතාවය: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පළමුව	(1)	 - මරණයට හේතු විය හැකි තත්වයන්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දෙවනුව	(2)	 - අතපය අහිමි වීමට හේතු විය හැකි තත්වයන්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තෙවනුව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3)	 - අනෙකුත් සියලුම කොන්දේසි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එක් රෝගියෙකුට වඩා වැඩි නම්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හැකි තරම් රෝගීන් බේරා ගැනීම මෙහි අරමුණයි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74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52114" y="1699017"/>
            <a:ext cx="10430286" cy="3102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ඔබට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එක් රෝගියෙකුට වඩා සිටින තත්වයන් ඇති විය හැක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ත්‍රිත්වය (මෙම මොඩියුලයේ විෂය පථයෙන් ඔබ්බට) - මූලධර්මය "විශාල සංඛ්‍යාව සඳහා හොඳම යහපත" සිදු කිරිම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ඔබට සීමිත සම්පත් තිබේ නම්: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කාලය හා සම්පත් නාස්ති නොකරන්න: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පැහැදිලිවම මිය ගිය අය හදුනාගන්න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පැහැදිලිවම තමන්ට උදව් කළ හැකි අය හදුනාගන්න උදා. ඇවිදින තුවාල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52114" y="886563"/>
            <a:ext cx="6304931" cy="718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තත්වය තක්සේරුව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49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76542" y="660785"/>
            <a:ext cx="4663456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වෙත ප්‍රවේශය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6542" y="1553026"/>
            <a:ext cx="10351911" cy="4439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එසේ කිරීම ආරක්ෂිත වූ වහාම රෝගියා වෙත ළඟා වන්න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H- </a:t>
            </a:r>
            <a:r>
              <a:rPr lang="si-LK" sz="3200" b="1" dirty="0">
                <a:latin typeface="Calibri" panose="020F0502020204030204" pitchFamily="34" charset="0"/>
                <a:ea typeface="Calibri" panose="020F0502020204030204" pitchFamily="34" charset="0"/>
              </a:rPr>
              <a:t>උපද්‍රව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වෙත ළඟා වීමට ආරක්ෂිත බව සහතික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</a:t>
            </a:r>
            <a:r>
              <a:rPr lang="si-LK" sz="3200" b="1" dirty="0">
                <a:latin typeface="Calibri" panose="020F0502020204030204" pitchFamily="34" charset="0"/>
                <a:ea typeface="Calibri" panose="020F0502020204030204" pitchFamily="34" charset="0"/>
              </a:rPr>
              <a:t> - හලෝ (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Hellow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ප්‍රතිචාරය පරීක්ෂා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H- </a:t>
            </a:r>
            <a:r>
              <a:rPr lang="si-LK" sz="3200" b="1" dirty="0">
                <a:latin typeface="Calibri" panose="020F0502020204030204" pitchFamily="34" charset="0"/>
                <a:ea typeface="Calibri" panose="020F0502020204030204" pitchFamily="34" charset="0"/>
              </a:rPr>
              <a:t>උදව්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571750" algn="l"/>
              </a:tabLs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උදව් සඳහා අමතන්න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>
              <a:lnSpc>
                <a:spcPct val="107000"/>
              </a:lnSpc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මේවා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3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යි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31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1067" y="740229"/>
            <a:ext cx="6096000" cy="3755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2718" y="727085"/>
            <a:ext cx="6603090" cy="658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36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ප්‍රතිචාර දැක්වීමට ප්‍රවේශය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3421" y="1330789"/>
            <a:ext cx="8568267" cy="5032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 වන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H: 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උපද්‍රව - පරීක්ෂා කර සියල්ල සහතික කරගන්න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 වන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H: 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හෙලෝ (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Hellow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)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නිරීක්ෂණය කරන්න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පිපිදවීම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ස්වයං සිදුවන හුස්ම ගැනීම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ස්වයං සිදුවන චලනය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වාචික: හලෝ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 (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Hellow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)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මම ...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මොකද වුණේ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?</a:t>
            </a:r>
          </a:p>
          <a:p>
            <a:pPr>
              <a:lnSpc>
                <a:spcPct val="107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පැහැදිලිව පිළිතුරු දෙන්නේ නම්: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හුස්ම ගැනිම් මාර්ගය = නිවැරදියි (දැනට)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හුස්ම ගැනීම = නිවැරදියි (දැනට)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සංසරණය = නිවැරදියි (දැනට)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324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1067" y="740229"/>
            <a:ext cx="6096000" cy="3755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78750" y="727085"/>
            <a:ext cx="8101898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වෙත ප්‍රවේශය - ප්‍රතිචාර දැක්වීම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8621" y="1528485"/>
            <a:ext cx="10961511" cy="3780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si-LK" sz="2800" b="1" dirty="0">
                <a:latin typeface="Calibri" panose="020F0502020204030204" pitchFamily="34" charset="0"/>
                <a:ea typeface="Calibri" panose="020F0502020204030204" pitchFamily="34" charset="0"/>
              </a:rPr>
              <a:t> වන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H: </a:t>
            </a:r>
            <a:r>
              <a:rPr lang="si-LK" sz="2800" b="1" dirty="0">
                <a:latin typeface="Calibri" panose="020F0502020204030204" pitchFamily="34" charset="0"/>
                <a:ea typeface="Calibri" panose="020F0502020204030204" pitchFamily="34" charset="0"/>
              </a:rPr>
              <a:t>හෙලෝ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AVPU:</a:t>
            </a:r>
          </a:p>
          <a:p>
            <a:pPr marL="342900" marR="0" lvl="0" indent="28892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A: ALERT –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ප්‍රතිචාර ඇඟවීම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631825" marR="0" lvl="0" indent="-2936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V: VOICE -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හඬට ප්‍රතිචාර දක්වයි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631825" marR="0" lvl="0" indent="-2936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P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PAIN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 - වේදනාවට ප්‍රතිචාර දක්වයි.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38138" marR="0" lvl="0" indent="28892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U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UNRESPONSIVE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 - ප්‍රතිචාරයක් නොදක්වය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</a:t>
            </a:r>
          </a:p>
          <a:p>
            <a:pPr marL="338138" marR="0" lvl="0" indent="28892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800" b="1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සිහියෙන් නොසිටින්නේ නම් - හේතුව සොයා ගැනීමට ප්‍රාථමික සමීක්ෂණය වහාම ආරම්භ කරන්න. එය සවිස්තරාත්මකව සිදු කරන්න</a:t>
            </a:r>
            <a:r>
              <a:rPr lang="si-LK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109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1067" y="740229"/>
            <a:ext cx="6096000" cy="3755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5194" y="921433"/>
            <a:ext cx="8101898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රෝ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ගියා වෙත ප්‍රවේශය - ප්‍රතිචාර දැක්වී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5021" y="2289396"/>
            <a:ext cx="8387645" cy="3027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 වන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H: 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නිවැරදි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 වන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H: 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නිවැරදි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</a:t>
            </a: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85750" indent="-28575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 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වන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H: 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උදව් සඳහා අමතන්න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9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47524" y="1123630"/>
            <a:ext cx="412003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ප්‍රාථමික සමීක්ෂණය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47524" y="2227089"/>
            <a:ext cx="9678520" cy="1870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අරමුණ: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lnSpc>
                <a:spcPct val="107000"/>
              </a:lnSpc>
            </a:pP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ජීවිතයට තර්ජනයක් වන තත්ත්වයන් ඉක්මනින් හඳුනාගෙන ප්‍රතිකාර කිරීම මෙහි අරමුණයි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99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1204" y="909141"/>
            <a:ext cx="412003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ප්‍රාථමික සමීක්ෂණය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1204" y="1842708"/>
            <a:ext cx="11202824" cy="4241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C: 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ව්‍යාසනකාරී ර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ුධිර 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වහනය</a:t>
            </a:r>
          </a:p>
          <a:p>
            <a:pPr>
              <a:lnSpc>
                <a:spcPct val="107000"/>
              </a:lnSpc>
            </a:pP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A: 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කශේරුකාව සහ හුස්ම ගැනිම් මාර්ගය 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එකට 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පෙළගස්වන්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</a:p>
          <a:p>
            <a:pPr>
              <a:lnSpc>
                <a:spcPct val="107000"/>
              </a:lnSpc>
            </a:pP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B: 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හුස්ම ගැනී</a:t>
            </a:r>
            <a:r>
              <a:rPr lang="si-LK" sz="36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</a:p>
          <a:p>
            <a:pPr>
              <a:lnSpc>
                <a:spcPct val="107000"/>
              </a:lnSpc>
            </a:pP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C: </a:t>
            </a:r>
            <a:r>
              <a:rPr lang="si-LK" sz="3600" dirty="0">
                <a:latin typeface="Calibri" panose="020F0502020204030204" pitchFamily="34" charset="0"/>
                <a:ea typeface="Calibri" panose="020F0502020204030204" pitchFamily="34" charset="0"/>
              </a:rPr>
              <a:t>සංසරණය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966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54229" y="897852"/>
            <a:ext cx="10813217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C-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ව්‍යාසනකාරී රුධිර වහනය (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Catastrophic Bleeding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1466" y="2054342"/>
            <a:ext cx="9922933" cy="2938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ධමනි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ධමනි රුධිර වහනයේ ලක්ෂණ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ලේ ගැලීම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</a:t>
            </a:r>
          </a:p>
          <a:p>
            <a:pPr marL="1433513" marR="0" lvl="0" indent="5080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ස්පන්දන වේගය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433513" marR="0" lvl="2" indent="5080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ඉහළ පරිමාවක් පිටවීම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433513" marR="0" lvl="2" indent="5080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දීප්තිමත් රතු පාට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433513" marR="0" lvl="2" indent="5080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නතර කිරීමට අපහසුය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208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8470" y="740229"/>
            <a:ext cx="5259773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C-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ව්‍යාසනකාරී ලේ ගැලීම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8469" y="1641373"/>
            <a:ext cx="10068863" cy="3319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ධමනි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හදිසි ප්‍රමුඛතාවය ව්‍යාසනකාරී ලේ ගැලීම පාලනය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 </a:t>
            </a:r>
          </a:p>
          <a:p>
            <a:pPr>
              <a:lnSpc>
                <a:spcPct val="107000"/>
              </a:lnSpc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09688" marR="0" lvl="0" indent="-3952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ඇඳුම් සමඟ සෘජු පීඩනය ලබා දෙන්න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914400" marR="0" lvl="0" indent="3952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පීඩන ස්ථාන (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Pressure Point)</a:t>
            </a:r>
          </a:p>
          <a:p>
            <a:pPr marL="914400" marR="0" lvl="0" indent="3952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කකුල අතපය ඉහළ ස්ථානයක තැබීම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914400" marR="0" lvl="0" indent="3952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මුල් ඇඳුම් පැළඳුම් ඇඳුම් එකතු කරන්න ඉවත් නොකරන්න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239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365249" y="1153614"/>
            <a:ext cx="579678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C-</a:t>
            </a:r>
            <a:r>
              <a:rPr kumimoji="0" lang="si-LK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ව්‍යාසනකාරී 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රුධිර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වහනය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65991" y="2706007"/>
            <a:ext cx="683895" cy="25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73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33364" y="1200916"/>
            <a:ext cx="10039928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A-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 කශේරුකාව සහ ශ්වසන මාර්ගය පෙළගස්වන්න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2" name="AutoShape 2" descr="Airway is the stairway to health"/>
          <p:cNvSpPr>
            <a:spLocks noChangeAspect="1" noChangeArrowheads="1"/>
          </p:cNvSpPr>
          <p:nvPr/>
        </p:nvSpPr>
        <p:spPr bwMode="auto">
          <a:xfrm>
            <a:off x="3189513" y="296701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469073" y="2103076"/>
            <a:ext cx="2865474" cy="342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11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49439" y="740229"/>
            <a:ext cx="4510145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A-Align Spine and Airways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9438" y="1337207"/>
            <a:ext cx="6405921" cy="6851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3600" b="1" dirty="0">
                <a:latin typeface="Calibri" panose="020F0502020204030204" pitchFamily="34" charset="0"/>
                <a:ea typeface="Calibri" panose="020F0502020204030204" pitchFamily="34" charset="0"/>
              </a:rPr>
              <a:t>සී - කොඳු ඇට පෙළ පෙළගස්වන්න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49438" y="2230613"/>
            <a:ext cx="10791005" cy="325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වෙනත් ආකාරයකින් ඔප්පු වන තුරු සියලුම කම්පන යටපත් රෝගීන් කොඳු ඇට පෙළේ තුවාලයක් ඇති බවට සැක කෙරේ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අධික ලෙස චලනය වීම තුවාලය උග්‍ර කළ හැකිය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රෝගියාගේ හිස සහ බෙල්ල මධ්‍යස්ථ ස්ථානයකට ගෙන ඒම සඳහා මෘදු ලෙස ශරීරය හසුරුවන්න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එසේ කිරීමට නොහැකි නම් - ඔහුව හසුරවන්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මධ්‍යස්ථ ස්ථානයක රෝගියාගේ බෙල්ල තබා ගැනිමට ආධාර කරන්න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අනවශ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්‍ය චලනයන් සිදුකිරිමෙන් වළකින්න!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1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49439" y="740229"/>
            <a:ext cx="4510145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A-Align Spine and Airways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9438" y="1337207"/>
            <a:ext cx="2868093" cy="658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3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ශ්වසන මාර්ගය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2933" y="2416153"/>
            <a:ext cx="10577689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විවෘත වු ශ්වසන මාර්ගයක් නොමැති නම් - ඔහු මිය යනු ඇත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ශ්වසන මාර්ගය විවෘතව ඇති බවට වග බලා ගන්න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ශ්වසන මාර්ගය විවෘත නොවේ නම් - එය විවෘත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742950" marR="0" lvl="1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වඩාත් පොදු හේතුව වන්නේ ශ්වසන මාර්ගය අවහිර වීමයි - දිව මගින් අවහිර 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උපදේශකයා ශ්වසන මාර්ගය විවෘත කිරීම පෙන්නුම් කරයි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79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49439" y="740229"/>
            <a:ext cx="80281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A- </a:t>
            </a:r>
            <a:r>
              <a:rPr lang="si-LK" sz="3200" dirty="0"/>
              <a:t>කශේරුකාව සහ ශ්වසන මාර්ගය පෙළගස්වන්න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949439" y="1356329"/>
            <a:ext cx="2868093" cy="658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3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ශ්වසන මාර්ගය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49438" y="2675497"/>
            <a:ext cx="10836161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වඩාත්ම අඩු සිහිකල්පනාව තිබේ නම් ශ්වසන මාර්ගය ආරක්ෂා කිරීම සඳහා ඵලදායී ක්‍රමය වන්නේ රෝගියා යථා තත්වයට පත්වන ආකාරයට තැබීමයි.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07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49439" y="740229"/>
            <a:ext cx="507632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-</a:t>
            </a:r>
            <a:r>
              <a:rPr lang="en-US" sz="3200" dirty="0"/>
              <a:t>A-Airway - Recovery Position</a:t>
            </a:r>
          </a:p>
          <a:p>
            <a:endParaRPr lang="en-US" sz="3200" dirty="0"/>
          </a:p>
        </p:txBody>
      </p:sp>
      <p:pic>
        <p:nvPicPr>
          <p:cNvPr id="6" name="Picture 2" descr="Open - Windows Sound Icon Png Transparent PNG - 2000x2000 - Free Download  on Nice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1972">
            <a:off x="4152798" y="2046110"/>
            <a:ext cx="3489779" cy="32641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72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57528" y="909562"/>
            <a:ext cx="109520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A-</a:t>
            </a:r>
            <a:r>
              <a:rPr lang="si-LK" sz="3200" b="1" dirty="0"/>
              <a:t> කශේරුකාව සහ ශ්වසන මාර්ගය කෙළින් සිටින සේ පෙළගස්වන්න</a:t>
            </a:r>
            <a:endParaRPr lang="en-US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1241777" y="1884446"/>
            <a:ext cx="9437511" cy="3319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උපදේශකයා විසින් යථා තත්ත්වයට පත්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උපර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ිම කාලය විනාඩි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5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 ය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සහභාගිවන්නන් විසින් පුහුණුව සිදු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උපර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ිම කාලය විනාඩි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10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 ය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අත් පා මත ජීවිතය රැදි ඇති බව මතක තබා ගන්න!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67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4261" y="779623"/>
            <a:ext cx="4437961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B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en-US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-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හ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ුස්ම ගැනීම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2489" y="1646657"/>
            <a:ext cx="11371539" cy="3757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තක්සේරු කරන්න: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576263" marR="0" lvl="0" indent="233363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බලන්න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57250" marR="0" lvl="0" indent="-2809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සවන් දෙන්න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57250" marR="0" lvl="0" indent="-2809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දැනීම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 හුස්ම නොගන්නේ නම්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57250" marR="0" lvl="0" indent="-2809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ශ්වසන මාර්ග විවෘතව ඇති බවට වග බලා ගන්න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57250" marR="0" lvl="0" indent="-280988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ශ්වසන මාර්ගය විවෘත කිරීමෙන් පසු රෝගියා තවමත් හුස්ම නොගන්නේ නම් - වහාම මීළඟ රෝගියා වෙත යන්න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75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4261" y="779623"/>
            <a:ext cx="44379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/>
              <a:t>C-</a:t>
            </a:r>
            <a:r>
              <a:rPr lang="si-LK" sz="4000" dirty="0" smtClean="0"/>
              <a:t> ස</a:t>
            </a:r>
            <a:r>
              <a:rPr lang="si-LK" sz="4000" dirty="0"/>
              <a:t>ංසරණය</a:t>
            </a:r>
            <a:endParaRPr lang="en-US" sz="4000" dirty="0"/>
          </a:p>
        </p:txBody>
      </p:sp>
      <p:sp>
        <p:nvSpPr>
          <p:cNvPr id="7" name="Rectangle 6"/>
          <p:cNvSpPr/>
          <p:nvPr/>
        </p:nvSpPr>
        <p:spPr>
          <a:xfrm>
            <a:off x="722489" y="1646657"/>
            <a:ext cx="11371539" cy="4221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Perfusion -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අවශ්‍ය දියර අඛණ්ඩව ලබා දි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ප්‍රමාණවත් නොවන පර්ෆියුෂන් සලකුණු: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සවිඥානක මට්ටම අඩු වීම: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නොසන්සුන්තාව / කලබල 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සුදුමැලි ශ්ලේෂ්මල පටල (මුඛය දෙස බලන්න)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සම මත සිසිල් දහඩිය තිබීම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57300"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පිපාසය ඇතිවීම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35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4261" y="779623"/>
            <a:ext cx="44379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/>
              <a:t>C-</a:t>
            </a:r>
            <a:r>
              <a:rPr lang="si-LK" sz="4000" dirty="0" smtClean="0"/>
              <a:t> ස</a:t>
            </a:r>
            <a:r>
              <a:rPr lang="si-LK" sz="4000" dirty="0"/>
              <a:t>ංසරණය</a:t>
            </a:r>
            <a:endParaRPr lang="en-US" sz="4000" dirty="0"/>
          </a:p>
        </p:txBody>
      </p:sp>
      <p:sp>
        <p:nvSpPr>
          <p:cNvPr id="7" name="Rectangle 6"/>
          <p:cNvSpPr/>
          <p:nvPr/>
        </p:nvSpPr>
        <p:spPr>
          <a:xfrm>
            <a:off x="186871" y="1882628"/>
            <a:ext cx="11371539" cy="4682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Perfusion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-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රෝගියාට අවශ්‍ය දියර අඛණ්ඩව ලබා දිම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සටහන: හෘද ස්පන්දනය නොමැති නම් රෝගියා සායනිකව මිය ගොස් ඇත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 defTabSz="801688"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මෙම මොඩියුලය මගින් හෘද පුනර්ජීවනය (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CPR)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විෂය පථයට ඇතුළත් කර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ොමැත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1688" lvl="2" indent="-338138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වෛද්‍ය වෘත්තිකයන්ට පවා සමහර විට හෘද ස්පන්දනය හඳුනා ගැනීම ඉතා අපහසු වේ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si-LK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77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4261" y="779623"/>
            <a:ext cx="44379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/>
              <a:t>C-</a:t>
            </a:r>
            <a:r>
              <a:rPr lang="si-LK" sz="4000" dirty="0" smtClean="0"/>
              <a:t> ස</a:t>
            </a:r>
            <a:r>
              <a:rPr lang="si-LK" sz="4000" dirty="0"/>
              <a:t>ංසරණය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1106311" y="1827700"/>
            <a:ext cx="7563556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914400" lvl="1" indent="-45720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ලේ ගැලීමේ වර්ග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ධමනි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ශිරා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371600" lvl="2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කේශනාලිකා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බරපතල රුධිර වහනය වහාම නතර කරන්න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0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6636" y="841407"/>
            <a:ext cx="4914608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ප්‍රාථමික සමීක්ෂණය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6636" y="1833021"/>
            <a:ext cx="11405720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/>
              <a:t>රන් රීතිය </a:t>
            </a:r>
            <a:r>
              <a:rPr lang="en-US" sz="2800" dirty="0"/>
              <a:t>1: </a:t>
            </a:r>
            <a:r>
              <a:rPr lang="si-LK" sz="2800" dirty="0"/>
              <a:t>හදුනා ගැනි</a:t>
            </a:r>
            <a:r>
              <a:rPr lang="si-LK" sz="2800" dirty="0" smtClean="0"/>
              <a:t>ම සහ </a:t>
            </a:r>
            <a:r>
              <a:rPr lang="si-LK" sz="2800" dirty="0"/>
              <a:t>ජිවිතයට තර්ජනය වන තත්වයන්ට ප්‍රතිකාර සිදුකරන්න</a:t>
            </a:r>
            <a:r>
              <a:rPr lang="si-LK" sz="2800" dirty="0" smtClean="0"/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/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/>
              <a:t>රන් රීතිය </a:t>
            </a:r>
            <a:r>
              <a:rPr lang="en-US" sz="2800" dirty="0"/>
              <a:t>2: </a:t>
            </a:r>
            <a:r>
              <a:rPr lang="si-LK" sz="2800" dirty="0"/>
              <a:t>රෝගියා පැහැදිලිවම මිය ගියහොත් වහාම ඊළඟ රෝගියා වෙත යන්</a:t>
            </a:r>
            <a:r>
              <a:rPr lang="si-LK" sz="2800" dirty="0" smtClean="0"/>
              <a:t>න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/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/>
              <a:t>රන් රීතිය </a:t>
            </a:r>
            <a:r>
              <a:rPr lang="en-US" sz="2800" dirty="0"/>
              <a:t>3: </a:t>
            </a:r>
            <a:r>
              <a:rPr lang="si-LK" sz="2800" dirty="0"/>
              <a:t>රෝගියාගේ තත්වය බරපතල නම් හැකි නම් වහාම හදිසි ප්‍රතිකාර ලබා දී ඔවුන්ට ප්‍රවාහනය කරන්න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881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1109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31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471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Times"/>
        <a:ea typeface="ヒラギノ明朝 ProN W3"/>
        <a:cs typeface="ヒラギノ明朝 ProN W3"/>
      </a:majorFont>
      <a:minorFont>
        <a:latin typeface="Times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solidFill>
          <a:srgbClr val="00CC99"/>
        </a:solidFill>
        <a:ln w="19050" cap="flat" cmpd="sng" algn="ctr">
          <a:solidFill>
            <a:srgbClr val="174C8E">
              <a:alpha val="84000"/>
            </a:srgb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1852</TotalTime>
  <Words>3661</Words>
  <Application>Microsoft Office PowerPoint</Application>
  <PresentationFormat>Widescreen</PresentationFormat>
  <Paragraphs>269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Avenir Medium</vt:lpstr>
      <vt:lpstr>Calibri</vt:lpstr>
      <vt:lpstr>Calibri Light</vt:lpstr>
      <vt:lpstr>Iskoola Pota</vt:lpstr>
      <vt:lpstr>Symbol</vt:lpstr>
      <vt:lpstr>Times</vt:lpstr>
      <vt:lpstr>Times New Roman</vt:lpstr>
      <vt:lpstr>Verdana</vt:lpstr>
      <vt:lpstr>Wingdings</vt:lpstr>
      <vt:lpstr>ヒラギノ明朝 ProN W3</vt:lpstr>
      <vt:lpstr>Office Theme</vt:lpstr>
      <vt:lpstr>1_Title &amp; Bullets</vt:lpstr>
      <vt:lpstr>පළමු ප්‍රතිචාර දැක්වීම් පුහුණු වැඩසටහන </vt:lpstr>
      <vt:lpstr>PowerPoint Presentation</vt:lpstr>
      <vt:lpstr>PowerPoint Presentation</vt:lpstr>
      <vt:lpstr>පළමුවන ප්‍රතිචාර දක්වන්නා</vt:lpstr>
      <vt:lpstr>පළමුව  ප්‍රතිචාර දක්වන්නා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Military PC</dc:creator>
  <cp:lastModifiedBy>Military PC</cp:lastModifiedBy>
  <cp:revision>370</cp:revision>
  <cp:lastPrinted>2022-08-16T06:16:25Z</cp:lastPrinted>
  <dcterms:created xsi:type="dcterms:W3CDTF">2022-07-11T05:41:01Z</dcterms:created>
  <dcterms:modified xsi:type="dcterms:W3CDTF">2023-01-24T04:08:12Z</dcterms:modified>
</cp:coreProperties>
</file>