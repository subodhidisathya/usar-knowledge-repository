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2"/>
  </p:notesMasterIdLst>
  <p:handoutMasterIdLst>
    <p:handoutMasterId r:id="rId13"/>
  </p:handoutMasterIdLst>
  <p:sldIdLst>
    <p:sldId id="269" r:id="rId2"/>
    <p:sldId id="343" r:id="rId3"/>
    <p:sldId id="344" r:id="rId4"/>
    <p:sldId id="336" r:id="rId5"/>
    <p:sldId id="337" r:id="rId6"/>
    <p:sldId id="338" r:id="rId7"/>
    <p:sldId id="339" r:id="rId8"/>
    <p:sldId id="340" r:id="rId9"/>
    <p:sldId id="341" r:id="rId10"/>
    <p:sldId id="342" r:id="rId11"/>
  </p:sldIdLst>
  <p:sldSz cx="12192000" cy="6858000"/>
  <p:notesSz cx="6800850" cy="99329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25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7035" cy="49837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2241" y="0"/>
            <a:ext cx="2947035" cy="498374"/>
          </a:xfrm>
          <a:prstGeom prst="rect">
            <a:avLst/>
          </a:prstGeom>
        </p:spPr>
        <p:txBody>
          <a:bodyPr vert="horz" lIns="91440" tIns="45720" rIns="91440" bIns="45720" rtlCol="0"/>
          <a:lstStyle>
            <a:lvl1pPr algn="r">
              <a:defRPr sz="1200"/>
            </a:lvl1pPr>
          </a:lstStyle>
          <a:p>
            <a:fld id="{8F881FE1-49FF-49A7-A7F1-7BA43AFF21B6}" type="datetimeFigureOut">
              <a:rPr lang="en-US" smtClean="0"/>
              <a:t>1/24/2023</a:t>
            </a:fld>
            <a:endParaRPr lang="en-US"/>
          </a:p>
        </p:txBody>
      </p:sp>
      <p:sp>
        <p:nvSpPr>
          <p:cNvPr id="4" name="Footer Placeholder 3"/>
          <p:cNvSpPr>
            <a:spLocks noGrp="1"/>
          </p:cNvSpPr>
          <p:nvPr>
            <p:ph type="ftr" sz="quarter" idx="2"/>
          </p:nvPr>
        </p:nvSpPr>
        <p:spPr>
          <a:xfrm>
            <a:off x="0" y="9434615"/>
            <a:ext cx="2947035" cy="49837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2241" y="9434615"/>
            <a:ext cx="2947035" cy="498373"/>
          </a:xfrm>
          <a:prstGeom prst="rect">
            <a:avLst/>
          </a:prstGeom>
        </p:spPr>
        <p:txBody>
          <a:bodyPr vert="horz" lIns="91440" tIns="45720" rIns="91440" bIns="45720" rtlCol="0" anchor="b"/>
          <a:lstStyle>
            <a:lvl1pPr algn="r">
              <a:defRPr sz="1200"/>
            </a:lvl1pPr>
          </a:lstStyle>
          <a:p>
            <a:fld id="{72D6B333-660B-4C8D-ABAD-4F77470B39DA}" type="slidenum">
              <a:rPr lang="en-US" smtClean="0"/>
              <a:t>‹#›</a:t>
            </a:fld>
            <a:endParaRPr lang="en-US"/>
          </a:p>
        </p:txBody>
      </p:sp>
    </p:spTree>
    <p:extLst>
      <p:ext uri="{BB962C8B-B14F-4D97-AF65-F5344CB8AC3E}">
        <p14:creationId xmlns:p14="http://schemas.microsoft.com/office/powerpoint/2010/main" val="3880237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7035" cy="49837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2241" y="0"/>
            <a:ext cx="2947035" cy="498374"/>
          </a:xfrm>
          <a:prstGeom prst="rect">
            <a:avLst/>
          </a:prstGeom>
        </p:spPr>
        <p:txBody>
          <a:bodyPr vert="horz" lIns="91440" tIns="45720" rIns="91440" bIns="45720" rtlCol="0"/>
          <a:lstStyle>
            <a:lvl1pPr algn="r">
              <a:defRPr sz="1200"/>
            </a:lvl1pPr>
          </a:lstStyle>
          <a:p>
            <a:fld id="{96C6CE2F-C41B-4D8B-95EE-5D8EFFB3B4CF}" type="datetimeFigureOut">
              <a:rPr lang="en-US" smtClean="0"/>
              <a:t>1/24/2023</a:t>
            </a:fld>
            <a:endParaRPr lang="en-US"/>
          </a:p>
        </p:txBody>
      </p:sp>
      <p:sp>
        <p:nvSpPr>
          <p:cNvPr id="4" name="Slide Image Placeholder 3"/>
          <p:cNvSpPr>
            <a:spLocks noGrp="1" noRot="1" noChangeAspect="1"/>
          </p:cNvSpPr>
          <p:nvPr>
            <p:ph type="sldImg" idx="2"/>
          </p:nvPr>
        </p:nvSpPr>
        <p:spPr>
          <a:xfrm>
            <a:off x="420688" y="1241425"/>
            <a:ext cx="5959475" cy="3352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0085" y="4780250"/>
            <a:ext cx="5440680" cy="3911114"/>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34615"/>
            <a:ext cx="2947035" cy="49837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2241" y="9434615"/>
            <a:ext cx="2947035" cy="498373"/>
          </a:xfrm>
          <a:prstGeom prst="rect">
            <a:avLst/>
          </a:prstGeom>
        </p:spPr>
        <p:txBody>
          <a:bodyPr vert="horz" lIns="91440" tIns="45720" rIns="91440" bIns="45720" rtlCol="0" anchor="b"/>
          <a:lstStyle>
            <a:lvl1pPr algn="r">
              <a:defRPr sz="1200"/>
            </a:lvl1pPr>
          </a:lstStyle>
          <a:p>
            <a:fld id="{09534173-98C6-48F6-BF0E-3F7CF82424BD}" type="slidenum">
              <a:rPr lang="en-US" smtClean="0"/>
              <a:t>‹#›</a:t>
            </a:fld>
            <a:endParaRPr lang="en-US"/>
          </a:p>
        </p:txBody>
      </p:sp>
    </p:spTree>
    <p:extLst>
      <p:ext uri="{BB962C8B-B14F-4D97-AF65-F5344CB8AC3E}">
        <p14:creationId xmlns:p14="http://schemas.microsoft.com/office/powerpoint/2010/main" val="95483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671770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328178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F62D13-26C6-49E8-A6B9-CF97DB82E248}"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348232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F62D13-26C6-49E8-A6B9-CF97DB82E248}" type="datetimeFigureOut">
              <a:rPr lang="en-US" smtClean="0"/>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556693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EF62D13-26C6-49E8-A6B9-CF97DB82E248}" type="datetimeFigureOut">
              <a:rPr lang="en-US" smtClean="0"/>
              <a:t>1/24/2023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2398434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F62D13-26C6-49E8-A6B9-CF97DB82E248}" type="datetimeFigureOut">
              <a:rPr lang="en-US" smtClean="0"/>
              <a:t>1/24/2023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2879594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F62D13-26C6-49E8-A6B9-CF97DB82E248}" type="datetimeFigureOut">
              <a:rPr lang="en-US" smtClean="0"/>
              <a:t>1/24/2023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1165189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F62D13-26C6-49E8-A6B9-CF97DB82E248}" type="datetimeFigureOut">
              <a:rPr lang="en-US" smtClean="0"/>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1246482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F62D13-26C6-49E8-A6B9-CF97DB82E248}" type="datetimeFigureOut">
              <a:rPr lang="en-US" smtClean="0"/>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774925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3686709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F62D13-26C6-49E8-A6B9-CF97DB82E248}"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A5261C-F097-45A2-87DD-04B5855E2117}" type="slidenum">
              <a:rPr lang="en-US" smtClean="0"/>
              <a:t>‹#›</a:t>
            </a:fld>
            <a:endParaRPr lang="en-US"/>
          </a:p>
        </p:txBody>
      </p:sp>
    </p:spTree>
    <p:extLst>
      <p:ext uri="{BB962C8B-B14F-4D97-AF65-F5344CB8AC3E}">
        <p14:creationId xmlns:p14="http://schemas.microsoft.com/office/powerpoint/2010/main" val="8867216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pic>
        <p:nvPicPr>
          <p:cNvPr id="5" name="Picture 7" descr="ocha-insarag-logo.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71500" y="914400"/>
            <a:ext cx="11082867"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3"/>
          <p:cNvSpPr>
            <a:spLocks noGrp="1"/>
          </p:cNvSpPr>
          <p:nvPr>
            <p:ph sz="quarter" idx="11"/>
          </p:nvPr>
        </p:nvSpPr>
        <p:spPr>
          <a:xfrm>
            <a:off x="101600" y="0"/>
            <a:ext cx="12090400" cy="762000"/>
          </a:xfrm>
          <a:solidFill>
            <a:schemeClr val="bg1"/>
          </a:solidFill>
        </p:spPr>
        <p:txBody>
          <a:bodyPr/>
          <a:lstStyle>
            <a:lvl1pPr marL="39688" indent="0">
              <a:buNone/>
              <a:defRPr/>
            </a:lvl1pPr>
          </a:lstStyle>
          <a:p>
            <a:pPr lvl="0"/>
            <a:endParaRPr lang="en-GB" dirty="0" smtClean="0"/>
          </a:p>
        </p:txBody>
      </p:sp>
      <p:sp>
        <p:nvSpPr>
          <p:cNvPr id="6" name="Content Placeholder 5"/>
          <p:cNvSpPr>
            <a:spLocks noGrp="1"/>
          </p:cNvSpPr>
          <p:nvPr>
            <p:ph sz="quarter" idx="12"/>
          </p:nvPr>
        </p:nvSpPr>
        <p:spPr>
          <a:xfrm>
            <a:off x="0" y="5943600"/>
            <a:ext cx="12192000" cy="914400"/>
          </a:xfrm>
          <a:solidFill>
            <a:schemeClr val="bg1"/>
          </a:solidFill>
        </p:spPr>
        <p:txBody>
          <a:bodyPr/>
          <a:lstStyle>
            <a:lvl5pPr marL="1766888" indent="0">
              <a:buNone/>
              <a:defRPr/>
            </a:lvl5pPr>
          </a:lstStyle>
          <a:p>
            <a:pPr lvl="4"/>
            <a:endParaRPr lang="en-US" dirty="0"/>
          </a:p>
        </p:txBody>
      </p:sp>
      <p:sp>
        <p:nvSpPr>
          <p:cNvPr id="7" name="Text Box 3"/>
          <p:cNvSpPr txBox="1">
            <a:spLocks noGrp="1" noChangeArrowheads="1"/>
          </p:cNvSpPr>
          <p:nvPr>
            <p:ph type="sldNum" sz="quarter" idx="13"/>
          </p:nvPr>
        </p:nvSpPr>
        <p:spPr>
          <a:xfrm>
            <a:off x="9812867" y="6248400"/>
            <a:ext cx="389467" cy="330200"/>
          </a:xfrm>
          <a:prstGeom prst="rect">
            <a:avLst/>
          </a:prstGeom>
        </p:spPr>
        <p:txBody>
          <a:bodyPr vert="horz" wrap="square" lIns="91440" tIns="45720" rIns="91440" bIns="45720" numCol="1" anchor="t" anchorCtr="0" compatLnSpc="1">
            <a:prstTxWarp prst="textNoShape">
              <a:avLst/>
            </a:prstTxWarp>
          </a:bodyPr>
          <a:lstStyle>
            <a:lvl1pPr>
              <a:defRPr/>
            </a:lvl1pPr>
          </a:lstStyle>
          <a:p>
            <a:fld id="{268CC436-DB0C-4D40-95CD-0C678C839DC7}" type="slidenum">
              <a:rPr lang="en-US"/>
              <a:pPr/>
              <a:t>‹#›</a:t>
            </a:fld>
            <a:endParaRPr lang="en-US"/>
          </a:p>
        </p:txBody>
      </p:sp>
    </p:spTree>
    <p:extLst>
      <p:ext uri="{BB962C8B-B14F-4D97-AF65-F5344CB8AC3E}">
        <p14:creationId xmlns:p14="http://schemas.microsoft.com/office/powerpoint/2010/main" val="351021801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F62D13-26C6-49E8-A6B9-CF97DB82E248}" type="datetimeFigureOut">
              <a:rPr lang="en-US" smtClean="0"/>
              <a:t>1/24/2023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A5261C-F097-45A2-87DD-04B5855E2117}" type="slidenum">
              <a:rPr lang="en-US" smtClean="0"/>
              <a:t>‹#›</a:t>
            </a:fld>
            <a:endParaRPr lang="en-US"/>
          </a:p>
        </p:txBody>
      </p:sp>
    </p:spTree>
    <p:extLst>
      <p:ext uri="{BB962C8B-B14F-4D97-AF65-F5344CB8AC3E}">
        <p14:creationId xmlns:p14="http://schemas.microsoft.com/office/powerpoint/2010/main" val="180344048"/>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2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2416"/>
            <a:ext cx="10515600" cy="1325563"/>
          </a:xfrm>
        </p:spPr>
        <p:txBody>
          <a:bodyPr/>
          <a:lstStyle/>
          <a:p>
            <a:r>
              <a:rPr lang="si-LK" dirty="0" smtClean="0"/>
              <a:t>පළමු ප්‍රතිචාර පුහුණු වැඩසටහන</a:t>
            </a:r>
            <a:endParaRPr lang="en-US" dirty="0"/>
          </a:p>
        </p:txBody>
      </p:sp>
      <p:sp>
        <p:nvSpPr>
          <p:cNvPr id="3" name="Content Placeholder 2"/>
          <p:cNvSpPr>
            <a:spLocks noGrp="1"/>
          </p:cNvSpPr>
          <p:nvPr>
            <p:ph idx="1"/>
          </p:nvPr>
        </p:nvSpPr>
        <p:spPr/>
        <p:txBody>
          <a:bodyPr/>
          <a:lstStyle/>
          <a:p>
            <a:r>
              <a:rPr lang="si-LK" dirty="0"/>
              <a:t>මොඩියුලර්	</a:t>
            </a:r>
            <a:r>
              <a:rPr lang="en-US" dirty="0" smtClean="0"/>
              <a:t>6</a:t>
            </a:r>
            <a:r>
              <a:rPr lang="si-LK" dirty="0" smtClean="0"/>
              <a:t>: මූලික වෛද්‍ය ගලවා ගැනිම</a:t>
            </a:r>
            <a:endParaRPr lang="en-US" dirty="0" smtClean="0"/>
          </a:p>
          <a:p>
            <a:r>
              <a:rPr lang="si-LK" dirty="0" smtClean="0"/>
              <a:t>සැසිය 	6.1- පාඩම් සැලැස්ම</a:t>
            </a:r>
          </a:p>
          <a:p>
            <a:r>
              <a:rPr lang="si-LK" dirty="0" smtClean="0"/>
              <a:t>මූලික වෛද්‍ය ගලවා ගැනිම හඳුන්වාදීම</a:t>
            </a:r>
          </a:p>
        </p:txBody>
      </p:sp>
      <p:pic>
        <p:nvPicPr>
          <p:cNvPr id="6" name="Picture 5"/>
          <p:cNvPicPr>
            <a:picLocks noChangeAspect="1"/>
          </p:cNvPicPr>
          <p:nvPr/>
        </p:nvPicPr>
        <p:blipFill rotWithShape="1">
          <a:blip r:embed="rId2"/>
          <a:srcRect l="28796" t="18296" r="53241" b="76370"/>
          <a:stretch/>
        </p:blipFill>
        <p:spPr>
          <a:xfrm>
            <a:off x="390070" y="136524"/>
            <a:ext cx="3115130" cy="681037"/>
          </a:xfrm>
          <a:prstGeom prst="rect">
            <a:avLst/>
          </a:prstGeom>
        </p:spPr>
      </p:pic>
      <p:pic>
        <p:nvPicPr>
          <p:cNvPr id="7" name="Picture 6"/>
          <p:cNvPicPr>
            <a:picLocks noChangeAspect="1"/>
          </p:cNvPicPr>
          <p:nvPr/>
        </p:nvPicPr>
        <p:blipFill rotWithShape="1">
          <a:blip r:embed="rId2"/>
          <a:srcRect l="78461" t="79333" r="13981" b="13852"/>
          <a:stretch/>
        </p:blipFill>
        <p:spPr>
          <a:xfrm>
            <a:off x="10451005" y="136525"/>
            <a:ext cx="1577709" cy="681037"/>
          </a:xfrm>
          <a:prstGeom prst="rect">
            <a:avLst/>
          </a:prstGeom>
        </p:spPr>
      </p:pic>
      <p:sp>
        <p:nvSpPr>
          <p:cNvPr id="8" name="Rectangle 7"/>
          <p:cNvSpPr/>
          <p:nvPr/>
        </p:nvSpPr>
        <p:spPr>
          <a:xfrm>
            <a:off x="261257" y="4368007"/>
            <a:ext cx="11669486" cy="24272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pic>
        <p:nvPicPr>
          <p:cNvPr id="9" name="Picture 8"/>
          <p:cNvPicPr>
            <a:picLocks noChangeAspect="1"/>
          </p:cNvPicPr>
          <p:nvPr/>
        </p:nvPicPr>
        <p:blipFill rotWithShape="1">
          <a:blip r:embed="rId2"/>
          <a:srcRect l="28981" t="79333" r="56370" b="13852"/>
          <a:stretch/>
        </p:blipFill>
        <p:spPr>
          <a:xfrm>
            <a:off x="675666" y="5338764"/>
            <a:ext cx="3058134" cy="681037"/>
          </a:xfrm>
          <a:prstGeom prst="rect">
            <a:avLst/>
          </a:prstGeom>
        </p:spPr>
      </p:pic>
      <p:sp>
        <p:nvSpPr>
          <p:cNvPr id="11" name="TextBox 10"/>
          <p:cNvSpPr txBox="1"/>
          <p:nvPr/>
        </p:nvSpPr>
        <p:spPr>
          <a:xfrm>
            <a:off x="6781799" y="4681526"/>
            <a:ext cx="4680857" cy="1754326"/>
          </a:xfrm>
          <a:prstGeom prst="rect">
            <a:avLst/>
          </a:prstGeom>
          <a:noFill/>
          <a:ln>
            <a:noFill/>
          </a:ln>
        </p:spPr>
        <p:txBody>
          <a:bodyPr wrap="square" rtlCol="0">
            <a:spAutoFit/>
          </a:bodyPr>
          <a:lstStyle/>
          <a:p>
            <a:pPr algn="just"/>
            <a:r>
              <a:rPr lang="si-LK" dirty="0" smtClean="0"/>
              <a:t>පළමුව ප්‍රතිචාර දැක්වීමේ පුහුණුව </a:t>
            </a:r>
          </a:p>
          <a:p>
            <a:pPr algn="just"/>
            <a:r>
              <a:rPr lang="si-LK" dirty="0" smtClean="0"/>
              <a:t>මෙම වැඩසටහන </a:t>
            </a:r>
            <a:r>
              <a:rPr lang="en-US" dirty="0" smtClean="0"/>
              <a:t>INSARAG </a:t>
            </a:r>
            <a:r>
              <a:rPr lang="si-LK" dirty="0" smtClean="0"/>
              <a:t>පුහුණුව මගින් සංවර්නය කරන ලදි. ක්‍රියාකාරි කණ්ඩායම් සියලු රටවලට සහ ප්‍රතිචාර දක්වන සංවිධානවලට ගලවා ගැනිමේ හැකියාව වර්ධනය කිරිමට සහ ජිවිත බේරා ගැනිමට උපකාර කිරිමට අදහස් කරයි.</a:t>
            </a:r>
          </a:p>
        </p:txBody>
      </p:sp>
    </p:spTree>
    <p:extLst>
      <p:ext uri="{BB962C8B-B14F-4D97-AF65-F5344CB8AC3E}">
        <p14:creationId xmlns:p14="http://schemas.microsoft.com/office/powerpoint/2010/main" val="7668600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662393484"/>
              </p:ext>
            </p:extLst>
          </p:nvPr>
        </p:nvGraphicFramePr>
        <p:xfrm>
          <a:off x="169686" y="316088"/>
          <a:ext cx="11875559" cy="2033207"/>
        </p:xfrm>
        <a:graphic>
          <a:graphicData uri="http://schemas.openxmlformats.org/drawingml/2006/table">
            <a:tbl>
              <a:tblPr firstRow="1" firstCol="1" bandRow="1"/>
              <a:tblGrid>
                <a:gridCol w="3957673"/>
                <a:gridCol w="3958943"/>
                <a:gridCol w="3958943"/>
              </a:tblGrid>
              <a:tr h="104599">
                <a:tc>
                  <a:txBody>
                    <a:bodyPr/>
                    <a:lstStyle/>
                    <a:p>
                      <a:pPr marL="0" marR="0">
                        <a:lnSpc>
                          <a:spcPct val="107000"/>
                        </a:lnSpc>
                        <a:spcBef>
                          <a:spcPts val="0"/>
                        </a:spcBef>
                        <a:spcAft>
                          <a:spcPts val="0"/>
                        </a:spcAft>
                      </a:pP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ඉලක</a:t>
                      </a:r>
                      <a:r>
                        <a:rPr lang="si-LK" sz="1400" dirty="0">
                          <a:effectLst/>
                          <a:latin typeface="Calibri" panose="020F0502020204030204" pitchFamily="34" charset="0"/>
                          <a:ea typeface="Calibri" panose="020F0502020204030204" pitchFamily="34" charset="0"/>
                          <a:cs typeface="Iskoola Pota" panose="02010503010101010104" pitchFamily="2" charset="0"/>
                        </a:rPr>
                        <a:t>්</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කය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අරමුණු</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ඉගෙනුම් ප්‍රති</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ඵල</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මෙම සැසිය මගින් සහභාගීවන්නන්ට (</a:t>
                      </a:r>
                      <a:r>
                        <a:rPr lang="en-US" sz="1400" dirty="0">
                          <a:effectLst/>
                          <a:latin typeface="Calibri" panose="020F0502020204030204" pitchFamily="34" charset="0"/>
                          <a:ea typeface="Calibri" panose="020F0502020204030204" pitchFamily="34" charset="0"/>
                          <a:cs typeface="Iskoola Pota" panose="02010503010101010104" pitchFamily="2" charset="0"/>
                        </a:rPr>
                        <a:t>Basic Medical Rescue – BMR ) </a:t>
                      </a:r>
                      <a:r>
                        <a:rPr lang="si-LK" sz="1400" dirty="0">
                          <a:effectLst/>
                          <a:latin typeface="Calibri" panose="020F0502020204030204" pitchFamily="34" charset="0"/>
                          <a:ea typeface="Calibri" panose="020F0502020204030204" pitchFamily="34" charset="0"/>
                          <a:cs typeface="Iskoola Pota" panose="02010503010101010104" pitchFamily="2" charset="0"/>
                        </a:rPr>
                        <a:t>පිළිබද හදුන්වාදීමක් සිදුකිරිම සහ උදව්කරුවන් ළගාවන තෙක් තත්වය හැසිරවීම සදහා අවශ්‍ය දැනුම ලබා දිම.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si-LK" sz="1400" dirty="0">
                          <a:effectLst/>
                          <a:latin typeface="Calibri" panose="020F0502020204030204" pitchFamily="34" charset="0"/>
                          <a:ea typeface="Calibri" panose="020F0502020204030204" pitchFamily="34" charset="0"/>
                          <a:cs typeface="Iskoola Pota" panose="02010503010101010104" pitchFamily="2" charset="0"/>
                        </a:rPr>
                        <a:t>මූලික වෛද්‍ය ගලවා ගැනිම සම්බන්ධව (</a:t>
                      </a:r>
                      <a:r>
                        <a:rPr lang="en-US" sz="1400" dirty="0">
                          <a:effectLst/>
                          <a:latin typeface="Calibri" panose="020F0502020204030204" pitchFamily="34" charset="0"/>
                          <a:ea typeface="Calibri" panose="020F0502020204030204" pitchFamily="34" charset="0"/>
                          <a:cs typeface="Iskoola Pota" panose="02010503010101010104" pitchFamily="2" charset="0"/>
                        </a:rPr>
                        <a:t>Basic Medical Rescue – BMR )</a:t>
                      </a:r>
                      <a:r>
                        <a:rPr lang="si-LK" sz="1400" dirty="0">
                          <a:effectLst/>
                          <a:latin typeface="Calibri" panose="020F0502020204030204" pitchFamily="34" charset="0"/>
                          <a:ea typeface="Calibri" panose="020F0502020204030204" pitchFamily="34" charset="0"/>
                          <a:cs typeface="Iskoola Pota" panose="02010503010101010104" pitchFamily="2" charset="0"/>
                        </a:rPr>
                        <a:t> දළ විශ්ලේෂණයක් ලබා දීම.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en-US" sz="1400" dirty="0">
                          <a:effectLst/>
                          <a:latin typeface="Calibri" panose="020F0502020204030204" pitchFamily="34" charset="0"/>
                          <a:ea typeface="Calibri" panose="020F0502020204030204" pitchFamily="34" charset="0"/>
                          <a:cs typeface="Iskoola Pota" panose="02010503010101010104" pitchFamily="2" charset="0"/>
                        </a:rPr>
                        <a:t>BMR </a:t>
                      </a:r>
                      <a:r>
                        <a:rPr lang="si-LK" sz="1400" dirty="0">
                          <a:effectLst/>
                          <a:latin typeface="Calibri" panose="020F0502020204030204" pitchFamily="34" charset="0"/>
                          <a:ea typeface="Calibri" panose="020F0502020204030204" pitchFamily="34" charset="0"/>
                          <a:cs typeface="Iskoola Pota" panose="02010503010101010104" pitchFamily="2" charset="0"/>
                        </a:rPr>
                        <a:t>උපදේශකයා විස්තර කිරිම.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400" dirty="0">
                          <a:effectLst/>
                          <a:latin typeface="Calibri" panose="020F0502020204030204" pitchFamily="34" charset="0"/>
                          <a:ea typeface="Calibri" panose="020F0502020204030204" pitchFamily="34" charset="0"/>
                          <a:cs typeface="Iskoola Pota" panose="02010503010101010104" pitchFamily="2" charset="0"/>
                        </a:rPr>
                        <a:t>මෙම මොඩියුල මගින් ලබාදෙන අපේක්ෂාව තේරුම් ගැනිම.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Symbol" panose="05050102010706020507" pitchFamily="18" charset="2"/>
                        <a:buChar char=""/>
                      </a:pPr>
                      <a:r>
                        <a:rPr lang="si-LK" sz="1400" dirty="0">
                          <a:effectLst/>
                          <a:latin typeface="Calibri" panose="020F0502020204030204" pitchFamily="34" charset="0"/>
                          <a:ea typeface="Calibri" panose="020F0502020204030204" pitchFamily="34" charset="0"/>
                          <a:cs typeface="Iskoola Pota" panose="02010503010101010104" pitchFamily="2" charset="0"/>
                        </a:rPr>
                        <a:t>මෙම සැසියේ ප්‍රතිඵලයක් ලෙස සහභාගිවන්නන්ට පහත හැකියාවන් ලැබෙනු ඇත.</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400" dirty="0">
                          <a:effectLst/>
                          <a:latin typeface="Calibri" panose="020F0502020204030204" pitchFamily="34" charset="0"/>
                          <a:ea typeface="Calibri" panose="020F0502020204030204" pitchFamily="34" charset="0"/>
                          <a:cs typeface="Iskoola Pota" panose="02010503010101010104" pitchFamily="2" charset="0"/>
                        </a:rPr>
                        <a:t>මූලික වෛද්‍ය ගලවා ගැනිමේ විෂය සම්බන්ධව විෂය පථය සහ විෂය නිර්දේශය පිළීබද අවබෝධයක් ලබා ගැනිමට හැකියාව ලැබිම.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400" dirty="0">
                          <a:effectLst/>
                          <a:latin typeface="Calibri" panose="020F0502020204030204" pitchFamily="34" charset="0"/>
                          <a:ea typeface="Calibri" panose="020F0502020204030204" pitchFamily="34" charset="0"/>
                          <a:cs typeface="Iskoola Pota" panose="02010503010101010104" pitchFamily="2" charset="0"/>
                        </a:rPr>
                        <a:t>දක්ෂ පළපුරුදු වෛද්‍ය ආධාර කරුවන් ළගාවන තෙක් අවශ්‍ය ආධාර ලබා දිම.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729029971"/>
              </p:ext>
            </p:extLst>
          </p:nvPr>
        </p:nvGraphicFramePr>
        <p:xfrm>
          <a:off x="234461" y="2450124"/>
          <a:ext cx="11793415" cy="4377732"/>
        </p:xfrm>
        <a:graphic>
          <a:graphicData uri="http://schemas.openxmlformats.org/drawingml/2006/table">
            <a:tbl>
              <a:tblPr firstRow="1" firstCol="1" bandRow="1"/>
              <a:tblGrid>
                <a:gridCol w="1160585"/>
                <a:gridCol w="3411416"/>
                <a:gridCol w="4247301"/>
                <a:gridCol w="2974113"/>
              </a:tblGrid>
              <a:tr h="269630">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වේලාව </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අන්තර්</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ගතය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ක්‍රියාකාරිත්</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වය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සම්පත</a:t>
                      </a:r>
                      <a:r>
                        <a:rPr lang="si-LK" sz="1400" dirty="0" smtClean="0">
                          <a:effectLst/>
                          <a:latin typeface="Calibri" panose="020F0502020204030204" pitchFamily="34" charset="0"/>
                          <a:ea typeface="Calibri" panose="020F0502020204030204" pitchFamily="34" charset="0"/>
                          <a:cs typeface="Iskoola Pota" panose="02010503010101010104" pitchFamily="2" charset="0"/>
                        </a:rPr>
                        <a:t>්</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5985">
                <a:tc row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විනාඩි 10</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හදුන්වා දිම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උපදේශක: </a:t>
                      </a:r>
                      <a:r>
                        <a:rPr lang="en-US" sz="1400">
                          <a:effectLst/>
                          <a:latin typeface="Calibri" panose="020F0502020204030204" pitchFamily="34" charset="0"/>
                          <a:ea typeface="Calibri" panose="020F0502020204030204" pitchFamily="34" charset="0"/>
                          <a:cs typeface="Iskoola Pota" panose="02010503010101010104" pitchFamily="2" charset="0"/>
                        </a:rPr>
                        <a:t>Power Point Presentation </a:t>
                      </a:r>
                      <a:r>
                        <a:rPr lang="si-LK" sz="1400">
                          <a:effectLst/>
                          <a:latin typeface="Calibri" panose="020F0502020204030204" pitchFamily="34" charset="0"/>
                          <a:ea typeface="Calibri" panose="020F0502020204030204" pitchFamily="34" charset="0"/>
                          <a:cs typeface="Iskoola Pota" panose="02010503010101010104" pitchFamily="2" charset="0"/>
                        </a:rPr>
                        <a:t>ඉදිරිපත් කිරිම සහ </a:t>
                      </a:r>
                      <a:r>
                        <a:rPr lang="en-US" sz="1400">
                          <a:effectLst/>
                          <a:latin typeface="Calibri" panose="020F0502020204030204" pitchFamily="34" charset="0"/>
                          <a:ea typeface="Calibri" panose="020F0502020204030204" pitchFamily="34" charset="0"/>
                          <a:cs typeface="Iskoola Pota" panose="02010503010101010104" pitchFamily="2" charset="0"/>
                        </a:rPr>
                        <a:t>BMR </a:t>
                      </a:r>
                      <a:r>
                        <a:rPr lang="si-LK" sz="1400">
                          <a:effectLst/>
                          <a:latin typeface="Calibri" panose="020F0502020204030204" pitchFamily="34" charset="0"/>
                          <a:ea typeface="Calibri" panose="020F0502020204030204" pitchFamily="34" charset="0"/>
                          <a:cs typeface="Iskoola Pota" panose="02010503010101010104" pitchFamily="2" charset="0"/>
                        </a:rPr>
                        <a:t>සම්බන්ධ වීඩියෝ මගින් හදුන්වා දිම. </a:t>
                      </a:r>
                      <a:endParaRPr lang="en-US" sz="1400">
                        <a:effectLst/>
                        <a:latin typeface="Calibri" panose="020F0502020204030204" pitchFamily="34" charset="0"/>
                        <a:ea typeface="Calibri" panose="020F0502020204030204" pitchFamily="34" charset="0"/>
                        <a:cs typeface="Iskoola Pota" panose="02010503010101010104" pitchFamily="2" charset="0"/>
                      </a:endParaRP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Iskoola Pota" panose="02010503010101010104" pitchFamily="2" charset="0"/>
                        </a:rPr>
                        <a:t>FR-</a:t>
                      </a:r>
                      <a:r>
                        <a:rPr lang="si-LK" sz="1400">
                          <a:effectLst/>
                          <a:latin typeface="Calibri" panose="020F0502020204030204" pitchFamily="34" charset="0"/>
                          <a:ea typeface="Calibri" panose="020F0502020204030204" pitchFamily="34" charset="0"/>
                          <a:cs typeface="Iskoola Pota" panose="02010503010101010104" pitchFamily="2" charset="0"/>
                        </a:rPr>
                        <a:t>ඉදිරිපත් කිරීම </a:t>
                      </a:r>
                      <a:r>
                        <a:rPr lang="en-US" sz="1400">
                          <a:effectLst/>
                          <a:latin typeface="Calibri" panose="020F0502020204030204" pitchFamily="34" charset="0"/>
                          <a:ea typeface="Calibri" panose="020F0502020204030204" pitchFamily="34" charset="0"/>
                          <a:cs typeface="Iskoola Pota" panose="02010503010101010104" pitchFamily="2" charset="0"/>
                        </a:rPr>
                        <a:t>6.</a:t>
                      </a:r>
                      <a:r>
                        <a:rPr lang="si-LK" sz="1400">
                          <a:effectLst/>
                          <a:latin typeface="Calibri" panose="020F0502020204030204" pitchFamily="34" charset="0"/>
                          <a:ea typeface="Calibri" panose="020F0502020204030204" pitchFamily="34" charset="0"/>
                          <a:cs typeface="Iskoola Pota" panose="02010503010101010104" pitchFamily="2" charset="0"/>
                        </a:rPr>
                        <a:t>1 වීඩියෝවක් ඇතුළුව (</a:t>
                      </a:r>
                      <a:r>
                        <a:rPr lang="en-US" sz="1400">
                          <a:effectLst/>
                          <a:latin typeface="Calibri" panose="020F0502020204030204" pitchFamily="34" charset="0"/>
                          <a:ea typeface="Calibri" panose="020F0502020204030204" pitchFamily="34" charset="0"/>
                          <a:cs typeface="Iskoola Pota" panose="02010503010101010104" pitchFamily="2" charset="0"/>
                        </a:rPr>
                        <a:t>Mr Bean)</a:t>
                      </a:r>
                      <a:r>
                        <a:rPr lang="si-LK" sz="1400">
                          <a:effectLst/>
                          <a:latin typeface="Calibri" panose="020F0502020204030204" pitchFamily="34" charset="0"/>
                          <a:ea typeface="Calibri" panose="020F0502020204030204" pitchFamily="34" charset="0"/>
                          <a:cs typeface="Iskoola Pota" panose="02010503010101010104" pitchFamily="2" charset="0"/>
                        </a:rPr>
                        <a:t>)</a:t>
                      </a:r>
                      <a:endParaRPr lang="en-US" sz="140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පන්ති කාමරය</a:t>
                      </a:r>
                      <a:endParaRPr lang="en-US" sz="140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Iskoola Pota" panose="02010503010101010104" pitchFamily="2" charset="0"/>
                        </a:rPr>
                        <a:t>U-Tube  </a:t>
                      </a:r>
                      <a:r>
                        <a:rPr lang="si-LK" sz="1400">
                          <a:effectLst/>
                          <a:latin typeface="Calibri" panose="020F0502020204030204" pitchFamily="34" charset="0"/>
                          <a:ea typeface="Calibri" panose="020F0502020204030204" pitchFamily="34" charset="0"/>
                          <a:cs typeface="Iskoola Pota" panose="02010503010101010104" pitchFamily="2" charset="0"/>
                        </a:rPr>
                        <a:t>නාලිකාව සදහා අන්තර් ජාල පහසුකම් (එම වීඩියෝ කොටස් නැතිනම් ) </a:t>
                      </a:r>
                      <a:endParaRPr lang="en-US" sz="1400">
                        <a:effectLst/>
                        <a:latin typeface="Calibri" panose="020F0502020204030204" pitchFamily="34" charset="0"/>
                        <a:ea typeface="Calibri" panose="020F0502020204030204" pitchFamily="34" charset="0"/>
                        <a:cs typeface="Iskoola Pota" panose="02010503010101010104" pitchFamily="2" charset="0"/>
                      </a:endParaRP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3482">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සහභාගිවන්නන්: ඇහුම් කන්දීම සහ අවශ්‍ය පරිදි අන්තර් සම්බන්ධතාවය තබාගැනිම.</a:t>
                      </a:r>
                      <a:endParaRPr lang="en-US" sz="1400">
                        <a:effectLst/>
                        <a:latin typeface="Calibri" panose="020F0502020204030204" pitchFamily="34" charset="0"/>
                        <a:ea typeface="Calibri" panose="020F0502020204030204" pitchFamily="34" charset="0"/>
                        <a:cs typeface="Iskoola Pota" panose="02010503010101010104" pitchFamily="2" charset="0"/>
                      </a:endParaRP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r>
              <a:tr h="773723">
                <a:tc row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විනාඩි </a:t>
                      </a:r>
                      <a:r>
                        <a:rPr lang="en-US" sz="1400" dirty="0">
                          <a:effectLst/>
                          <a:latin typeface="Calibri" panose="020F0502020204030204" pitchFamily="34" charset="0"/>
                          <a:ea typeface="Calibri" panose="020F0502020204030204" pitchFamily="34" charset="0"/>
                          <a:cs typeface="Iskoola Pota" panose="02010503010101010104" pitchFamily="2" charset="0"/>
                        </a:rPr>
                        <a:t>15 </a:t>
                      </a: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තත්වය පිළිබද දැනුවත් කිරීම (</a:t>
                      </a:r>
                      <a:r>
                        <a:rPr lang="en-US" sz="1400" dirty="0">
                          <a:effectLst/>
                          <a:latin typeface="Calibri" panose="020F0502020204030204" pitchFamily="34" charset="0"/>
                          <a:ea typeface="Calibri" panose="020F0502020204030204" pitchFamily="34" charset="0"/>
                          <a:cs typeface="Iskoola Pota" panose="02010503010101010104" pitchFamily="2" charset="0"/>
                        </a:rPr>
                        <a:t>PPT)</a:t>
                      </a:r>
                    </a:p>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ඉදිරිපත් කිරීම.</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තත්වය පිළිබඳ දැනුවත්භාවය ලබා ගැනීම සඳහා එම ස්ථානයේ ඇති තොරතුරු අවශ්‍යතා පිළිබඳ ප්‍රශ්න ඇසීම මගින් අභ්‍යාස සිදු කරන්න. </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උපදේශක: පවර්පොයින්ට් ඉදිරිපත් කිරීම සහ දර්ශන තක්සේරුවේදී තත්වය දැනුවත් කිරීමේ වැදගත්කම පැහැදිලි කරන වීඩියෝ ඉදිරිපත් කිරීම මගින් පෙන්වන්න. තත්වය පිළිබද නිවැරදි අවබෝධය ලබා ගැනීම සඳහා එම ස්ථානයේ ඇති තොරතුරු අවශ්‍යතා පිළිබඳ කෙටි ප්‍රශ්න විචාරාත්මක අභ්‍යාසයක් ඇතුළත් කරන්න</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FR-</a:t>
                      </a:r>
                      <a:r>
                        <a:rPr lang="si-LK" sz="1400" dirty="0">
                          <a:effectLst/>
                          <a:latin typeface="Calibri" panose="020F0502020204030204" pitchFamily="34" charset="0"/>
                          <a:ea typeface="Calibri" panose="020F0502020204030204" pitchFamily="34" charset="0"/>
                          <a:cs typeface="Iskoola Pota" panose="02010503010101010104" pitchFamily="2" charset="0"/>
                        </a:rPr>
                        <a:t>ඉදිරිපත් කිරීම </a:t>
                      </a:r>
                      <a:r>
                        <a:rPr lang="en-US" sz="1400" dirty="0">
                          <a:effectLst/>
                          <a:latin typeface="Calibri" panose="020F0502020204030204" pitchFamily="34" charset="0"/>
                          <a:ea typeface="Calibri" panose="020F0502020204030204" pitchFamily="34" charset="0"/>
                          <a:cs typeface="Iskoola Pota" panose="02010503010101010104" pitchFamily="2" charset="0"/>
                        </a:rPr>
                        <a:t>6. 2</a:t>
                      </a:r>
                    </a:p>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පන්ති කාමරය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වීඩියෝව නොමැති නම් </a:t>
                      </a:r>
                      <a:r>
                        <a:rPr lang="en-US" sz="1400" dirty="0">
                          <a:effectLst/>
                          <a:latin typeface="Calibri" panose="020F0502020204030204" pitchFamily="34" charset="0"/>
                          <a:ea typeface="Calibri" panose="020F0502020204030204" pitchFamily="34" charset="0"/>
                          <a:cs typeface="Iskoola Pota" panose="02010503010101010104" pitchFamily="2" charset="0"/>
                        </a:rPr>
                        <a:t>U-Tube </a:t>
                      </a:r>
                      <a:r>
                        <a:rPr lang="si-LK" sz="1400" dirty="0">
                          <a:effectLst/>
                          <a:latin typeface="Calibri" panose="020F0502020204030204" pitchFamily="34" charset="0"/>
                          <a:ea typeface="Calibri" panose="020F0502020204030204" pitchFamily="34" charset="0"/>
                          <a:cs typeface="Iskoola Pota" panose="02010503010101010104" pitchFamily="2" charset="0"/>
                        </a:rPr>
                        <a:t>වෙත පිවිසිමට අන්තර්ජාල ප්‍රවේශය ලබා ගන්න.</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67883">
                <a:tc vMerge="1">
                  <a:txBody>
                    <a:bodyPr/>
                    <a:lstStyle/>
                    <a:p>
                      <a:endParaRPr lang="en-US"/>
                    </a:p>
                  </a:txBody>
                  <a:tcPr/>
                </a:tc>
                <a:tc vMerge="1">
                  <a:txBody>
                    <a:bodyPr/>
                    <a:lstStyle/>
                    <a:p>
                      <a:endParaRPr lang="en-US"/>
                    </a:p>
                  </a:txBody>
                  <a:tcPr/>
                </a:tc>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සහභාගිවන්නා: ඉගෙනීමේ කරුණු පැහැදිලි කිරීමට ප්‍රශ්න අසමින් අවශ්‍ය පරිදි සවන් දී අන්තර් සම්බන්ධතාවය ගොඩනගන්න.</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r>
              <a:tr h="127981">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විනාඩි 15</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nSpc>
                          <a:spcPct val="107000"/>
                        </a:lnSpc>
                        <a:spcBef>
                          <a:spcPts val="0"/>
                        </a:spcBef>
                        <a:spcAft>
                          <a:spcPts val="80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r>
            </a:tbl>
          </a:graphicData>
        </a:graphic>
      </p:graphicFrame>
      <p:sp>
        <p:nvSpPr>
          <p:cNvPr id="6" name="Rectangle 1"/>
          <p:cNvSpPr>
            <a:spLocks noChangeArrowheads="1"/>
          </p:cNvSpPr>
          <p:nvPr/>
        </p:nvSpPr>
        <p:spPr bwMode="auto">
          <a:xfrm>
            <a:off x="2829414" y="255160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224764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266354808"/>
              </p:ext>
            </p:extLst>
          </p:nvPr>
        </p:nvGraphicFramePr>
        <p:xfrm>
          <a:off x="526679" y="251231"/>
          <a:ext cx="11225053" cy="6299645"/>
        </p:xfrm>
        <a:graphic>
          <a:graphicData uri="http://schemas.openxmlformats.org/drawingml/2006/table">
            <a:tbl>
              <a:tblPr firstRow="1" firstCol="1" bandRow="1"/>
              <a:tblGrid>
                <a:gridCol w="3853707"/>
                <a:gridCol w="7371346"/>
              </a:tblGrid>
              <a:tr h="255961">
                <a:tc gridSpan="2">
                  <a:txBody>
                    <a:bodyPr/>
                    <a:lstStyle/>
                    <a:p>
                      <a:pPr marL="0" marR="0">
                        <a:lnSpc>
                          <a:spcPct val="107000"/>
                        </a:lnSpc>
                        <a:spcBef>
                          <a:spcPts val="0"/>
                        </a:spcBef>
                        <a:spcAft>
                          <a:spcPts val="0"/>
                        </a:spcAft>
                      </a:pPr>
                      <a:r>
                        <a:rPr lang="si-LK" sz="1600" dirty="0">
                          <a:effectLst/>
                          <a:latin typeface="Calibri" panose="020F0502020204030204" pitchFamily="34" charset="0"/>
                          <a:ea typeface="Calibri" panose="020F0502020204030204" pitchFamily="34" charset="0"/>
                          <a:cs typeface="Iskoola Pota" panose="02010503010101010104" pitchFamily="2" charset="0"/>
                        </a:rPr>
                        <a:t>උපදේශක සටහන්:</a:t>
                      </a:r>
                      <a:endParaRPr lang="en-US" sz="16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800" dirty="0">
                          <a:effectLst/>
                          <a:latin typeface="Calibri" panose="020F0502020204030204" pitchFamily="34" charset="0"/>
                          <a:ea typeface="Calibri" panose="020F0502020204030204" pitchFamily="34" charset="0"/>
                          <a:cs typeface="Iskoola Pota" panose="02010503010101010104" pitchFamily="2" charset="0"/>
                        </a:rPr>
                        <a:t> </a:t>
                      </a: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r>
              <a:tr h="2559610">
                <a:tc>
                  <a:txBody>
                    <a:bodyPr/>
                    <a:lstStyle/>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මූලික වෛද්‍ය ගලවා ගැනිම- උපදේශාත්මක ලැයිස්තුව</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මූලික වෛද්‍ය ගලවා ගැනිම - ප්‍රායෝගික පුහුණුව</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මෙම උපදේශාත්මක ලැයිස්තුව කොටස් හයකට (06) වෙන් කර ඇත.</a:t>
                      </a:r>
                      <a:endParaRPr lang="en-US" sz="140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400">
                          <a:effectLst/>
                          <a:latin typeface="Calibri" panose="020F0502020204030204" pitchFamily="34" charset="0"/>
                          <a:ea typeface="Calibri" panose="020F0502020204030204" pitchFamily="34" charset="0"/>
                          <a:cs typeface="Iskoola Pota" panose="02010503010101010104" pitchFamily="2" charset="0"/>
                        </a:rPr>
                        <a:t>හදුන්වාදීම</a:t>
                      </a:r>
                      <a:endParaRPr lang="en-US" sz="140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400">
                          <a:effectLst/>
                          <a:latin typeface="Calibri" panose="020F0502020204030204" pitchFamily="34" charset="0"/>
                          <a:ea typeface="Calibri" panose="020F0502020204030204" pitchFamily="34" charset="0"/>
                          <a:cs typeface="Iskoola Pota" panose="02010503010101010104" pitchFamily="2" charset="0"/>
                        </a:rPr>
                        <a:t>තක්සේරුකිරිම: ආරක්ෂාව, තත්වය</a:t>
                      </a:r>
                      <a:endParaRPr lang="en-US" sz="140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400">
                          <a:effectLst/>
                          <a:latin typeface="Calibri" panose="020F0502020204030204" pitchFamily="34" charset="0"/>
                          <a:ea typeface="Calibri" panose="020F0502020204030204" pitchFamily="34" charset="0"/>
                          <a:cs typeface="Iskoola Pota" panose="02010503010101010104" pitchFamily="2" charset="0"/>
                        </a:rPr>
                        <a:t>තුවාල කරුවන් තක්සේරු කිරිම - මූලික සමාලෝචනය, ද්විතික සමාලෝචනය තුවාලකරු පිළීබද විස්තර</a:t>
                      </a:r>
                      <a:endParaRPr lang="en-US" sz="140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Calibri" panose="020F0502020204030204" pitchFamily="34" charset="0"/>
                        <a:buChar char="-"/>
                      </a:pPr>
                      <a:r>
                        <a:rPr lang="si-LK" sz="1400">
                          <a:effectLst/>
                          <a:latin typeface="Calibri" panose="020F0502020204030204" pitchFamily="34" charset="0"/>
                          <a:ea typeface="Calibri" panose="020F0502020204030204" pitchFamily="34" charset="0"/>
                          <a:cs typeface="Iskoola Pota" panose="02010503010101010104" pitchFamily="2" charset="0"/>
                        </a:rPr>
                        <a:t>තුවාල කරුවන්ට ප්‍රතිකාර සිදුකිරිම - රුධිර වහනය , අස්ථි බිදිම, පිළිස්සුම්, වස්තුවක් ශරීරයේ ඇණිම, ශරීර කොටසක් වෙන් කිරිම</a:t>
                      </a:r>
                      <a:endParaRPr lang="en-US" sz="140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0"/>
                        </a:spcAft>
                        <a:buFont typeface="Calibri" panose="020F0502020204030204" pitchFamily="34" charset="0"/>
                        <a:buChar char="-"/>
                      </a:pPr>
                      <a:r>
                        <a:rPr lang="si-LK" sz="1400">
                          <a:effectLst/>
                          <a:latin typeface="Calibri" panose="020F0502020204030204" pitchFamily="34" charset="0"/>
                          <a:ea typeface="Calibri" panose="020F0502020204030204" pitchFamily="34" charset="0"/>
                          <a:cs typeface="Iskoola Pota" panose="02010503010101010104" pitchFamily="2" charset="0"/>
                        </a:rPr>
                        <a:t>තුවාලකරුවන් හැසිරවීම - අස්ථි පැනීම සහ එකතු කිරිම, මුදවා හැරිම, තුවාල කරුවන් ඇසුරුම් කිරිම සහ ප්‍රවාහනය </a:t>
                      </a:r>
                      <a:endParaRPr lang="en-US" sz="140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0"/>
                        </a:spcAft>
                        <a:buFont typeface="Calibri" panose="020F0502020204030204" pitchFamily="34" charset="0"/>
                        <a:buChar char="-"/>
                      </a:pPr>
                      <a:r>
                        <a:rPr lang="si-LK" sz="1400">
                          <a:effectLst/>
                          <a:latin typeface="Calibri" panose="020F0502020204030204" pitchFamily="34" charset="0"/>
                          <a:ea typeface="Calibri" panose="020F0502020204030204" pitchFamily="34" charset="0"/>
                          <a:cs typeface="Iskoola Pota" panose="02010503010101010104" pitchFamily="2" charset="0"/>
                        </a:rPr>
                        <a:t>මෘතදේහ හැසිරවීම</a:t>
                      </a:r>
                      <a:endParaRPr lang="en-US" sz="1400">
                        <a:effectLst/>
                        <a:latin typeface="Calibri" panose="020F0502020204030204" pitchFamily="34" charset="0"/>
                        <a:ea typeface="Calibri" panose="020F0502020204030204" pitchFamily="34" charset="0"/>
                        <a:cs typeface="Calibri" panose="020F0502020204030204" pitchFamily="34" charset="0"/>
                      </a:endParaRPr>
                    </a:p>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Iskoola Pota" panose="02010503010101010104" pitchFamily="2" charset="0"/>
                        </a:rPr>
                        <a:t> </a:t>
                      </a:r>
                    </a:p>
                    <a:p>
                      <a:pPr marL="329565" marR="0">
                        <a:lnSpc>
                          <a:spcPct val="107000"/>
                        </a:lnSpc>
                        <a:spcBef>
                          <a:spcPts val="0"/>
                        </a:spcBef>
                        <a:spcAft>
                          <a:spcPts val="0"/>
                        </a:spcAft>
                      </a:pPr>
                      <a:r>
                        <a:rPr lang="si-LK" sz="1400">
                          <a:effectLst/>
                          <a:latin typeface="Calibri" panose="020F0502020204030204" pitchFamily="34" charset="0"/>
                          <a:ea typeface="Calibri" panose="020F0502020204030204" pitchFamily="34" charset="0"/>
                          <a:cs typeface="Iskoola Pota" panose="02010503010101010104" pitchFamily="2" charset="0"/>
                        </a:rPr>
                        <a:t>ප්‍රායෝගික පුහුණුව අවශ්‍ය තත්වයන් යටතේ සිදුකිරිම සැලසුම් කර ඇත.</a:t>
                      </a:r>
                      <a:endParaRPr lang="en-US" sz="140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400">
                          <a:effectLst/>
                          <a:latin typeface="Calibri" panose="020F0502020204030204" pitchFamily="34" charset="0"/>
                          <a:ea typeface="Calibri" panose="020F0502020204030204" pitchFamily="34" charset="0"/>
                          <a:cs typeface="Iskoola Pota" panose="02010503010101010104" pitchFamily="2" charset="0"/>
                        </a:rPr>
                        <a:t>තත්වය තක්සේරු කිරිම</a:t>
                      </a:r>
                      <a:endParaRPr lang="en-US" sz="140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400">
                          <a:effectLst/>
                          <a:latin typeface="Calibri" panose="020F0502020204030204" pitchFamily="34" charset="0"/>
                          <a:ea typeface="Calibri" panose="020F0502020204030204" pitchFamily="34" charset="0"/>
                          <a:cs typeface="Iskoola Pota" panose="02010503010101010104" pitchFamily="2" charset="0"/>
                        </a:rPr>
                        <a:t>තුවාල කරුවන් තක්සේරු කිරිම</a:t>
                      </a:r>
                      <a:endParaRPr lang="en-US" sz="140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400">
                          <a:effectLst/>
                          <a:latin typeface="Calibri" panose="020F0502020204030204" pitchFamily="34" charset="0"/>
                          <a:ea typeface="Calibri" panose="020F0502020204030204" pitchFamily="34" charset="0"/>
                          <a:cs typeface="Iskoola Pota" panose="02010503010101010104" pitchFamily="2" charset="0"/>
                        </a:rPr>
                        <a:t>තුවාල කරුවන්ට ප්‍රතිකාර කිරිම - </a:t>
                      </a:r>
                      <a:r>
                        <a:rPr lang="en-US" sz="1400">
                          <a:effectLst/>
                          <a:latin typeface="Calibri" panose="020F0502020204030204" pitchFamily="34" charset="0"/>
                          <a:ea typeface="Calibri" panose="020F0502020204030204" pitchFamily="34" charset="0"/>
                          <a:cs typeface="Iskoola Pota" panose="02010503010101010104" pitchFamily="2" charset="0"/>
                        </a:rPr>
                        <a:t>CABC , Splinting </a:t>
                      </a:r>
                      <a:r>
                        <a:rPr lang="si-LK" sz="1400">
                          <a:effectLst/>
                          <a:latin typeface="Calibri" panose="020F0502020204030204" pitchFamily="34" charset="0"/>
                          <a:ea typeface="Calibri" panose="020F0502020204030204" pitchFamily="34" charset="0"/>
                          <a:cs typeface="Iskoola Pota" panose="02010503010101010104" pitchFamily="2" charset="0"/>
                        </a:rPr>
                        <a:t>ශරීරයේ ඇණුනු වස්තූන් කළමනාකරණය කිරිම</a:t>
                      </a:r>
                      <a:endParaRPr lang="en-US" sz="1400">
                        <a:effectLst/>
                        <a:latin typeface="Calibri" panose="020F0502020204030204" pitchFamily="34" charset="0"/>
                        <a:ea typeface="Calibri" panose="020F0502020204030204" pitchFamily="34" charset="0"/>
                        <a:cs typeface="Iskoola Pota" panose="02010503010101010104" pitchFamily="2" charset="0"/>
                      </a:endParaRPr>
                    </a:p>
                    <a:p>
                      <a:pPr marL="342900" marR="0" lvl="0" indent="-342900">
                        <a:lnSpc>
                          <a:spcPct val="107000"/>
                        </a:lnSpc>
                        <a:spcBef>
                          <a:spcPts val="0"/>
                        </a:spcBef>
                        <a:spcAft>
                          <a:spcPts val="0"/>
                        </a:spcAft>
                        <a:buFont typeface="Symbol" panose="05050102010706020507" pitchFamily="18" charset="2"/>
                        <a:buChar char=""/>
                      </a:pPr>
                      <a:r>
                        <a:rPr lang="si-LK" sz="1400">
                          <a:effectLst/>
                          <a:latin typeface="Calibri" panose="020F0502020204030204" pitchFamily="34" charset="0"/>
                          <a:ea typeface="Calibri" panose="020F0502020204030204" pitchFamily="34" charset="0"/>
                          <a:cs typeface="Iskoola Pota" panose="02010503010101010104" pitchFamily="2" charset="0"/>
                        </a:rPr>
                        <a:t>අස්ථි පැනිම සහ මුදවා හැරීම (</a:t>
                      </a:r>
                      <a:r>
                        <a:rPr lang="en-US" sz="1400">
                          <a:effectLst/>
                          <a:latin typeface="Calibri" panose="020F0502020204030204" pitchFamily="34" charset="0"/>
                          <a:ea typeface="Calibri" panose="020F0502020204030204" pitchFamily="34" charset="0"/>
                          <a:cs typeface="Iskoola Pota" panose="02010503010101010104" pitchFamily="2" charset="0"/>
                        </a:rPr>
                        <a:t>Extrication)</a:t>
                      </a:r>
                    </a:p>
                    <a:p>
                      <a:pPr marL="342900" marR="0" lvl="0" indent="-342900">
                        <a:lnSpc>
                          <a:spcPct val="107000"/>
                        </a:lnSpc>
                        <a:spcBef>
                          <a:spcPts val="0"/>
                        </a:spcBef>
                        <a:spcAft>
                          <a:spcPts val="0"/>
                        </a:spcAft>
                        <a:buFont typeface="Symbol" panose="05050102010706020507" pitchFamily="18" charset="2"/>
                        <a:buChar char=""/>
                      </a:pPr>
                      <a:r>
                        <a:rPr lang="si-LK" sz="1400">
                          <a:effectLst/>
                          <a:latin typeface="Calibri" panose="020F0502020204030204" pitchFamily="34" charset="0"/>
                          <a:ea typeface="Calibri" panose="020F0502020204030204" pitchFamily="34" charset="0"/>
                          <a:cs typeface="Iskoola Pota" panose="02010503010101010104" pitchFamily="2" charset="0"/>
                        </a:rPr>
                        <a:t>තුවාලකරුවන් ඇසුරුම් කිරිම සහ ප්‍රවාහනය</a:t>
                      </a:r>
                      <a:endParaRPr lang="en-US" sz="140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Iskoola Pota" panose="02010503010101010104" pitchFamily="2" charset="0"/>
                        </a:rPr>
                        <a:t> </a:t>
                      </a: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35766">
                <a:tc gridSpan="2">
                  <a:txBody>
                    <a:bodyPr/>
                    <a:lstStyle/>
                    <a:p>
                      <a:pPr marL="0" marR="0" algn="just">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මෙම පාඨමාලාවේ මෙම කොටස සැලසුම් කර ඇත්තේ මූලික වෛද්‍ය කරුණු පිළිබඳ උපදෙස් සැපයීම සඳහා ය. මෙම පාඨමාලාව හදාරන්නන් හට පූර්ව වෛද්‍ය පුහුණුවක් නොමැති බව අපේක්ෂා කෙරේ. ගොඩනැගිල්ලක් කඩා වැටිමේ ප්‍රතිඵලයක් ලෙස තුවාල කරුවන්ට සැලකිය යුතු වෙනසක් ඇති කළ හැකි පරිදි මූලික මගපෙන්වීම සැපයීම මෙම පාඩමේ ඉලක්කයයි.</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gn="just">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Iskoola Pota" panose="02010503010101010104" pitchFamily="2" charset="0"/>
                        </a:rPr>
                        <a:t> </a:t>
                      </a:r>
                    </a:p>
                    <a:p>
                      <a:pPr marL="0" marR="0" algn="just">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අනෙකුත් මොඩියුලවල මෙන්</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a:effectLst/>
                          <a:latin typeface="Calibri" panose="020F0502020204030204" pitchFamily="34" charset="0"/>
                          <a:ea typeface="Calibri" panose="020F0502020204030204" pitchFamily="34" charset="0"/>
                          <a:cs typeface="Iskoola Pota" panose="02010503010101010104" pitchFamily="2" charset="0"/>
                        </a:rPr>
                        <a:t>මෙහි අභිප්‍රාය වන්නේ පාඨමාලා භාර දෙන ආයතන සඳහා ප්‍රථමයෙන් තොරතුරු සමාලෝචනය කිරීම සහ පාඨමාලාව කොටස් වලට බෙදා ගැනිම සඳහා වඩාත් අදාළ යැයි ඔවුන් දකින ආකාරයට කොටස් වලට බෙදා තෝරා ගැනීමයි. බොහෝ ආයතන විසින් යෝජිත සම්පූර්ණ මොඩියුලයම සුදුසු යැයි නිර්දේශ කෙරේ. වෛද්‍ය පුහුණු මොඩියුලයක් ලෙස</a:t>
                      </a:r>
                      <a:r>
                        <a:rPr lang="en-US" sz="1400" dirty="0">
                          <a:effectLst/>
                          <a:latin typeface="Calibri" panose="020F0502020204030204" pitchFamily="34" charset="0"/>
                          <a:ea typeface="Calibri" panose="020F0502020204030204" pitchFamily="34" charset="0"/>
                          <a:cs typeface="Iskoola Pota" panose="02010503010101010104" pitchFamily="2" charset="0"/>
                        </a:rPr>
                        <a:t>, </a:t>
                      </a:r>
                      <a:r>
                        <a:rPr lang="si-LK" sz="1400" dirty="0">
                          <a:effectLst/>
                          <a:latin typeface="Calibri" panose="020F0502020204030204" pitchFamily="34" charset="0"/>
                          <a:ea typeface="Calibri" panose="020F0502020204030204" pitchFamily="34" charset="0"/>
                          <a:cs typeface="Iskoola Pota" panose="02010503010101010104" pitchFamily="2" charset="0"/>
                        </a:rPr>
                        <a:t>රෝගියාගේ තුවාල පිළිබඳ ග්‍රැෆික් රූප කිහිපයකින් හඳුනා ගැනීම වැදගත් වේ. මේවා සමාලෝචනය කිරීමට සහ ඒවා මකා දැමීමට හෝ ඔවුන්ගේ අපේක්ෂිත ප්‍රේක්ෂකයින් මත පදනම්ව ඒවා ඇතුළත් කිරීමට දිරිමත් කරනු ලැබේ.</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p>
                      <a:pPr marL="0" marR="0">
                        <a:lnSpc>
                          <a:spcPct val="107000"/>
                        </a:lnSpc>
                        <a:spcBef>
                          <a:spcPts val="0"/>
                        </a:spcBef>
                        <a:spcAft>
                          <a:spcPts val="0"/>
                        </a:spcAft>
                      </a:pPr>
                      <a:r>
                        <a:rPr lang="si-LK" sz="1400" dirty="0">
                          <a:effectLst/>
                          <a:latin typeface="Calibri" panose="020F0502020204030204" pitchFamily="34" charset="0"/>
                          <a:ea typeface="Calibri" panose="020F0502020204030204" pitchFamily="34" charset="0"/>
                          <a:cs typeface="Iskoola Pota" panose="02010503010101010104" pitchFamily="2" charset="0"/>
                        </a:rPr>
                        <a:t> </a:t>
                      </a:r>
                      <a:endParaRPr lang="en-US" sz="1400" dirty="0">
                        <a:effectLst/>
                        <a:latin typeface="Calibri" panose="020F0502020204030204" pitchFamily="34" charset="0"/>
                        <a:ea typeface="Calibri" panose="020F0502020204030204" pitchFamily="34" charset="0"/>
                        <a:cs typeface="Iskoola Pota" panose="02010503010101010104" pitchFamily="2" charset="0"/>
                      </a:endParaRPr>
                    </a:p>
                  </a:txBody>
                  <a:tcPr marL="48927" marR="48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r>
            </a:tbl>
          </a:graphicData>
        </a:graphic>
      </p:graphicFrame>
    </p:spTree>
    <p:extLst>
      <p:ext uri="{BB962C8B-B14F-4D97-AF65-F5344CB8AC3E}">
        <p14:creationId xmlns:p14="http://schemas.microsoft.com/office/powerpoint/2010/main" val="695752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Overlay-2ColumnText.png"/>
          <p:cNvPicPr/>
          <p:nvPr/>
        </p:nvPicPr>
        <p:blipFill>
          <a:blip r:embed="rId2"/>
          <a:stretch>
            <a:fillRect/>
          </a:stretch>
        </p:blipFill>
        <p:spPr>
          <a:xfrm>
            <a:off x="308473" y="593725"/>
            <a:ext cx="3157216" cy="5197475"/>
          </a:xfrm>
          <a:prstGeom prst="round2DiagRect">
            <a:avLst/>
          </a:prstGeom>
          <a:gradFill flip="none" rotWithShape="1">
            <a:gsLst>
              <a:gs pos="0">
                <a:srgbClr val="38ABED"/>
              </a:gs>
              <a:gs pos="100000">
                <a:srgbClr val="1B3861"/>
              </a:gs>
            </a:gsLst>
            <a:lin ang="5400000" scaled="0"/>
            <a:tileRect/>
          </a:gradFill>
        </p:spPr>
      </p:pic>
      <p:pic>
        <p:nvPicPr>
          <p:cNvPr id="10" name="Picture 9"/>
          <p:cNvPicPr>
            <a:picLocks noChangeAspect="1"/>
          </p:cNvPicPr>
          <p:nvPr/>
        </p:nvPicPr>
        <p:blipFill rotWithShape="1">
          <a:blip r:embed="rId3"/>
          <a:srcRect l="28796" t="18296" r="53241" b="76370"/>
          <a:stretch/>
        </p:blipFill>
        <p:spPr>
          <a:xfrm>
            <a:off x="390071" y="136525"/>
            <a:ext cx="2463800" cy="457200"/>
          </a:xfrm>
          <a:prstGeom prst="rect">
            <a:avLst/>
          </a:prstGeom>
        </p:spPr>
      </p:pic>
      <p:sp>
        <p:nvSpPr>
          <p:cNvPr id="4" name="Title 3"/>
          <p:cNvSpPr txBox="1">
            <a:spLocks noGrp="1"/>
          </p:cNvSpPr>
          <p:nvPr>
            <p:ph type="title"/>
          </p:nvPr>
        </p:nvSpPr>
        <p:spPr>
          <a:xfrm>
            <a:off x="490653" y="1087404"/>
            <a:ext cx="4371278" cy="1200329"/>
          </a:xfrm>
          <a:prstGeom prst="rect">
            <a:avLst/>
          </a:prstGeom>
          <a:noFill/>
        </p:spPr>
        <p:txBody>
          <a:bodyPr wrap="square" rtlCol="0">
            <a:spAutoFit/>
          </a:bodyPr>
          <a:lstStyle/>
          <a:p>
            <a:r>
              <a:rPr lang="si-LK" sz="4000" b="1" dirty="0" smtClean="0">
                <a:solidFill>
                  <a:prstClr val="black"/>
                </a:solidFill>
                <a:latin typeface="Calibri Light" panose="020F0302020204030204"/>
              </a:rPr>
              <a:t>පළමු </a:t>
            </a:r>
            <a:br>
              <a:rPr lang="si-LK" sz="4000" b="1" dirty="0" smtClean="0">
                <a:solidFill>
                  <a:prstClr val="black"/>
                </a:solidFill>
                <a:latin typeface="Calibri Light" panose="020F0302020204030204"/>
              </a:rPr>
            </a:br>
            <a:r>
              <a:rPr lang="si-LK" sz="4000" b="1" dirty="0" smtClean="0">
                <a:solidFill>
                  <a:prstClr val="black"/>
                </a:solidFill>
                <a:latin typeface="Calibri Light" panose="020F0302020204030204"/>
              </a:rPr>
              <a:t>ප්‍රතිචාරකයා</a:t>
            </a:r>
            <a:endParaRPr lang="en-US" sz="4000" b="1" dirty="0"/>
          </a:p>
        </p:txBody>
      </p:sp>
      <p:sp>
        <p:nvSpPr>
          <p:cNvPr id="3" name="Content Placeholder 2"/>
          <p:cNvSpPr>
            <a:spLocks noGrp="1"/>
          </p:cNvSpPr>
          <p:nvPr>
            <p:ph idx="1"/>
          </p:nvPr>
        </p:nvSpPr>
        <p:spPr>
          <a:xfrm>
            <a:off x="308473" y="2467781"/>
            <a:ext cx="11001784" cy="4694918"/>
          </a:xfrm>
          <a:noFill/>
          <a:ln>
            <a:noFill/>
          </a:ln>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si-LK" sz="2200" dirty="0"/>
              <a:t>ඉදිරිපත් කිරිමේ මාතෘකා</a:t>
            </a:r>
            <a:r>
              <a:rPr lang="si-LK" sz="2200" dirty="0" smtClean="0"/>
              <a:t>ව	:- </a:t>
            </a:r>
            <a:r>
              <a:rPr lang="si-LK" sz="2400" dirty="0"/>
              <a:t>මූලික වෛද්‍ය ගලවා ගැනීම හැඳින්වීම</a:t>
            </a:r>
            <a:endParaRPr lang="en-US" sz="2400" dirty="0"/>
          </a:p>
          <a:p>
            <a:pPr marL="0" indent="0">
              <a:buNone/>
            </a:pPr>
            <a:r>
              <a:rPr lang="si-LK" sz="2200" dirty="0" smtClean="0"/>
              <a:t>	ම</a:t>
            </a:r>
            <a:r>
              <a:rPr lang="si-LK" sz="2200" dirty="0"/>
              <a:t>ොඩියුලර</a:t>
            </a:r>
            <a:r>
              <a:rPr lang="si-LK" sz="2200" dirty="0" smtClean="0"/>
              <a:t>්		: </a:t>
            </a:r>
            <a:r>
              <a:rPr lang="en-US" sz="2200" dirty="0" smtClean="0"/>
              <a:t>6.1</a:t>
            </a:r>
            <a:endParaRPr lang="si-LK" sz="2200" dirty="0" smtClean="0"/>
          </a:p>
          <a:p>
            <a:pPr marL="0" indent="0">
              <a:buNone/>
            </a:pPr>
            <a:r>
              <a:rPr lang="en-US" sz="2200" dirty="0" smtClean="0"/>
              <a:t/>
            </a:r>
            <a:br>
              <a:rPr lang="en-US" sz="2200" dirty="0" smtClean="0"/>
            </a:br>
            <a:r>
              <a:rPr lang="si-LK" sz="2200" dirty="0" smtClean="0"/>
              <a:t>ඉදිරිපත් කරන්නන්/ උපදේශක	:- ඉදිරිපත් කරන්නන්ගේ නම මෙහි </a:t>
            </a:r>
            <a:r>
              <a:rPr lang="si-LK" sz="2200" dirty="0"/>
              <a:t>එක</a:t>
            </a:r>
            <a:r>
              <a:rPr lang="si-LK" sz="2200" dirty="0" smtClean="0"/>
              <a:t>් කරන</a:t>
            </a:r>
            <a:r>
              <a:rPr lang="si-LK" sz="2200" dirty="0"/>
              <a:t>්න.</a:t>
            </a:r>
            <a:r>
              <a:rPr lang="si-LK" sz="2200" dirty="0" smtClean="0"/>
              <a:t>					</a:t>
            </a:r>
          </a:p>
          <a:p>
            <a:pPr marL="0" indent="0">
              <a:buNone/>
            </a:pPr>
            <a:r>
              <a:rPr lang="en-US" dirty="0"/>
              <a:t/>
            </a:r>
            <a:br>
              <a:rPr lang="en-US" dirty="0"/>
            </a:br>
            <a:r>
              <a:rPr lang="en-US" dirty="0"/>
              <a:t/>
            </a:r>
            <a:br>
              <a:rPr lang="en-US" dirty="0"/>
            </a:br>
            <a:endParaRPr lang="si-LK" dirty="0" smtClean="0"/>
          </a:p>
          <a:p>
            <a:pPr marL="0" indent="0">
              <a:buNone/>
            </a:pPr>
            <a:endParaRPr lang="si-LK" dirty="0" smtClean="0"/>
          </a:p>
          <a:p>
            <a:pPr marL="0" indent="0">
              <a:buNone/>
            </a:pPr>
            <a:r>
              <a:rPr lang="en-US" sz="1900" dirty="0" smtClean="0"/>
              <a:t>Coordination Saves Lives</a:t>
            </a:r>
            <a:r>
              <a:rPr lang="en-US" dirty="0" smtClean="0"/>
              <a:t>							</a:t>
            </a:r>
          </a:p>
          <a:p>
            <a:pPr marL="0" indent="0">
              <a:buNone/>
            </a:pPr>
            <a:r>
              <a:rPr lang="en-US" dirty="0"/>
              <a:t>	</a:t>
            </a:r>
            <a:r>
              <a:rPr lang="en-US" dirty="0" smtClean="0"/>
              <a:t>									</a:t>
            </a:r>
            <a:r>
              <a:rPr lang="si-LK" dirty="0" smtClean="0"/>
              <a:t>	</a:t>
            </a:r>
            <a:endParaRPr lang="en-US" dirty="0"/>
          </a:p>
        </p:txBody>
      </p:sp>
      <p:pic>
        <p:nvPicPr>
          <p:cNvPr id="11" name="Picture 10"/>
          <p:cNvPicPr>
            <a:picLocks noChangeAspect="1"/>
          </p:cNvPicPr>
          <p:nvPr/>
        </p:nvPicPr>
        <p:blipFill rotWithShape="1">
          <a:blip r:embed="rId3"/>
          <a:srcRect l="28981" t="79333" r="13981" b="13852"/>
          <a:stretch/>
        </p:blipFill>
        <p:spPr>
          <a:xfrm>
            <a:off x="186871" y="6176963"/>
            <a:ext cx="11907157" cy="681037"/>
          </a:xfrm>
          <a:prstGeom prst="rect">
            <a:avLst/>
          </a:prstGeom>
        </p:spPr>
      </p:pic>
    </p:spTree>
    <p:extLst>
      <p:ext uri="{BB962C8B-B14F-4D97-AF65-F5344CB8AC3E}">
        <p14:creationId xmlns:p14="http://schemas.microsoft.com/office/powerpoint/2010/main" val="16685727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0071" y="1042635"/>
            <a:ext cx="6281058" cy="4235763"/>
          </a:xfrm>
        </p:spPr>
        <p:txBody>
          <a:bodyPr>
            <a:normAutofit/>
          </a:bodyPr>
          <a:lstStyle/>
          <a:p>
            <a:pPr marL="0" indent="0" algn="ctr">
              <a:buNone/>
            </a:pPr>
            <a:endParaRPr lang="en-US" sz="3600" b="1" dirty="0"/>
          </a:p>
          <a:p>
            <a:pPr marL="0" indent="0" algn="ctr">
              <a:buNone/>
            </a:pPr>
            <a:endParaRPr lang="si-LK" sz="3600" b="1" dirty="0" smtClean="0"/>
          </a:p>
          <a:p>
            <a:pPr marL="0" indent="0" algn="ctr">
              <a:buNone/>
            </a:pPr>
            <a:r>
              <a:rPr lang="si-LK" sz="3600" b="1" dirty="0"/>
              <a:t>මූලික වෛද්‍ය ගලවා ගැනිම</a:t>
            </a:r>
            <a:endParaRPr lang="en-US" sz="3600" b="1" dirty="0"/>
          </a:p>
          <a:p>
            <a:pPr marL="0" indent="0" algn="ctr">
              <a:buNone/>
            </a:pPr>
            <a:r>
              <a:rPr lang="si-LK" sz="3600" b="1" dirty="0"/>
              <a:t>හැදින්වීම</a:t>
            </a:r>
            <a:endParaRPr lang="en-US" sz="3600" b="1" dirty="0"/>
          </a:p>
          <a:p>
            <a:pPr marL="0" indent="0" algn="ctr">
              <a:buNone/>
            </a:pPr>
            <a:endParaRPr lang="en-US" sz="3600" b="1" dirty="0" smtClean="0"/>
          </a:p>
          <a:p>
            <a:pPr marL="0" indent="0" algn="ctr">
              <a:buNone/>
            </a:pPr>
            <a:endParaRPr lang="si-LK" sz="3600" b="1" dirty="0" smtClean="0"/>
          </a:p>
          <a:p>
            <a:endParaRPr lang="si-LK" dirty="0"/>
          </a:p>
          <a:p>
            <a:endParaRPr lang="en-US" dirty="0"/>
          </a:p>
          <a:p>
            <a:endParaRPr lang="en-US" dirty="0"/>
          </a:p>
        </p:txBody>
      </p:sp>
      <p:pic>
        <p:nvPicPr>
          <p:cNvPr id="9" name="Picture 8"/>
          <p:cNvPicPr>
            <a:picLocks noChangeAspect="1"/>
          </p:cNvPicPr>
          <p:nvPr/>
        </p:nvPicPr>
        <p:blipFill rotWithShape="1">
          <a:blip r:embed="rId2"/>
          <a:srcRect l="28796" t="18296" r="53241" b="76370"/>
          <a:stretch/>
        </p:blipFill>
        <p:spPr>
          <a:xfrm>
            <a:off x="390071" y="136525"/>
            <a:ext cx="2463800" cy="457200"/>
          </a:xfrm>
          <a:prstGeom prst="rect">
            <a:avLst/>
          </a:prstGeom>
        </p:spPr>
      </p:pic>
      <p:pic>
        <p:nvPicPr>
          <p:cNvPr id="10" name="Picture 9"/>
          <p:cNvPicPr>
            <a:picLocks noChangeAspect="1"/>
          </p:cNvPicPr>
          <p:nvPr/>
        </p:nvPicPr>
        <p:blipFill rotWithShape="1">
          <a:blip r:embed="rId2"/>
          <a:srcRect l="28981" t="79333" r="13981" b="13852"/>
          <a:stretch/>
        </p:blipFill>
        <p:spPr>
          <a:xfrm>
            <a:off x="186871" y="6020737"/>
            <a:ext cx="11907157" cy="681037"/>
          </a:xfrm>
          <a:prstGeom prst="rect">
            <a:avLst/>
          </a:prstGeom>
        </p:spPr>
      </p:pic>
      <p:pic>
        <p:nvPicPr>
          <p:cNvPr id="11" name="Picture 10" descr="Overlay-2ColumnText.png"/>
          <p:cNvPicPr/>
          <p:nvPr/>
        </p:nvPicPr>
        <p:blipFill>
          <a:blip r:embed="rId3"/>
          <a:stretch>
            <a:fillRect/>
          </a:stretch>
        </p:blipFill>
        <p:spPr>
          <a:xfrm>
            <a:off x="8244158" y="223365"/>
            <a:ext cx="3340100" cy="5688981"/>
          </a:xfrm>
          <a:prstGeom prst="round2DiagRect">
            <a:avLst/>
          </a:prstGeom>
          <a:gradFill flip="none" rotWithShape="1">
            <a:gsLst>
              <a:gs pos="0">
                <a:srgbClr val="38ABED"/>
              </a:gs>
              <a:gs pos="100000">
                <a:srgbClr val="1B3861"/>
              </a:gs>
            </a:gsLst>
            <a:lin ang="5400000" scaled="0"/>
            <a:tileRect/>
          </a:gradFill>
        </p:spPr>
      </p:pic>
      <p:sp>
        <p:nvSpPr>
          <p:cNvPr id="12" name="Title 3"/>
          <p:cNvSpPr txBox="1">
            <a:spLocks noGrp="1"/>
          </p:cNvSpPr>
          <p:nvPr>
            <p:ph type="title"/>
          </p:nvPr>
        </p:nvSpPr>
        <p:spPr>
          <a:xfrm>
            <a:off x="8668899" y="316726"/>
            <a:ext cx="2652244" cy="1200329"/>
          </a:xfrm>
          <a:prstGeom prst="rect">
            <a:avLst/>
          </a:prstGeom>
          <a:noFill/>
        </p:spPr>
        <p:txBody>
          <a:bodyPr wrap="square" rtlCol="0">
            <a:spAutoFit/>
          </a:bodyPr>
          <a:lstStyle/>
          <a:p>
            <a:pPr algn="r"/>
            <a:r>
              <a:rPr lang="si-LK" sz="4000" b="1" dirty="0" smtClean="0">
                <a:solidFill>
                  <a:prstClr val="black"/>
                </a:solidFill>
                <a:latin typeface="Calibri Light" panose="020F0302020204030204"/>
              </a:rPr>
              <a:t>පළමු </a:t>
            </a:r>
            <a:br>
              <a:rPr lang="si-LK" sz="4000" b="1" dirty="0" smtClean="0">
                <a:solidFill>
                  <a:prstClr val="black"/>
                </a:solidFill>
                <a:latin typeface="Calibri Light" panose="020F0302020204030204"/>
              </a:rPr>
            </a:br>
            <a:r>
              <a:rPr lang="si-LK" sz="4000" b="1" dirty="0" smtClean="0">
                <a:solidFill>
                  <a:prstClr val="black"/>
                </a:solidFill>
                <a:latin typeface="Calibri Light" panose="020F0302020204030204"/>
              </a:rPr>
              <a:t>ප්‍රතිචාරකයා</a:t>
            </a:r>
            <a:endParaRPr lang="en-US" sz="4000" b="1" dirty="0"/>
          </a:p>
        </p:txBody>
      </p:sp>
      <p:sp>
        <p:nvSpPr>
          <p:cNvPr id="13" name="Rectangle 12"/>
          <p:cNvSpPr/>
          <p:nvPr/>
        </p:nvSpPr>
        <p:spPr>
          <a:xfrm>
            <a:off x="8668899" y="5278398"/>
            <a:ext cx="2490618" cy="369332"/>
          </a:xfrm>
          <a:prstGeom prst="rect">
            <a:avLst/>
          </a:prstGeom>
        </p:spPr>
        <p:txBody>
          <a:bodyPr wrap="none">
            <a:spAutoFit/>
          </a:bodyPr>
          <a:lstStyle/>
          <a:p>
            <a:r>
              <a:rPr lang="en-US" dirty="0"/>
              <a:t>Coordination Saves Lives</a:t>
            </a:r>
          </a:p>
        </p:txBody>
      </p:sp>
    </p:spTree>
    <p:extLst>
      <p:ext uri="{BB962C8B-B14F-4D97-AF65-F5344CB8AC3E}">
        <p14:creationId xmlns:p14="http://schemas.microsoft.com/office/powerpoint/2010/main" val="34701160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srcRect l="28796" t="18296" r="53241" b="76370"/>
          <a:stretch/>
        </p:blipFill>
        <p:spPr>
          <a:xfrm>
            <a:off x="390071" y="136525"/>
            <a:ext cx="2463800" cy="457200"/>
          </a:xfrm>
          <a:prstGeom prst="rect">
            <a:avLst/>
          </a:prstGeom>
        </p:spPr>
      </p:pic>
      <p:pic>
        <p:nvPicPr>
          <p:cNvPr id="10" name="Picture 9"/>
          <p:cNvPicPr>
            <a:picLocks noChangeAspect="1"/>
          </p:cNvPicPr>
          <p:nvPr/>
        </p:nvPicPr>
        <p:blipFill rotWithShape="1">
          <a:blip r:embed="rId2"/>
          <a:srcRect l="28981" t="79333" r="13981" b="13852"/>
          <a:stretch/>
        </p:blipFill>
        <p:spPr>
          <a:xfrm>
            <a:off x="284843" y="6020736"/>
            <a:ext cx="11907157" cy="681037"/>
          </a:xfrm>
          <a:prstGeom prst="rect">
            <a:avLst/>
          </a:prstGeom>
        </p:spPr>
      </p:pic>
      <p:sp>
        <p:nvSpPr>
          <p:cNvPr id="2" name="Title 1"/>
          <p:cNvSpPr>
            <a:spLocks noGrp="1"/>
          </p:cNvSpPr>
          <p:nvPr>
            <p:ph type="title"/>
          </p:nvPr>
        </p:nvSpPr>
        <p:spPr>
          <a:xfrm>
            <a:off x="736600" y="803329"/>
            <a:ext cx="10515600" cy="1325563"/>
          </a:xfrm>
        </p:spPr>
        <p:txBody>
          <a:bodyPr/>
          <a:lstStyle/>
          <a:p>
            <a:pPr algn="ctr"/>
            <a:r>
              <a:rPr lang="si-LK" b="1" dirty="0"/>
              <a:t>හඳුන්වාදීමේ වීඩියෝව</a:t>
            </a:r>
            <a:r>
              <a:rPr lang="en-US" b="1" dirty="0"/>
              <a:t/>
            </a:r>
            <a:br>
              <a:rPr lang="en-US" b="1" dirty="0"/>
            </a:br>
            <a:endParaRPr lang="en-US" b="1" dirty="0"/>
          </a:p>
        </p:txBody>
      </p:sp>
      <p:pic>
        <p:nvPicPr>
          <p:cNvPr id="2050" name="Picture 2" descr="Open - Windows Sound Icon Png Transparent PNG - 2000x2000 - Free Download  on Nic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0431972">
            <a:off x="4152798" y="2046110"/>
            <a:ext cx="3489779" cy="326414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5650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srcRect l="28796" t="18296" r="53241" b="76370"/>
          <a:stretch/>
        </p:blipFill>
        <p:spPr>
          <a:xfrm>
            <a:off x="390071" y="136525"/>
            <a:ext cx="2463800" cy="457200"/>
          </a:xfrm>
          <a:prstGeom prst="rect">
            <a:avLst/>
          </a:prstGeom>
        </p:spPr>
      </p:pic>
      <p:pic>
        <p:nvPicPr>
          <p:cNvPr id="10" name="Picture 9"/>
          <p:cNvPicPr>
            <a:picLocks noChangeAspect="1"/>
          </p:cNvPicPr>
          <p:nvPr/>
        </p:nvPicPr>
        <p:blipFill rotWithShape="1">
          <a:blip r:embed="rId2"/>
          <a:srcRect l="28981" t="79333" r="13981" b="13852"/>
          <a:stretch/>
        </p:blipFill>
        <p:spPr>
          <a:xfrm>
            <a:off x="284843" y="6020736"/>
            <a:ext cx="11907157" cy="681037"/>
          </a:xfrm>
          <a:prstGeom prst="rect">
            <a:avLst/>
          </a:prstGeom>
        </p:spPr>
      </p:pic>
      <p:sp>
        <p:nvSpPr>
          <p:cNvPr id="2" name="Title 1"/>
          <p:cNvSpPr>
            <a:spLocks noGrp="1"/>
          </p:cNvSpPr>
          <p:nvPr>
            <p:ph type="title"/>
          </p:nvPr>
        </p:nvSpPr>
        <p:spPr>
          <a:xfrm>
            <a:off x="980621" y="2096911"/>
            <a:ext cx="10515600" cy="4761089"/>
          </a:xfrm>
        </p:spPr>
        <p:txBody>
          <a:bodyPr>
            <a:normAutofit fontScale="90000"/>
          </a:bodyPr>
          <a:lstStyle/>
          <a:p>
            <a:r>
              <a:rPr lang="si-LK" sz="3100" dirty="0"/>
              <a:t>•	පළමුව, කිසිදු හානියක් නොකරන්න!</a:t>
            </a:r>
            <a:br>
              <a:rPr lang="si-LK" sz="3100" dirty="0"/>
            </a:br>
            <a:r>
              <a:rPr lang="si-LK" sz="3100" dirty="0"/>
              <a:t>•	මෙය විධිමත් ප්‍රථමාධාර පාඨමාලාවක් නොවේ</a:t>
            </a:r>
            <a:br>
              <a:rPr lang="si-LK" sz="3100" dirty="0"/>
            </a:br>
            <a:r>
              <a:rPr lang="si-LK" sz="3100" dirty="0"/>
              <a:t>•	උදව් ලබා ගැනිම සඳහා ඇමතීමට අවශ්‍ය වනු ඇත</a:t>
            </a:r>
            <a:br>
              <a:rPr lang="si-LK" sz="3100" dirty="0"/>
            </a:br>
            <a:r>
              <a:rPr lang="si-LK" sz="3100" dirty="0" smtClean="0"/>
              <a:t>	-</a:t>
            </a:r>
            <a:r>
              <a:rPr lang="si-LK" sz="3100" dirty="0"/>
              <a:t>	එය ලබා ගත හැකිද?</a:t>
            </a:r>
            <a:br>
              <a:rPr lang="si-LK" sz="3100" dirty="0"/>
            </a:br>
            <a:r>
              <a:rPr lang="si-LK" sz="3100" dirty="0" smtClean="0"/>
              <a:t>	-</a:t>
            </a:r>
            <a:r>
              <a:rPr lang="si-LK" sz="3100" dirty="0"/>
              <a:t>	පැමිණීමට කොපමණ කාලයක් ගතවේද?</a:t>
            </a:r>
            <a:br>
              <a:rPr lang="si-LK" sz="3100" dirty="0"/>
            </a:br>
            <a:r>
              <a:rPr lang="si-LK" sz="3100" dirty="0"/>
              <a:t>•	යම්කිසි තත්වයක් උදව් ලැබෙන තුරු හැසිරවීමට මූලික දැනුම ලබා දීම </a:t>
            </a:r>
            <a:r>
              <a:rPr lang="si-LK" sz="3100" dirty="0" smtClean="0"/>
              <a:t>	අරම</a:t>
            </a:r>
            <a:r>
              <a:rPr lang="si-LK" sz="3100" dirty="0"/>
              <a:t>ුණු කර ගන්න</a:t>
            </a:r>
            <a:br>
              <a:rPr lang="si-LK" sz="3100" dirty="0"/>
            </a:br>
            <a:r>
              <a:rPr lang="si-LK" sz="3100" dirty="0" smtClean="0"/>
              <a:t/>
            </a:r>
            <a:br>
              <a:rPr lang="si-LK" sz="3100" dirty="0" smtClean="0"/>
            </a:br>
            <a:r>
              <a:rPr lang="si-LK" sz="3100" dirty="0" smtClean="0"/>
              <a:t/>
            </a:r>
            <a:br>
              <a:rPr lang="si-LK" sz="3100" dirty="0" smtClean="0"/>
            </a:br>
            <a:r>
              <a:rPr lang="en-US" dirty="0"/>
              <a:t/>
            </a:r>
            <a:br>
              <a:rPr lang="en-US" dirty="0"/>
            </a:br>
            <a:endParaRPr lang="en-US" b="1" dirty="0"/>
          </a:p>
        </p:txBody>
      </p:sp>
      <p:sp>
        <p:nvSpPr>
          <p:cNvPr id="5" name="Title 1"/>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si-LK" b="1" dirty="0" smtClean="0"/>
              <a:t>මූලික වෛද්‍ය ගලවා ගැනිම</a:t>
            </a:r>
            <a:r>
              <a:rPr lang="en-US" b="1" dirty="0" smtClean="0"/>
              <a:t/>
            </a:r>
            <a:br>
              <a:rPr lang="en-US" b="1" dirty="0" smtClean="0"/>
            </a:br>
            <a:r>
              <a:rPr lang="si-LK" b="1" dirty="0" smtClean="0"/>
              <a:t>අපේක්ෂාවන්</a:t>
            </a:r>
            <a:endParaRPr lang="en-US" b="1" dirty="0"/>
          </a:p>
        </p:txBody>
      </p:sp>
    </p:spTree>
    <p:extLst>
      <p:ext uri="{BB962C8B-B14F-4D97-AF65-F5344CB8AC3E}">
        <p14:creationId xmlns:p14="http://schemas.microsoft.com/office/powerpoint/2010/main" val="35707183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srcRect l="28796" t="18296" r="53241" b="76370"/>
          <a:stretch/>
        </p:blipFill>
        <p:spPr>
          <a:xfrm>
            <a:off x="390071" y="136525"/>
            <a:ext cx="2463800" cy="457200"/>
          </a:xfrm>
          <a:prstGeom prst="rect">
            <a:avLst/>
          </a:prstGeom>
        </p:spPr>
      </p:pic>
      <p:pic>
        <p:nvPicPr>
          <p:cNvPr id="10" name="Picture 9"/>
          <p:cNvPicPr>
            <a:picLocks noChangeAspect="1"/>
          </p:cNvPicPr>
          <p:nvPr/>
        </p:nvPicPr>
        <p:blipFill rotWithShape="1">
          <a:blip r:embed="rId2"/>
          <a:srcRect l="28981" t="79333" r="13981" b="13852"/>
          <a:stretch/>
        </p:blipFill>
        <p:spPr>
          <a:xfrm>
            <a:off x="284843" y="6020736"/>
            <a:ext cx="11907157" cy="681037"/>
          </a:xfrm>
          <a:prstGeom prst="rect">
            <a:avLst/>
          </a:prstGeom>
        </p:spPr>
      </p:pic>
      <p:sp>
        <p:nvSpPr>
          <p:cNvPr id="2" name="Title 1"/>
          <p:cNvSpPr>
            <a:spLocks noGrp="1"/>
          </p:cNvSpPr>
          <p:nvPr>
            <p:ph type="title"/>
          </p:nvPr>
        </p:nvSpPr>
        <p:spPr>
          <a:xfrm>
            <a:off x="863390" y="1997876"/>
            <a:ext cx="10515600" cy="4761089"/>
          </a:xfrm>
        </p:spPr>
        <p:txBody>
          <a:bodyPr>
            <a:normAutofit/>
          </a:bodyPr>
          <a:lstStyle/>
          <a:p>
            <a:r>
              <a:rPr lang="si-LK" sz="3100" dirty="0" smtClean="0"/>
              <a:t/>
            </a:r>
            <a:br>
              <a:rPr lang="si-LK" sz="3100" dirty="0" smtClean="0"/>
            </a:br>
            <a:r>
              <a:rPr lang="si-LK" sz="3100" dirty="0" smtClean="0"/>
              <a:t/>
            </a:r>
            <a:br>
              <a:rPr lang="si-LK" sz="3100" dirty="0" smtClean="0"/>
            </a:br>
            <a:r>
              <a:rPr lang="si-LK" sz="3100" dirty="0" smtClean="0"/>
              <a:t/>
            </a:r>
            <a:br>
              <a:rPr lang="si-LK" sz="3100" dirty="0" smtClean="0"/>
            </a:br>
            <a:r>
              <a:rPr lang="en-US" dirty="0" smtClean="0"/>
              <a:t/>
            </a:r>
            <a:br>
              <a:rPr lang="en-US" dirty="0" smtClean="0"/>
            </a:br>
            <a:endParaRPr lang="en-US" b="1" dirty="0"/>
          </a:p>
        </p:txBody>
      </p:sp>
      <p:sp>
        <p:nvSpPr>
          <p:cNvPr id="5" name="Title 1"/>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b="1" dirty="0"/>
          </a:p>
        </p:txBody>
      </p:sp>
      <p:sp>
        <p:nvSpPr>
          <p:cNvPr id="3" name="Rectangle 2"/>
          <p:cNvSpPr/>
          <p:nvPr/>
        </p:nvSpPr>
        <p:spPr>
          <a:xfrm>
            <a:off x="1084035" y="507117"/>
            <a:ext cx="6096000" cy="658257"/>
          </a:xfrm>
          <a:prstGeom prst="rect">
            <a:avLst/>
          </a:prstGeom>
        </p:spPr>
        <p:txBody>
          <a:bodyPr>
            <a:spAutoFit/>
          </a:bodyPr>
          <a:lstStyle/>
          <a:p>
            <a:pPr>
              <a:lnSpc>
                <a:spcPct val="107000"/>
              </a:lnSpc>
            </a:pPr>
            <a:r>
              <a:rPr lang="si-LK" sz="3600" b="1" dirty="0">
                <a:latin typeface="Calibri" panose="020F0502020204030204" pitchFamily="34" charset="0"/>
                <a:ea typeface="Calibri" panose="020F0502020204030204" pitchFamily="34" charset="0"/>
              </a:rPr>
              <a:t>මූලික වෛද්‍ය ගලවා ගැනි</a:t>
            </a:r>
            <a:r>
              <a:rPr lang="si-LK" sz="3600" b="1" dirty="0" smtClean="0">
                <a:latin typeface="Calibri" panose="020F0502020204030204" pitchFamily="34" charset="0"/>
                <a:ea typeface="Calibri" panose="020F0502020204030204" pitchFamily="34" charset="0"/>
              </a:rPr>
              <a:t>ම</a:t>
            </a:r>
            <a:endParaRPr lang="en-US" sz="3600" b="1" dirty="0">
              <a:latin typeface="Calibri" panose="020F0502020204030204" pitchFamily="34" charset="0"/>
              <a:ea typeface="Calibri" panose="020F0502020204030204" pitchFamily="34" charset="0"/>
              <a:cs typeface="Iskoola Pota" panose="02010503010101010104" pitchFamily="2" charset="0"/>
            </a:endParaRPr>
          </a:p>
        </p:txBody>
      </p:sp>
      <p:sp>
        <p:nvSpPr>
          <p:cNvPr id="6" name="Rectangle 5"/>
          <p:cNvSpPr/>
          <p:nvPr/>
        </p:nvSpPr>
        <p:spPr>
          <a:xfrm>
            <a:off x="1289538" y="1997876"/>
            <a:ext cx="9226061" cy="2894254"/>
          </a:xfrm>
          <a:prstGeom prst="rect">
            <a:avLst/>
          </a:prstGeom>
        </p:spPr>
        <p:txBody>
          <a:bodyPr wrap="square">
            <a:spAutoFit/>
          </a:bodyPr>
          <a:lstStyle/>
          <a:p>
            <a:pPr>
              <a:lnSpc>
                <a:spcPct val="107000"/>
              </a:lnSpc>
            </a:pPr>
            <a:r>
              <a:rPr lang="si-LK" sz="3200" dirty="0">
                <a:latin typeface="Calibri" panose="020F0502020204030204" pitchFamily="34" charset="0"/>
                <a:ea typeface="Calibri" panose="020F0502020204030204" pitchFamily="34" charset="0"/>
              </a:rPr>
              <a:t>ඉගෙනුම් ප්‍රතිඵල</a:t>
            </a:r>
            <a:endParaRPr lang="en-US" sz="3200" dirty="0">
              <a:latin typeface="Calibri" panose="020F0502020204030204" pitchFamily="34" charset="0"/>
              <a:ea typeface="Calibri" panose="020F0502020204030204" pitchFamily="34" charset="0"/>
              <a:cs typeface="Iskoola Pota" panose="02010503010101010104" pitchFamily="2" charset="0"/>
            </a:endParaRPr>
          </a:p>
          <a:p>
            <a:pPr marL="914400" lvl="1" indent="-457200">
              <a:lnSpc>
                <a:spcPct val="107000"/>
              </a:lnSpc>
              <a:buFont typeface="Wingdings" panose="05000000000000000000" pitchFamily="2" charset="2"/>
              <a:buChar char="ü"/>
            </a:pPr>
            <a:r>
              <a:rPr lang="si-LK" sz="2800" dirty="0">
                <a:latin typeface="Calibri" panose="020F0502020204030204" pitchFamily="34" charset="0"/>
                <a:ea typeface="Calibri" panose="020F0502020204030204" pitchFamily="34" charset="0"/>
              </a:rPr>
              <a:t>අවස්ථාව (දර්ශන) තක්සේරුව සිදු කරන්න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914400" lvl="1" indent="-457200">
              <a:lnSpc>
                <a:spcPct val="107000"/>
              </a:lnSpc>
              <a:buFont typeface="Wingdings" panose="05000000000000000000" pitchFamily="2" charset="2"/>
              <a:buChar char="ü"/>
            </a:pPr>
            <a:r>
              <a:rPr lang="si-LK" sz="2800" dirty="0">
                <a:latin typeface="Calibri" panose="020F0502020204030204" pitchFamily="34" charset="0"/>
                <a:ea typeface="Calibri" panose="020F0502020204030204" pitchFamily="34" charset="0"/>
              </a:rPr>
              <a:t>රෝගියාගේ තත්වය තක්සේරුව සිදු කරන්න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914400" lvl="1" indent="-457200">
              <a:lnSpc>
                <a:spcPct val="107000"/>
              </a:lnSpc>
              <a:buFont typeface="Wingdings" panose="05000000000000000000" pitchFamily="2" charset="2"/>
              <a:buChar char="ü"/>
            </a:pPr>
            <a:r>
              <a:rPr lang="si-LK" sz="2800" dirty="0">
                <a:latin typeface="Calibri" panose="020F0502020204030204" pitchFamily="34" charset="0"/>
                <a:ea typeface="Calibri" panose="020F0502020204030204" pitchFamily="34" charset="0"/>
              </a:rPr>
              <a:t>රෝගියාට ප්‍රතිකාර කරන්න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914400" lvl="1" indent="-457200">
              <a:lnSpc>
                <a:spcPct val="107000"/>
              </a:lnSpc>
              <a:buFont typeface="Wingdings" panose="05000000000000000000" pitchFamily="2" charset="2"/>
              <a:buChar char="ü"/>
            </a:pPr>
            <a:r>
              <a:rPr lang="si-LK" sz="2800" dirty="0">
                <a:latin typeface="Calibri" panose="020F0502020204030204" pitchFamily="34" charset="0"/>
                <a:ea typeface="Calibri" panose="020F0502020204030204" pitchFamily="34" charset="0"/>
              </a:rPr>
              <a:t>රෝගියා හැසිරවීම සිදු කරන්න</a:t>
            </a:r>
            <a:endParaRPr lang="en-US" sz="2800" dirty="0">
              <a:latin typeface="Calibri" panose="020F0502020204030204" pitchFamily="34" charset="0"/>
              <a:ea typeface="Calibri" panose="020F0502020204030204" pitchFamily="34" charset="0"/>
              <a:cs typeface="Iskoola Pota" panose="02010503010101010104" pitchFamily="2" charset="0"/>
            </a:endParaRPr>
          </a:p>
          <a:p>
            <a:pPr marL="914400" lvl="1" indent="-457200">
              <a:buFont typeface="Wingdings" panose="05000000000000000000" pitchFamily="2" charset="2"/>
              <a:buChar char="ü"/>
            </a:pPr>
            <a:r>
              <a:rPr lang="si-LK" sz="2800" dirty="0">
                <a:latin typeface="Calibri" panose="020F0502020204030204" pitchFamily="34" charset="0"/>
                <a:ea typeface="Calibri" panose="020F0502020204030204" pitchFamily="34" charset="0"/>
              </a:rPr>
              <a:t>මියගිය අය හසුරුවන්න</a:t>
            </a:r>
            <a:endParaRPr lang="en-US" sz="2800" dirty="0"/>
          </a:p>
        </p:txBody>
      </p:sp>
    </p:spTree>
    <p:extLst>
      <p:ext uri="{BB962C8B-B14F-4D97-AF65-F5344CB8AC3E}">
        <p14:creationId xmlns:p14="http://schemas.microsoft.com/office/powerpoint/2010/main" val="18451718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981200" y="3048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lstStyle>
            <a:lvl1pPr marL="382588" indent="-3429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fontAlgn="base">
              <a:spcBef>
                <a:spcPts val="800"/>
              </a:spcBef>
              <a:spcAft>
                <a:spcPct val="0"/>
              </a:spcAft>
              <a:buClr>
                <a:srgbClr val="FFFFFF"/>
              </a:buClr>
              <a:buSzPct val="100000"/>
            </a:pPr>
            <a:endParaRPr lang="en-US" sz="4000">
              <a:solidFill>
                <a:srgbClr val="056CB6"/>
              </a:solidFill>
              <a:latin typeface="Arial" panose="020B0604020202020204" pitchFamily="34" charset="0"/>
              <a:sym typeface="Times" panose="02020603050405020304" pitchFamily="18" charset="0"/>
            </a:endParaRPr>
          </a:p>
        </p:txBody>
      </p:sp>
      <p:sp>
        <p:nvSpPr>
          <p:cNvPr id="13315" name="TextBox 1"/>
          <p:cNvSpPr txBox="1">
            <a:spLocks noChangeArrowheads="1"/>
          </p:cNvSpPr>
          <p:nvPr/>
        </p:nvSpPr>
        <p:spPr bwMode="auto">
          <a:xfrm>
            <a:off x="2133600" y="609601"/>
            <a:ext cx="8229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endParaRPr lang="en-US">
              <a:solidFill>
                <a:srgbClr val="000000"/>
              </a:solidFill>
            </a:endParaRPr>
          </a:p>
        </p:txBody>
      </p:sp>
      <p:pic>
        <p:nvPicPr>
          <p:cNvPr id="13316" name="Picture 1" descr="background.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524000"/>
            <a:ext cx="8763000" cy="299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Box 2"/>
          <p:cNvSpPr txBox="1">
            <a:spLocks noChangeArrowheads="1"/>
          </p:cNvSpPr>
          <p:nvPr/>
        </p:nvSpPr>
        <p:spPr bwMode="auto">
          <a:xfrm>
            <a:off x="3276600" y="2592388"/>
            <a:ext cx="28194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4400">
                <a:solidFill>
                  <a:srgbClr val="FFFFFF"/>
                </a:solidFill>
                <a:latin typeface="Avenir Medium" charset="0"/>
              </a:rPr>
              <a:t>Questions</a:t>
            </a:r>
          </a:p>
        </p:txBody>
      </p:sp>
      <p:sp>
        <p:nvSpPr>
          <p:cNvPr id="13318" name="TextBox 4"/>
          <p:cNvSpPr txBox="1">
            <a:spLocks noChangeArrowheads="1"/>
          </p:cNvSpPr>
          <p:nvPr/>
        </p:nvSpPr>
        <p:spPr bwMode="auto">
          <a:xfrm rot="-5400000">
            <a:off x="5450682" y="3358357"/>
            <a:ext cx="17526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Cuestión</a:t>
            </a:r>
          </a:p>
        </p:txBody>
      </p:sp>
      <p:sp>
        <p:nvSpPr>
          <p:cNvPr id="13319" name="Rectangle 6"/>
          <p:cNvSpPr>
            <a:spLocks noChangeArrowheads="1"/>
          </p:cNvSpPr>
          <p:nvPr/>
        </p:nvSpPr>
        <p:spPr bwMode="auto">
          <a:xfrm>
            <a:off x="7086600" y="1676401"/>
            <a:ext cx="17986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La question</a:t>
            </a:r>
          </a:p>
        </p:txBody>
      </p:sp>
      <p:sp>
        <p:nvSpPr>
          <p:cNvPr id="13320" name="Rectangle 7"/>
          <p:cNvSpPr>
            <a:spLocks noChangeArrowheads="1"/>
          </p:cNvSpPr>
          <p:nvPr/>
        </p:nvSpPr>
        <p:spPr bwMode="auto">
          <a:xfrm>
            <a:off x="7086600" y="2582864"/>
            <a:ext cx="137569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ar-SA" sz="4400">
                <a:solidFill>
                  <a:srgbClr val="FFFFFF"/>
                </a:solidFill>
              </a:rPr>
              <a:t>الأسئلة</a:t>
            </a:r>
            <a:endParaRPr lang="en-US" sz="4400">
              <a:solidFill>
                <a:srgbClr val="FFFFFF"/>
              </a:solidFill>
            </a:endParaRPr>
          </a:p>
        </p:txBody>
      </p:sp>
      <p:sp>
        <p:nvSpPr>
          <p:cNvPr id="13321" name="Rectangle 8"/>
          <p:cNvSpPr>
            <a:spLocks noChangeArrowheads="1"/>
          </p:cNvSpPr>
          <p:nvPr/>
        </p:nvSpPr>
        <p:spPr bwMode="auto">
          <a:xfrm>
            <a:off x="1905001" y="3200401"/>
            <a:ext cx="1801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bg-BG" sz="3600">
                <a:solidFill>
                  <a:srgbClr val="FFFFFF"/>
                </a:solidFill>
              </a:rPr>
              <a:t>въпроси</a:t>
            </a:r>
            <a:endParaRPr lang="en-US" sz="3600">
              <a:solidFill>
                <a:srgbClr val="FFFFFF"/>
              </a:solidFill>
            </a:endParaRPr>
          </a:p>
        </p:txBody>
      </p:sp>
      <p:sp>
        <p:nvSpPr>
          <p:cNvPr id="13322" name="Rectangle 9"/>
          <p:cNvSpPr>
            <a:spLocks noChangeArrowheads="1"/>
          </p:cNvSpPr>
          <p:nvPr/>
        </p:nvSpPr>
        <p:spPr bwMode="auto">
          <a:xfrm>
            <a:off x="5334001" y="1676401"/>
            <a:ext cx="1108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zh-TW" altLang="en-US" sz="3600">
                <a:solidFill>
                  <a:srgbClr val="FFFFFF"/>
                </a:solidFill>
              </a:rPr>
              <a:t>问题</a:t>
            </a:r>
            <a:endParaRPr lang="en-US" sz="3600">
              <a:solidFill>
                <a:srgbClr val="FFFFFF"/>
              </a:solidFill>
            </a:endParaRPr>
          </a:p>
        </p:txBody>
      </p:sp>
      <p:sp>
        <p:nvSpPr>
          <p:cNvPr id="13323" name="Rectangle 10"/>
          <p:cNvSpPr>
            <a:spLocks noChangeArrowheads="1"/>
          </p:cNvSpPr>
          <p:nvPr/>
        </p:nvSpPr>
        <p:spPr bwMode="auto">
          <a:xfrm>
            <a:off x="5029201" y="3429001"/>
            <a:ext cx="10969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otázky</a:t>
            </a:r>
          </a:p>
        </p:txBody>
      </p:sp>
      <p:sp>
        <p:nvSpPr>
          <p:cNvPr id="13324" name="Rectangle 11"/>
          <p:cNvSpPr>
            <a:spLocks noChangeArrowheads="1"/>
          </p:cNvSpPr>
          <p:nvPr/>
        </p:nvSpPr>
        <p:spPr bwMode="auto">
          <a:xfrm>
            <a:off x="6826250" y="3886201"/>
            <a:ext cx="1860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spørgsmål</a:t>
            </a:r>
          </a:p>
        </p:txBody>
      </p:sp>
      <p:sp>
        <p:nvSpPr>
          <p:cNvPr id="13325" name="Rectangle 12"/>
          <p:cNvSpPr>
            <a:spLocks noChangeArrowheads="1"/>
          </p:cNvSpPr>
          <p:nvPr/>
        </p:nvSpPr>
        <p:spPr bwMode="auto">
          <a:xfrm rot="-5400000">
            <a:off x="2151856" y="2267744"/>
            <a:ext cx="14620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200">
                <a:solidFill>
                  <a:srgbClr val="FFFFFF"/>
                </a:solidFill>
                <a:latin typeface="Avenir Medium" charset="0"/>
              </a:rPr>
              <a:t>vragen</a:t>
            </a:r>
          </a:p>
        </p:txBody>
      </p:sp>
      <p:sp>
        <p:nvSpPr>
          <p:cNvPr id="13326" name="Rectangle 13"/>
          <p:cNvSpPr>
            <a:spLocks noChangeArrowheads="1"/>
          </p:cNvSpPr>
          <p:nvPr/>
        </p:nvSpPr>
        <p:spPr bwMode="auto">
          <a:xfrm>
            <a:off x="4267201" y="3962401"/>
            <a:ext cx="1655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küsimused</a:t>
            </a:r>
          </a:p>
        </p:txBody>
      </p:sp>
      <p:sp>
        <p:nvSpPr>
          <p:cNvPr id="13327" name="Rectangle 14"/>
          <p:cNvSpPr>
            <a:spLocks noChangeArrowheads="1"/>
          </p:cNvSpPr>
          <p:nvPr/>
        </p:nvSpPr>
        <p:spPr bwMode="auto">
          <a:xfrm>
            <a:off x="7086600" y="2209801"/>
            <a:ext cx="1785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kysymykset</a:t>
            </a:r>
          </a:p>
        </p:txBody>
      </p:sp>
      <p:sp>
        <p:nvSpPr>
          <p:cNvPr id="13328" name="Rectangle 15"/>
          <p:cNvSpPr>
            <a:spLocks noChangeArrowheads="1"/>
          </p:cNvSpPr>
          <p:nvPr/>
        </p:nvSpPr>
        <p:spPr bwMode="auto">
          <a:xfrm rot="-5400000">
            <a:off x="1476376" y="2201863"/>
            <a:ext cx="16557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600">
                <a:solidFill>
                  <a:srgbClr val="FFFFFF"/>
                </a:solidFill>
                <a:latin typeface="Avenir Medium" charset="0"/>
              </a:rPr>
              <a:t>Fragen</a:t>
            </a:r>
          </a:p>
        </p:txBody>
      </p:sp>
      <p:sp>
        <p:nvSpPr>
          <p:cNvPr id="13329" name="Rectangle 16"/>
          <p:cNvSpPr>
            <a:spLocks noChangeArrowheads="1"/>
          </p:cNvSpPr>
          <p:nvPr/>
        </p:nvSpPr>
        <p:spPr bwMode="auto">
          <a:xfrm>
            <a:off x="5410200" y="2667001"/>
            <a:ext cx="76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rPr>
              <a:t> </a:t>
            </a:r>
          </a:p>
        </p:txBody>
      </p:sp>
      <p:sp>
        <p:nvSpPr>
          <p:cNvPr id="13330" name="Rectangle 18"/>
          <p:cNvSpPr>
            <a:spLocks noChangeArrowheads="1"/>
          </p:cNvSpPr>
          <p:nvPr/>
        </p:nvSpPr>
        <p:spPr bwMode="auto">
          <a:xfrm>
            <a:off x="3276601" y="2133601"/>
            <a:ext cx="20617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rPr>
              <a:t>सवालों के जवाब</a:t>
            </a:r>
          </a:p>
        </p:txBody>
      </p:sp>
      <p:sp>
        <p:nvSpPr>
          <p:cNvPr id="13331" name="Rectangle 19"/>
          <p:cNvSpPr>
            <a:spLocks noChangeArrowheads="1"/>
          </p:cNvSpPr>
          <p:nvPr/>
        </p:nvSpPr>
        <p:spPr bwMode="auto">
          <a:xfrm>
            <a:off x="1752600" y="3886200"/>
            <a:ext cx="2266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3200">
                <a:solidFill>
                  <a:srgbClr val="FFFFFF"/>
                </a:solidFill>
                <a:latin typeface="Avenir Medium" charset="0"/>
              </a:rPr>
              <a:t>pertanyaan</a:t>
            </a:r>
          </a:p>
        </p:txBody>
      </p:sp>
      <p:sp>
        <p:nvSpPr>
          <p:cNvPr id="13332" name="Rectangle 20"/>
          <p:cNvSpPr>
            <a:spLocks noChangeArrowheads="1"/>
          </p:cNvSpPr>
          <p:nvPr/>
        </p:nvSpPr>
        <p:spPr bwMode="auto">
          <a:xfrm rot="-5400000">
            <a:off x="5919788" y="2279651"/>
            <a:ext cx="17287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800">
                <a:solidFill>
                  <a:srgbClr val="FFFFFF"/>
                </a:solidFill>
                <a:latin typeface="Avenir Medium" charset="0"/>
              </a:rPr>
              <a:t>domande</a:t>
            </a:r>
          </a:p>
        </p:txBody>
      </p:sp>
      <p:sp>
        <p:nvSpPr>
          <p:cNvPr id="13333" name="Rectangle 21"/>
          <p:cNvSpPr>
            <a:spLocks noChangeArrowheads="1"/>
          </p:cNvSpPr>
          <p:nvPr/>
        </p:nvSpPr>
        <p:spPr bwMode="auto">
          <a:xfrm>
            <a:off x="3886200" y="33528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ja-JP" altLang="en-US" sz="3200">
                <a:solidFill>
                  <a:srgbClr val="FFFFFF"/>
                </a:solidFill>
              </a:rPr>
              <a:t>質問</a:t>
            </a:r>
            <a:endParaRPr lang="en-US" sz="3200">
              <a:solidFill>
                <a:srgbClr val="FFFFFF"/>
              </a:solidFill>
            </a:endParaRPr>
          </a:p>
        </p:txBody>
      </p:sp>
      <p:sp>
        <p:nvSpPr>
          <p:cNvPr id="13334" name="Rectangle 22"/>
          <p:cNvSpPr>
            <a:spLocks noChangeArrowheads="1"/>
          </p:cNvSpPr>
          <p:nvPr/>
        </p:nvSpPr>
        <p:spPr bwMode="auto">
          <a:xfrm>
            <a:off x="5105401" y="2286001"/>
            <a:ext cx="1592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perguntas</a:t>
            </a:r>
          </a:p>
        </p:txBody>
      </p:sp>
      <p:sp>
        <p:nvSpPr>
          <p:cNvPr id="13335" name="Rectangle 23"/>
          <p:cNvSpPr>
            <a:spLocks noChangeArrowheads="1"/>
          </p:cNvSpPr>
          <p:nvPr/>
        </p:nvSpPr>
        <p:spPr bwMode="auto">
          <a:xfrm>
            <a:off x="3654426" y="1600201"/>
            <a:ext cx="13989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Times" panose="02020603050405020304" pitchFamily="18" charset="0"/>
              </a:rPr>
              <a:t>вопросов</a:t>
            </a:r>
          </a:p>
        </p:txBody>
      </p:sp>
      <p:sp>
        <p:nvSpPr>
          <p:cNvPr id="13336" name="Rectangle 24"/>
          <p:cNvSpPr>
            <a:spLocks noChangeArrowheads="1"/>
          </p:cNvSpPr>
          <p:nvPr/>
        </p:nvSpPr>
        <p:spPr bwMode="auto">
          <a:xfrm>
            <a:off x="7162800" y="3360738"/>
            <a:ext cx="1136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2400">
                <a:solidFill>
                  <a:srgbClr val="FFFFFF"/>
                </a:solidFill>
                <a:latin typeface="Avenir Medium" charset="0"/>
              </a:rPr>
              <a:t>sorular</a:t>
            </a:r>
          </a:p>
        </p:txBody>
      </p:sp>
      <p:sp>
        <p:nvSpPr>
          <p:cNvPr id="13337" name="TextBox 25"/>
          <p:cNvSpPr txBox="1">
            <a:spLocks noChangeArrowheads="1"/>
          </p:cNvSpPr>
          <p:nvPr/>
        </p:nvSpPr>
        <p:spPr bwMode="auto">
          <a:xfrm>
            <a:off x="8991600" y="1371601"/>
            <a:ext cx="1524000"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fontAlgn="base" hangingPunct="1">
              <a:spcBef>
                <a:spcPct val="0"/>
              </a:spcBef>
              <a:spcAft>
                <a:spcPct val="0"/>
              </a:spcAft>
            </a:pPr>
            <a:r>
              <a:rPr lang="en-US" sz="19900">
                <a:solidFill>
                  <a:srgbClr val="FFFFFF"/>
                </a:solidFill>
                <a:latin typeface="Avenir Medium" charset="0"/>
              </a:rPr>
              <a:t>?</a:t>
            </a:r>
          </a:p>
        </p:txBody>
      </p:sp>
    </p:spTree>
    <p:extLst>
      <p:ext uri="{BB962C8B-B14F-4D97-AF65-F5344CB8AC3E}">
        <p14:creationId xmlns:p14="http://schemas.microsoft.com/office/powerpoint/2010/main" val="7498570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1"/>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1pPr>
            <a:lvl2pPr marL="742950" indent="-28575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2pPr>
            <a:lvl3pPr marL="11430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3pPr>
            <a:lvl4pPr marL="16002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4pPr>
            <a:lvl5pPr marL="2057400" indent="-228600" eaLnBrk="0" hangingPunct="0">
              <a:defRPr sz="1200">
                <a:solidFill>
                  <a:schemeClr val="tx1"/>
                </a:solidFill>
                <a:latin typeface="Times New Roman" panose="02020603050405020304" pitchFamily="18" charset="0"/>
                <a:ea typeface="ヒラギノ明朝 ProN W3" charset="-128"/>
                <a:sym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ea typeface="ヒラギノ明朝 ProN W3" charset="-128"/>
                <a:sym typeface="Times New Roman" panose="02020603050405020304" pitchFamily="18" charset="0"/>
              </a:defRPr>
            </a:lvl9pPr>
          </a:lstStyle>
          <a:p>
            <a:pPr eaLnBrk="1" hangingPunct="1"/>
            <a:fld id="{207FAFF6-E146-4F48-809E-3DA26EEA4871}" type="slidenum">
              <a:rPr lang="en-US" sz="1400">
                <a:latin typeface="Times" panose="02020603050405020304" pitchFamily="18" charset="0"/>
                <a:sym typeface="Times" panose="02020603050405020304" pitchFamily="18" charset="0"/>
              </a:rPr>
              <a:pPr eaLnBrk="1" hangingPunct="1"/>
              <a:t>10</a:t>
            </a:fld>
            <a:endParaRPr lang="en-US" sz="1400">
              <a:latin typeface="Times" panose="02020603050405020304" pitchFamily="18" charset="0"/>
              <a:sym typeface="Times" panose="02020603050405020304" pitchFamily="18" charset="0"/>
            </a:endParaRPr>
          </a:p>
        </p:txBody>
      </p:sp>
    </p:spTree>
    <p:extLst>
      <p:ext uri="{BB962C8B-B14F-4D97-AF65-F5344CB8AC3E}">
        <p14:creationId xmlns:p14="http://schemas.microsoft.com/office/powerpoint/2010/main" val="3106621738"/>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1433</TotalTime>
  <Words>1861</Words>
  <Application>Microsoft Office PowerPoint</Application>
  <PresentationFormat>Widescreen</PresentationFormat>
  <Paragraphs>125</Paragraphs>
  <Slides>10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Arial</vt:lpstr>
      <vt:lpstr>Avenir Medium</vt:lpstr>
      <vt:lpstr>Calibri</vt:lpstr>
      <vt:lpstr>Calibri Light</vt:lpstr>
      <vt:lpstr>Iskoola Pota</vt:lpstr>
      <vt:lpstr>Symbol</vt:lpstr>
      <vt:lpstr>Times</vt:lpstr>
      <vt:lpstr>Times New Roman</vt:lpstr>
      <vt:lpstr>Wingdings</vt:lpstr>
      <vt:lpstr>ヒラギノ明朝 ProN W3</vt:lpstr>
      <vt:lpstr>Office Theme</vt:lpstr>
      <vt:lpstr>පළමු ප්‍රතිචාර පුහුණු වැඩසටහන</vt:lpstr>
      <vt:lpstr>PowerPoint Presentation</vt:lpstr>
      <vt:lpstr>PowerPoint Presentation</vt:lpstr>
      <vt:lpstr>පළමු  ප්‍රතිචාරකයා</vt:lpstr>
      <vt:lpstr>පළමු  ප්‍රතිචාරකයා</vt:lpstr>
      <vt:lpstr>හඳුන්වාදීමේ වීඩියෝව </vt:lpstr>
      <vt:lpstr>• පළමුව, කිසිදු හානියක් නොකරන්න! • මෙය විධිමත් ප්‍රථමාධාර පාඨමාලාවක් නොවේ • උදව් ලබා ගැනිම සඳහා ඇමතීමට අවශ්‍ය වනු ඇත  - එය ලබා ගත හැකිද?  - පැමිණීමට කොපමණ කාලයක් ගතවේද? • යම්කිසි තත්වයක් උදව් ලැබෙන තුරු හැසිරවීමට මූලික දැනුම ලබා දීම  අරමුණු කර ගන්න    </vt:lpstr>
      <vt:lpstr>    </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Military PC</dc:creator>
  <cp:lastModifiedBy>Military PC</cp:lastModifiedBy>
  <cp:revision>321</cp:revision>
  <cp:lastPrinted>2022-08-16T06:16:25Z</cp:lastPrinted>
  <dcterms:created xsi:type="dcterms:W3CDTF">2022-07-11T05:41:01Z</dcterms:created>
  <dcterms:modified xsi:type="dcterms:W3CDTF">2023-01-24T03:49:48Z</dcterms:modified>
</cp:coreProperties>
</file>