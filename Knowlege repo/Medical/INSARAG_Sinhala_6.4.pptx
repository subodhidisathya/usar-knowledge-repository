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  <p:sldMasterId id="2147483816" r:id="rId2"/>
  </p:sldMasterIdLst>
  <p:notesMasterIdLst>
    <p:notesMasterId r:id="rId79"/>
  </p:notesMasterIdLst>
  <p:handoutMasterIdLst>
    <p:handoutMasterId r:id="rId80"/>
  </p:handoutMasterIdLst>
  <p:sldIdLst>
    <p:sldId id="269" r:id="rId3"/>
    <p:sldId id="268" r:id="rId4"/>
    <p:sldId id="267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61" r:id="rId17"/>
    <p:sldId id="362" r:id="rId18"/>
    <p:sldId id="364" r:id="rId19"/>
    <p:sldId id="346" r:id="rId20"/>
    <p:sldId id="347" r:id="rId21"/>
    <p:sldId id="348" r:id="rId22"/>
    <p:sldId id="365" r:id="rId23"/>
    <p:sldId id="366" r:id="rId24"/>
    <p:sldId id="367" r:id="rId25"/>
    <p:sldId id="368" r:id="rId26"/>
    <p:sldId id="369" r:id="rId27"/>
    <p:sldId id="349" r:id="rId28"/>
    <p:sldId id="350" r:id="rId29"/>
    <p:sldId id="370" r:id="rId30"/>
    <p:sldId id="371" r:id="rId31"/>
    <p:sldId id="372" r:id="rId32"/>
    <p:sldId id="373" r:id="rId33"/>
    <p:sldId id="374" r:id="rId34"/>
    <p:sldId id="375" r:id="rId35"/>
    <p:sldId id="376" r:id="rId36"/>
    <p:sldId id="351" r:id="rId37"/>
    <p:sldId id="377" r:id="rId38"/>
    <p:sldId id="352" r:id="rId39"/>
    <p:sldId id="378" r:id="rId40"/>
    <p:sldId id="379" r:id="rId41"/>
    <p:sldId id="380" r:id="rId42"/>
    <p:sldId id="381" r:id="rId43"/>
    <p:sldId id="382" r:id="rId44"/>
    <p:sldId id="383" r:id="rId45"/>
    <p:sldId id="309" r:id="rId46"/>
    <p:sldId id="314" r:id="rId47"/>
    <p:sldId id="386" r:id="rId48"/>
    <p:sldId id="387" r:id="rId49"/>
    <p:sldId id="388" r:id="rId50"/>
    <p:sldId id="389" r:id="rId51"/>
    <p:sldId id="390" r:id="rId52"/>
    <p:sldId id="391" r:id="rId53"/>
    <p:sldId id="392" r:id="rId54"/>
    <p:sldId id="393" r:id="rId55"/>
    <p:sldId id="394" r:id="rId56"/>
    <p:sldId id="395" r:id="rId57"/>
    <p:sldId id="396" r:id="rId58"/>
    <p:sldId id="397" r:id="rId59"/>
    <p:sldId id="398" r:id="rId60"/>
    <p:sldId id="399" r:id="rId61"/>
    <p:sldId id="400" r:id="rId62"/>
    <p:sldId id="401" r:id="rId63"/>
    <p:sldId id="402" r:id="rId64"/>
    <p:sldId id="403" r:id="rId65"/>
    <p:sldId id="404" r:id="rId66"/>
    <p:sldId id="405" r:id="rId67"/>
    <p:sldId id="406" r:id="rId68"/>
    <p:sldId id="407" r:id="rId69"/>
    <p:sldId id="408" r:id="rId70"/>
    <p:sldId id="409" r:id="rId71"/>
    <p:sldId id="410" r:id="rId72"/>
    <p:sldId id="411" r:id="rId73"/>
    <p:sldId id="412" r:id="rId74"/>
    <p:sldId id="413" r:id="rId75"/>
    <p:sldId id="414" r:id="rId76"/>
    <p:sldId id="415" r:id="rId77"/>
    <p:sldId id="416" r:id="rId78"/>
  </p:sldIdLst>
  <p:sldSz cx="12192000" cy="6858000"/>
  <p:notesSz cx="6800850" cy="99329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25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tableStyles" Target="tableStyle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viewProps" Target="view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035" cy="4983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2241" y="0"/>
            <a:ext cx="2947035" cy="4983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881FE1-49FF-49A7-A7F1-7BA43AFF21B6}" type="datetimeFigureOut">
              <a:rPr lang="en-US" smtClean="0"/>
              <a:t>1/20/2023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4615"/>
            <a:ext cx="2947035" cy="4983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2241" y="9434615"/>
            <a:ext cx="2947035" cy="4983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D6B333-660B-4C8D-ABAD-4F77470B3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23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035" cy="4983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2241" y="0"/>
            <a:ext cx="2947035" cy="4983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C6CE2F-C41B-4D8B-95EE-5D8EFFB3B4CF}" type="datetimeFigureOut">
              <a:rPr lang="en-US" smtClean="0"/>
              <a:t>1/20/2023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9475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085" y="4780250"/>
            <a:ext cx="5440680" cy="39111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4615"/>
            <a:ext cx="2947035" cy="4983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2241" y="9434615"/>
            <a:ext cx="2947035" cy="4983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534173-98C6-48F6-BF0E-3F7CF8242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83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534173-98C6-48F6-BF0E-3F7CF82424B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18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1/20/2023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770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1/20/2023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178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1/20/2023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232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1/20/2023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693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1/20/2023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434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1/20/2023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594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1/20/2023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189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1/20/2023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482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1/20/2023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925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1/20/2023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709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1/20/2023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7216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 descr="ocha-insarag-logo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914400"/>
            <a:ext cx="11082867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101600" y="0"/>
            <a:ext cx="12090400" cy="762000"/>
          </a:xfrm>
          <a:solidFill>
            <a:schemeClr val="bg1"/>
          </a:solidFill>
        </p:spPr>
        <p:txBody>
          <a:bodyPr/>
          <a:lstStyle>
            <a:lvl1pPr marL="39688" indent="0">
              <a:buNone/>
              <a:defRPr/>
            </a:lvl1pPr>
          </a:lstStyle>
          <a:p>
            <a:pPr lvl="0"/>
            <a:endParaRPr lang="en-GB" dirty="0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0" y="5943600"/>
            <a:ext cx="12192000" cy="914400"/>
          </a:xfrm>
          <a:solidFill>
            <a:schemeClr val="bg1"/>
          </a:solidFill>
        </p:spPr>
        <p:txBody>
          <a:bodyPr/>
          <a:lstStyle>
            <a:lvl5pPr marL="1766888" indent="0">
              <a:buNone/>
              <a:defRPr/>
            </a:lvl5pPr>
          </a:lstStyle>
          <a:p>
            <a:pPr lvl="4"/>
            <a:endParaRPr lang="en-US" dirty="0"/>
          </a:p>
        </p:txBody>
      </p:sp>
      <p:sp>
        <p:nvSpPr>
          <p:cNvPr id="7" name="Text Box 3"/>
          <p:cNvSpPr txBox="1">
            <a:spLocks noGrp="1" noChangeArrowheads="1"/>
          </p:cNvSpPr>
          <p:nvPr>
            <p:ph type="sldNum" sz="quarter" idx="13"/>
          </p:nvPr>
        </p:nvSpPr>
        <p:spPr>
          <a:xfrm>
            <a:off x="9812867" y="6248400"/>
            <a:ext cx="389467" cy="330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268CC436-DB0C-4D40-95CD-0C678C839DC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218014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295401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2766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864255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804774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1066801"/>
            <a:ext cx="10363200" cy="33401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6592862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0" y="1981200"/>
            <a:ext cx="5486400" cy="4038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486400" cy="4038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98896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066800"/>
            <a:ext cx="10972800" cy="11430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408238"/>
            <a:ext cx="5386917" cy="63976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3276600"/>
            <a:ext cx="5386917" cy="27432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2408238"/>
            <a:ext cx="5389033" cy="63976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3276600"/>
            <a:ext cx="5389033" cy="27432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199420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898604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8750010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838200"/>
            <a:ext cx="4011084" cy="1162050"/>
          </a:xfrm>
        </p:spPr>
        <p:txBody>
          <a:bodyPr anchor="b"/>
          <a:lstStyle>
            <a:lvl1pPr algn="l">
              <a:defRPr sz="2000" b="1" i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990601"/>
            <a:ext cx="6815667" cy="50292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2133601"/>
            <a:ext cx="4011084" cy="38862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38362812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00600"/>
            <a:ext cx="10668000" cy="4572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4400" y="990600"/>
            <a:ext cx="10668000" cy="373697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>
              <a:sym typeface="Time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367338"/>
            <a:ext cx="10668000" cy="6524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30678103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 descr="ocha-insarag-logo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914400"/>
            <a:ext cx="11082867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101600" y="0"/>
            <a:ext cx="12090400" cy="762000"/>
          </a:xfrm>
          <a:solidFill>
            <a:schemeClr val="bg1"/>
          </a:solidFill>
        </p:spPr>
        <p:txBody>
          <a:bodyPr/>
          <a:lstStyle>
            <a:lvl1pPr marL="39688" indent="0">
              <a:buNone/>
              <a:defRPr/>
            </a:lvl1pPr>
          </a:lstStyle>
          <a:p>
            <a:pPr lvl="0"/>
            <a:endParaRPr lang="en-GB" dirty="0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0" y="5943600"/>
            <a:ext cx="12192000" cy="914400"/>
          </a:xfrm>
          <a:solidFill>
            <a:schemeClr val="bg1"/>
          </a:solidFill>
        </p:spPr>
        <p:txBody>
          <a:bodyPr/>
          <a:lstStyle>
            <a:lvl5pPr marL="1766888" indent="0">
              <a:buNone/>
              <a:defRPr/>
            </a:lvl5pPr>
          </a:lstStyle>
          <a:p>
            <a:pPr lvl="4"/>
            <a:endParaRPr lang="en-US" dirty="0"/>
          </a:p>
        </p:txBody>
      </p:sp>
      <p:sp>
        <p:nvSpPr>
          <p:cNvPr id="7" name="Text Box 3"/>
          <p:cNvSpPr txBox="1">
            <a:spLocks noGrp="1" noChangeArrowheads="1"/>
          </p:cNvSpPr>
          <p:nvPr>
            <p:ph type="sldNum" sz="quarter" idx="13"/>
          </p:nvPr>
        </p:nvSpPr>
        <p:spPr>
          <a:xfrm>
            <a:off x="9812867" y="6248400"/>
            <a:ext cx="389467" cy="330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68CC436-DB0C-4D40-95CD-0C678C839DC7}" type="slidenum">
              <a:rPr lang="en-US" sz="1200" smtClean="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smtClean="0">
              <a:solidFill>
                <a:srgbClr val="000000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81140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image" Target="../media/image2.emf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F62D13-26C6-49E8-A6B9-CF97DB82E248}" type="datetimeFigureOut">
              <a:rPr lang="en-US" smtClean="0"/>
              <a:t>1/20/2023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44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2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990600"/>
            <a:ext cx="111760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0800" tIns="50800" rIns="9144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Times" panose="02020603050405020304" pitchFamily="18" charset="0"/>
              </a:rPr>
              <a:t>Click to edit Master title style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8000" y="1981200"/>
            <a:ext cx="111760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0800" tIns="50800" rIns="9144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Times" panose="02020603050405020304" pitchFamily="18" charset="0"/>
              </a:rPr>
              <a:t>Click to edit Master text styles</a:t>
            </a:r>
          </a:p>
          <a:p>
            <a:pPr lvl="1"/>
            <a:r>
              <a:rPr lang="en-US" smtClean="0">
                <a:sym typeface="Times" panose="02020603050405020304" pitchFamily="18" charset="0"/>
              </a:rPr>
              <a:t>Second level</a:t>
            </a:r>
          </a:p>
          <a:p>
            <a:pPr lvl="2"/>
            <a:r>
              <a:rPr lang="en-US" smtClean="0">
                <a:sym typeface="Times" panose="02020603050405020304" pitchFamily="18" charset="0"/>
              </a:rPr>
              <a:t>Third level</a:t>
            </a:r>
          </a:p>
          <a:p>
            <a:pPr lvl="3"/>
            <a:r>
              <a:rPr lang="en-US" smtClean="0">
                <a:sym typeface="Times" panose="02020603050405020304" pitchFamily="18" charset="0"/>
              </a:rPr>
              <a:t>Fourth level</a:t>
            </a:r>
          </a:p>
          <a:p>
            <a:pPr lvl="4"/>
            <a:r>
              <a:rPr lang="en-US" smtClean="0">
                <a:sym typeface="Times" panose="02020603050405020304" pitchFamily="18" charset="0"/>
              </a:rPr>
              <a:t>Fifth level</a:t>
            </a:r>
          </a:p>
        </p:txBody>
      </p:sp>
      <p:pic>
        <p:nvPicPr>
          <p:cNvPr id="5" name="Picture 6"/>
          <p:cNvPicPr>
            <a:picLocks noChangeAspect="1"/>
          </p:cNvPicPr>
          <p:nvPr userDrawn="1"/>
        </p:nvPicPr>
        <p:blipFill>
          <a:blip r:embed="rId12"/>
          <a:srcRect/>
          <a:stretch>
            <a:fillRect/>
          </a:stretch>
        </p:blipFill>
        <p:spPr bwMode="auto">
          <a:xfrm>
            <a:off x="203200" y="152400"/>
            <a:ext cx="3556000" cy="388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1029" name="Picture 18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6248400"/>
            <a:ext cx="2844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2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4800" y="6065839"/>
            <a:ext cx="1490133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31" name="Straight Connector 2"/>
          <p:cNvCxnSpPr>
            <a:cxnSpLocks noChangeShapeType="1"/>
          </p:cNvCxnSpPr>
          <p:nvPr userDrawn="1"/>
        </p:nvCxnSpPr>
        <p:spPr bwMode="auto">
          <a:xfrm>
            <a:off x="3100917" y="6300788"/>
            <a:ext cx="7416800" cy="0"/>
          </a:xfrm>
          <a:prstGeom prst="line">
            <a:avLst/>
          </a:prstGeom>
          <a:noFill/>
          <a:ln w="20320">
            <a:solidFill>
              <a:srgbClr val="174C8E">
                <a:alpha val="90195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84437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</p:sldLayoutIdLst>
  <p:transition/>
  <p:hf hdr="0" ftr="0" dt="0"/>
  <p:txStyles>
    <p:titleStyle>
      <a:lvl1pPr marL="39688" indent="-39688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/>
          <a:ea typeface="+mj-ea"/>
          <a:cs typeface="Verdana"/>
          <a:sym typeface="Times" panose="02020603050405020304" pitchFamily="18" charset="0"/>
        </a:defRPr>
      </a:lvl1pPr>
      <a:lvl2pPr marL="39688" indent="-39688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charset="0"/>
          <a:ea typeface="ヒラギノ明朝 ProN W3" charset="0"/>
          <a:cs typeface="Verdana" panose="020B0604030504040204" pitchFamily="34" charset="0"/>
          <a:sym typeface="Times" panose="02020603050405020304" pitchFamily="18" charset="0"/>
        </a:defRPr>
      </a:lvl2pPr>
      <a:lvl3pPr marL="39688" indent="-39688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charset="0"/>
          <a:ea typeface="ヒラギノ明朝 ProN W3" charset="0"/>
          <a:cs typeface="Verdana" panose="020B0604030504040204" pitchFamily="34" charset="0"/>
          <a:sym typeface="Times" panose="02020603050405020304" pitchFamily="18" charset="0"/>
        </a:defRPr>
      </a:lvl3pPr>
      <a:lvl4pPr marL="39688" indent="-39688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charset="0"/>
          <a:ea typeface="ヒラギノ明朝 ProN W3" charset="0"/>
          <a:cs typeface="Verdana" panose="020B0604030504040204" pitchFamily="34" charset="0"/>
          <a:sym typeface="Times" panose="02020603050405020304" pitchFamily="18" charset="0"/>
        </a:defRPr>
      </a:lvl4pPr>
      <a:lvl5pPr marL="39688" indent="-39688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charset="0"/>
          <a:ea typeface="ヒラギノ明朝 ProN W3" charset="0"/>
          <a:cs typeface="Verdana" panose="020B0604030504040204" pitchFamily="34" charset="0"/>
          <a:sym typeface="Times" panose="02020603050405020304" pitchFamily="18" charset="0"/>
        </a:defRPr>
      </a:lvl5pPr>
      <a:lvl6pPr marL="49688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ヒラギノ明朝 ProN W3" charset="0"/>
          <a:cs typeface="ヒラギノ明朝 ProN W3" charset="0"/>
          <a:sym typeface="Times" charset="0"/>
        </a:defRPr>
      </a:lvl6pPr>
      <a:lvl7pPr marL="95408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ヒラギノ明朝 ProN W3" charset="0"/>
          <a:cs typeface="ヒラギノ明朝 ProN W3" charset="0"/>
          <a:sym typeface="Times" charset="0"/>
        </a:defRPr>
      </a:lvl7pPr>
      <a:lvl8pPr marL="141128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ヒラギノ明朝 ProN W3" charset="0"/>
          <a:cs typeface="ヒラギノ明朝 ProN W3" charset="0"/>
          <a:sym typeface="Times" charset="0"/>
        </a:defRPr>
      </a:lvl8pPr>
      <a:lvl9pPr marL="186848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ヒラギノ明朝 ProN W3" charset="0"/>
          <a:cs typeface="ヒラギノ明朝 ProN W3" charset="0"/>
          <a:sym typeface="Times" charset="0"/>
        </a:defRPr>
      </a:lvl9pPr>
    </p:titleStyle>
    <p:bodyStyle>
      <a:lvl1pPr marL="382588" indent="-342900" algn="l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" panose="02020603050405020304" pitchFamily="18" charset="0"/>
        <a:buChar char="•"/>
        <a:defRPr sz="3200">
          <a:solidFill>
            <a:schemeClr val="tx1"/>
          </a:solidFill>
          <a:latin typeface="Verdana"/>
          <a:ea typeface="+mn-ea"/>
          <a:cs typeface="Verdana"/>
          <a:sym typeface="Times" panose="02020603050405020304" pitchFamily="18" charset="0"/>
        </a:defRPr>
      </a:lvl1pPr>
      <a:lvl2pPr marL="681038" indent="-285750" algn="l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" panose="02020603050405020304" pitchFamily="18" charset="0"/>
        <a:buChar char="–"/>
        <a:defRPr sz="2800">
          <a:solidFill>
            <a:schemeClr val="tx1"/>
          </a:solidFill>
          <a:latin typeface="Verdana"/>
          <a:ea typeface="+mn-ea"/>
          <a:cs typeface="Verdana"/>
          <a:sym typeface="Times" panose="02020603050405020304" pitchFamily="18" charset="0"/>
        </a:defRPr>
      </a:lvl2pPr>
      <a:lvl3pPr marL="1081088" indent="-228600" algn="l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" panose="02020603050405020304" pitchFamily="18" charset="0"/>
        <a:buChar char="•"/>
        <a:defRPr sz="2400">
          <a:solidFill>
            <a:schemeClr val="tx1"/>
          </a:solidFill>
          <a:latin typeface="Verdana"/>
          <a:ea typeface="+mn-ea"/>
          <a:cs typeface="Verdana"/>
          <a:sym typeface="Times" panose="02020603050405020304" pitchFamily="18" charset="0"/>
        </a:defRPr>
      </a:lvl3pPr>
      <a:lvl4pPr marL="1538288" indent="-228600" algn="l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" panose="02020603050405020304" pitchFamily="18" charset="0"/>
        <a:buChar char="–"/>
        <a:defRPr sz="2000">
          <a:solidFill>
            <a:schemeClr val="tx1"/>
          </a:solidFill>
          <a:latin typeface="Verdana"/>
          <a:ea typeface="+mn-ea"/>
          <a:cs typeface="Verdana"/>
          <a:sym typeface="Times" panose="02020603050405020304" pitchFamily="18" charset="0"/>
        </a:defRPr>
      </a:lvl4pPr>
      <a:lvl5pPr marL="1995488" indent="-228600" algn="l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" panose="02020603050405020304" pitchFamily="18" charset="0"/>
        <a:buChar char="»"/>
        <a:defRPr sz="2000">
          <a:solidFill>
            <a:schemeClr val="tx1"/>
          </a:solidFill>
          <a:latin typeface="Verdana"/>
          <a:ea typeface="+mn-ea"/>
          <a:cs typeface="Verdana"/>
          <a:sym typeface="Times" panose="02020603050405020304" pitchFamily="18" charset="0"/>
        </a:defRPr>
      </a:lvl5pPr>
      <a:lvl6pPr marL="2452688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" charset="0"/>
        <a:buChar char="»"/>
        <a:defRPr sz="2000">
          <a:solidFill>
            <a:schemeClr val="tx1"/>
          </a:solidFill>
          <a:latin typeface="+mn-lt"/>
          <a:ea typeface="+mn-ea"/>
          <a:cs typeface="+mn-cs"/>
          <a:sym typeface="Times" charset="0"/>
        </a:defRPr>
      </a:lvl6pPr>
      <a:lvl7pPr marL="2909888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" charset="0"/>
        <a:buChar char="»"/>
        <a:defRPr sz="2000">
          <a:solidFill>
            <a:schemeClr val="tx1"/>
          </a:solidFill>
          <a:latin typeface="+mn-lt"/>
          <a:ea typeface="+mn-ea"/>
          <a:cs typeface="+mn-cs"/>
          <a:sym typeface="Times" charset="0"/>
        </a:defRPr>
      </a:lvl7pPr>
      <a:lvl8pPr marL="3367088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" charset="0"/>
        <a:buChar char="»"/>
        <a:defRPr sz="2000">
          <a:solidFill>
            <a:schemeClr val="tx1"/>
          </a:solidFill>
          <a:latin typeface="+mn-lt"/>
          <a:ea typeface="+mn-ea"/>
          <a:cs typeface="+mn-cs"/>
          <a:sym typeface="Times" charset="0"/>
        </a:defRPr>
      </a:lvl8pPr>
      <a:lvl9pPr marL="3824288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" charset="0"/>
        <a:buChar char="»"/>
        <a:defRPr sz="2000">
          <a:solidFill>
            <a:schemeClr val="tx1"/>
          </a:solidFill>
          <a:latin typeface="+mn-lt"/>
          <a:ea typeface="+mn-ea"/>
          <a:cs typeface="+mn-cs"/>
          <a:sym typeface="Time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58812"/>
            <a:ext cx="10515600" cy="1325563"/>
          </a:xfrm>
        </p:spPr>
        <p:txBody>
          <a:bodyPr/>
          <a:lstStyle/>
          <a:p>
            <a:r>
              <a:rPr lang="si-LK" dirty="0"/>
              <a:t>පළමු ප්‍රතිචාර දැක්වීම් පුහුණු වැඩසටහන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i-LK" dirty="0"/>
              <a:t>මොඩියුලර්	</a:t>
            </a:r>
            <a:r>
              <a:rPr lang="si-LK" dirty="0" smtClean="0"/>
              <a:t>6: </a:t>
            </a:r>
            <a:r>
              <a:rPr lang="si-LK" dirty="0"/>
              <a:t>මූලික වෛද්</a:t>
            </a:r>
            <a:r>
              <a:rPr lang="si-LK" dirty="0" smtClean="0"/>
              <a:t>‍ය ගලවා ගැනිම</a:t>
            </a:r>
          </a:p>
          <a:p>
            <a:r>
              <a:rPr lang="si-LK" dirty="0" smtClean="0"/>
              <a:t>සැසිය 	6.4 - පාඩම් සැලැස්ම</a:t>
            </a:r>
          </a:p>
          <a:p>
            <a:r>
              <a:rPr lang="si-LK" dirty="0"/>
              <a:t>රෝගිය</a:t>
            </a:r>
            <a:r>
              <a:rPr lang="si-LK" dirty="0" smtClean="0"/>
              <a:t>ාට ප්‍රතිකාර කිරිම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163286" y="84251"/>
            <a:ext cx="3115130" cy="68103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78461" t="79333" r="13981" b="13852"/>
          <a:stretch/>
        </p:blipFill>
        <p:spPr>
          <a:xfrm>
            <a:off x="10451005" y="136525"/>
            <a:ext cx="1577709" cy="6810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61257" y="4368007"/>
            <a:ext cx="11669486" cy="24272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28981" t="79333" r="56370" b="13852"/>
          <a:stretch/>
        </p:blipFill>
        <p:spPr>
          <a:xfrm>
            <a:off x="675666" y="5338764"/>
            <a:ext cx="3058134" cy="681037"/>
          </a:xfrm>
          <a:prstGeom prst="rect">
            <a:avLst/>
          </a:prstGeom>
        </p:spPr>
      </p:pic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8999220" y="4555394"/>
            <a:ext cx="2729936" cy="165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si-LK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පළමු ප්‍රතිචාර දැක්වීමේ පුහුණු වැඩසටහන 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INSARAG </a:t>
            </a:r>
            <a:r>
              <a:rPr lang="si-LK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පුහුණු ක්‍රියාකාරී කණ්ඩායම විසින් සංවර්ධනය කරන ලද අතර </a:t>
            </a:r>
            <a:r>
              <a:rPr lang="si-LK" sz="1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මුදවා ග</a:t>
            </a:r>
            <a:r>
              <a:rPr lang="si-LK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ැනීමේ හැකියාව වර්ධනය කිරීමට සහ ජීවිත බේරා ගැනීමට සියලුම රටවලට සහ ප්‍රතිචාර  දක්වන සංවිධානවලට උපකාර කිරීමට අදහස් කෙරේ</a:t>
            </a:r>
            <a:r>
              <a:rPr lang="si-LK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766860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266596"/>
              </p:ext>
            </p:extLst>
          </p:nvPr>
        </p:nvGraphicFramePr>
        <p:xfrm>
          <a:off x="168446" y="1"/>
          <a:ext cx="12023554" cy="2187831"/>
        </p:xfrm>
        <a:graphic>
          <a:graphicData uri="http://schemas.openxmlformats.org/drawingml/2006/table">
            <a:tbl>
              <a:tblPr firstRow="1" firstCol="1" bandRow="1"/>
              <a:tblGrid>
                <a:gridCol w="1666213"/>
                <a:gridCol w="5194943"/>
                <a:gridCol w="5162398"/>
              </a:tblGrid>
              <a:tr h="42646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ඉලක්කය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(</a:t>
                      </a:r>
                      <a:r>
                        <a:rPr lang="en-US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Aims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) 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අරමුණු (</a:t>
                      </a:r>
                      <a:r>
                        <a:rPr lang="en-US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Objective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ඉගෙනුම්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ප්‍රතිඵල (</a:t>
                      </a:r>
                      <a:r>
                        <a:rPr lang="en-US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Learning</a:t>
                      </a:r>
                      <a:r>
                        <a:rPr lang="en-US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Outcomes)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124428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මෙම සැසිය මගින් සහභාගිවන්නන්ට විශේෂිත අවස්ථාවන්හිදී රෝගී ප්‍රතිකාරයක් සිදුකිරීමට හැකියාව ලැබේ.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රුධීරය ගැලීම හඳුනාගෙන එයට ප්‍රතිකාර කරන්නේ කෙසේද යන්න තේරුම් ගැනීම.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Musculoskeletal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තුවාල හඳුනා ගැනීම සහ ස්ප්ලින්ට් යොදන ආකාරය තේරුම් ගැනීම.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පිළිස්සුම් තුවාල හඳුනාගෙන ඒවාට ප්‍රතිකාර කරන්නේ කෙසේද යන්න තේරුම් ගැනීම.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ශරීරයේ ඇණුන ලද වස්තුවක් හඳුනාගෙන ප්‍රතිකාර කරන්නේ කෙසේද යන්න තේරුම් ගැනීම.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අත් පා කැපීමක් හඳුනාගෙන ප්‍රතිකාර කරන්නේ කෙසේද යන්න තේරුම් ගැනීම.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මෙම සැසියේ ප්‍රතිඵලයක් ලෙස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සහභාගිවන්නාට පහත හැකියාවන් ලබාගත හැකි වනු ඇත: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රුධිර වහනය පාලනය කිරීම සඳහා ක්‍රම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මස්කියුෙලොස්ෙකලටල් තුවාල 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splinting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සිදු කරන්න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පිළිස්සුම් තුවාල සඳහා හදිසි ප්‍රතිකාර ලබා දීම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ශරීරයේ ඇණුන වස්තුවක් ස්ථාවර කර ප්‍රතිකාර කිරිමට හැකියාව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ශරීරයෙන් වෙන්වුන කොටසක් සහිත තුවාල වු  රෝගියෙකුට හදිසි ප්‍රතිකාර ලබා දීම සහ ශරීරයෙන් ඉවත් වු කොටස රැකබලා ගැනීම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975230"/>
              </p:ext>
            </p:extLst>
          </p:nvPr>
        </p:nvGraphicFramePr>
        <p:xfrm>
          <a:off x="173677" y="2282825"/>
          <a:ext cx="12018323" cy="4339913"/>
        </p:xfrm>
        <a:graphic>
          <a:graphicData uri="http://schemas.openxmlformats.org/drawingml/2006/table">
            <a:tbl>
              <a:tblPr firstRow="1" firstCol="1" bandRow="1"/>
              <a:tblGrid>
                <a:gridCol w="705555"/>
                <a:gridCol w="1735015"/>
                <a:gridCol w="7678615"/>
                <a:gridCol w="1899138"/>
              </a:tblGrid>
              <a:tr h="8680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කාලය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3777" marR="437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අන්තර්ගතය 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3777" marR="437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ක්‍රියාකාරිත්වය 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3777" marR="437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සම්පත් 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3777" marR="437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6204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විනාඩි </a:t>
                      </a:r>
                      <a:r>
                        <a:rPr lang="en-US" sz="120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2</a:t>
                      </a:r>
                      <a:r>
                        <a:rPr lang="si-LK" sz="120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0 යි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3777" marR="437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රුධිර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වහනයට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ප්‍රතිකාර කිරීම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3777" marR="437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උපදේශක: පවර්පොයින්ට් ඉදිරිපත් කිරීම සහ ලේ ගැලීම හඳුනා ගැනීම සහ ප්‍රතිකාර කිරීම පැහැදිලි කරන වීඩියෝව පෙන්වන්න.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3777" marR="437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FR </a:t>
                      </a: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ඉදිරිපත් කිරීම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6.4a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ඉදිරිපත් කරන්නා / තිරය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පන්ති කාමරය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3777" marR="437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07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සහභාගිවන්නා: ඉගෙනීමේ කරුණු පැහැදිලි කිරීමට ප්‍රශ්න අසමින් අවශ්‍ය පරිදි සවන් දීම සහ අන්තර් ක්‍රියාකාරීත්වය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3777" marR="437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29615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මිනිත්තු </a:t>
                      </a:r>
                      <a:r>
                        <a:rPr lang="en-US" sz="120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15</a:t>
                      </a:r>
                      <a:r>
                        <a:rPr lang="si-LK" sz="120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යි 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3777" marR="437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අස්ථි බිඳීමට </a:t>
                      </a:r>
                      <a:endParaRPr lang="si-LK" sz="12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්‍රතිකාර කිරිම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3777" marR="437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උපදේශක: මාංශ පේශිවල තුවාල හඳුනාගෙන 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Splinting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සිදු කරන ආකාරය පැහැදිලි කරන 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PowerPoint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ඉදිරිපත් කිරීම සහ වීඩියෝව පෙන්වන්න.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3777" marR="437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FR </a:t>
                      </a: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ඉදිරිපත් කිරීම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6.4a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ඉදිරිපත් කරන්නා / තිරය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පන්ති කාමරය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3777" marR="437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5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සහභාගිවන්නා: ඉගෙනීමේ කරුණු පැහැදිලි කිරීමට ප්‍රශ්න අසමින් අවශ්‍ය පරිදි සවන් දීම සහ අන්තර් ක්‍රියාකරීත්වය.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3777" marR="437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30057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මිනිත්තු </a:t>
                      </a:r>
                      <a:r>
                        <a:rPr lang="en-US" sz="120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10</a:t>
                      </a:r>
                      <a:r>
                        <a:rPr lang="si-LK" sz="120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යි 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3777" marR="437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පිළිස්සුම් තුවාල සදහා </a:t>
                      </a:r>
                      <a:endParaRPr lang="si-LK" sz="12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ප්‍රතිකාර කිරිම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3777" marR="437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උපදේශක: පවර්පොයින්ට් ඉදිරිපත් කිරීම මගින් සහ පිළිස්සුම් හඳුනා ගන්නා ආකාරය සහ ප්‍රතිකාර කරන ආකාරය විස්තර කරන වීඩියෝව පෙන්වන්න.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3777" marR="437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FR </a:t>
                      </a: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ඉදිරිපත් කිරීම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6.4b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ඉදිරිපත් කරන්නා / තිරය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පන්ති කාමරය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3777" marR="437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5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සහභාගිවන්නා: ඉගෙනීමේ කරුණු පැහැදිලි කිරීමට ප්‍රශ්න අසමින් අවශ්‍ය පරිදි සවන් දීම අන්තර් ක්‍රියාකාරීත්වය.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3777" marR="437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4360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විනාඩි </a:t>
                      </a:r>
                      <a:r>
                        <a:rPr lang="en-US" sz="120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10</a:t>
                      </a:r>
                      <a:r>
                        <a:rPr lang="si-LK" sz="120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යි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3777" marR="437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ශරීරයේ ඇණුනු ලද වස්තූන් </a:t>
                      </a:r>
                      <a:endParaRPr lang="si-LK" sz="12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සඳහ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්‍රතිකාර කිරීම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3777" marR="437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උපදේශක: පවර්පොයින්ට් ඉදිරිපත් කිරීම සහ ශරීරයේ ඇණුනු ලද වස්තුවකට ප්‍රතිකාර කරන්නේ කෙසේද යන්න පැහැදිලි කරන වීඩියෝව පෙන්වීම.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3777" marR="437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FR </a:t>
                      </a: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ඉදිරිපත් කිරීම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6.4b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ඉදිරිපත් කරන්නා / තිරය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පන්ති කාමරය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3777" marR="437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5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සහභාගිවන්නා: ඉගෙනීමේ කරුණු පැහැදිලි කිරීමට ප්‍රශ්න අසමින් අවශ්‍ය පරිදි සවන් දීම අන්තර් ක්‍රියාකාරීත්වය.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3777" marR="437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20116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මිනිත්තු </a:t>
                      </a:r>
                      <a:r>
                        <a:rPr lang="en-US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10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යි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3777" marR="437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කපා ඉවත් කිරීම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ේ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ප්‍රතිකාරය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3777" marR="437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උපදේශක: ශරීරයෙන් වෙන් වු ශරීර කොටසක් සහිත රෝගියෙකුට ප්‍රතිකාර කරන්නේ කෙසේද සහ ශරීරයෙන් වෙන් වු ශරීර කොටස රැකබලා ගන්නේ කෙසේද යන්න පැහැදිලි කරන 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PowerPoint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ඉදිරිපත් කිරීම සහ වීඩියෝව පෙන්වීම.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3777" marR="437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FR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ඉදිරිපත් කිරීම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6.4b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ඉදිරිපත් කරන්නා / තිරය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පන්ති කාමරය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3777" marR="437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5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සහභාගිවන්නා: ඉගෙනීමේ කරුණු පැහැදිලි කිරීමට ප්‍රශ්න අසමින් අවශ්‍ය පරිදි සවන් දීම සහ අන්තර් ක්‍රියාකාරීත්වය.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3777" marR="437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725863" y="18256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289" y="6648421"/>
            <a:ext cx="686942" cy="239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441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78352"/>
              </p:ext>
            </p:extLst>
          </p:nvPr>
        </p:nvGraphicFramePr>
        <p:xfrm>
          <a:off x="427718" y="367279"/>
          <a:ext cx="11394168" cy="3791064"/>
        </p:xfrm>
        <a:graphic>
          <a:graphicData uri="http://schemas.openxmlformats.org/drawingml/2006/table">
            <a:tbl>
              <a:tblPr firstRow="1" firstCol="1" bandRow="1"/>
              <a:tblGrid>
                <a:gridCol w="3722907"/>
                <a:gridCol w="7671261"/>
              </a:tblGrid>
              <a:tr h="236942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 සටහන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55412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රෝගියාගේ ප්‍රතිකාර: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රුධිර වහනය ප්‍රතිකාර කිරීම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ලේ ගැලීම සහ අස්ථි බිඳීම් පිළිබද ඉදිරිපත් කිරීම 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6.4a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හි ඇත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පිළිස්සීම්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ඇඹරීම් සහ ශරීර කොටස් කපා ඉවත් කිරීම් 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6.4b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ඉදිරිපත් කිරීමෙහි  අඩංගුව ඇත.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ශරීරයේ පීඩන ස්ථාන යොදාගෙන එම ස්ථානයට සෘජු පීඩනය ලබාදීම සහ අත ඉහළට සිටින සේ තබා ගැනිමෙන් රුධිර වහනය පාලනය කරන ආකාරය උපදේශකයා විසින් පෙන්වාදීම.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සැසියට සහභාගිවන්නන්ට පහත සඳහන් දෑ අවශ්‍ය වේ.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</a:p>
                    <a:p>
                      <a:pPr marL="342900" marR="0" lvl="0" indent="-4763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අත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්වැසුම්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4763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ග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ෝස් වෙලුම් පටි (හෝ ඒ හා සමාන ද්‍රව්‍ය)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4763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ව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ෙළුම් පටිය (හෝ ඒ හා සමාන ද්‍රව්‍ය)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7512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Overlay-2ColumnText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308472" y="879087"/>
            <a:ext cx="3428149" cy="5171757"/>
          </a:xfrm>
          <a:prstGeom prst="round2DiagRect">
            <a:avLst/>
          </a:prstGeom>
          <a:gradFill flip="none" rotWithShape="1">
            <a:gsLst>
              <a:gs pos="0">
                <a:srgbClr val="38ABED"/>
              </a:gs>
              <a:gs pos="100000">
                <a:srgbClr val="1B3861"/>
              </a:gs>
            </a:gsLst>
            <a:lin ang="5400000" scaled="0"/>
            <a:tileRect/>
          </a:gradFill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1" y="136525"/>
            <a:ext cx="2463800" cy="457200"/>
          </a:xfrm>
          <a:prstGeom prst="rect">
            <a:avLst/>
          </a:prstGeom>
        </p:spPr>
      </p:pic>
      <p:sp>
        <p:nvSpPr>
          <p:cNvPr id="4" name="Title 3"/>
          <p:cNvSpPr txBox="1">
            <a:spLocks noGrp="1"/>
          </p:cNvSpPr>
          <p:nvPr>
            <p:ph type="title"/>
          </p:nvPr>
        </p:nvSpPr>
        <p:spPr>
          <a:xfrm>
            <a:off x="490653" y="1142804"/>
            <a:ext cx="4371278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  <a:t>පළමුව </a:t>
            </a:r>
            <a:b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</a:br>
            <a: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  <a:t>ප්‍රතිචාර දක්වන්නා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8473" y="2467781"/>
            <a:ext cx="11001784" cy="4694918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si-LK" sz="2400" dirty="0"/>
              <a:t>ඉදිරිපත් කිරිමේ මාතෘකා</a:t>
            </a:r>
            <a:r>
              <a:rPr lang="si-LK" sz="2400" dirty="0" smtClean="0"/>
              <a:t>ව	:- </a:t>
            </a:r>
            <a:r>
              <a:rPr lang="si-LK" sz="2400" dirty="0"/>
              <a:t>රෝගියාට ප්‍රතිකාර කිරීම	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si-LK" sz="2400" dirty="0" smtClean="0"/>
              <a:t>	ම</a:t>
            </a:r>
            <a:r>
              <a:rPr lang="si-LK" sz="2400" dirty="0"/>
              <a:t>ොඩියුලර</a:t>
            </a:r>
            <a:r>
              <a:rPr lang="si-LK" sz="2400" dirty="0" smtClean="0"/>
              <a:t>්		: 6.4</a:t>
            </a:r>
            <a:r>
              <a:rPr lang="en-US" sz="2400" dirty="0" smtClean="0"/>
              <a:t>a</a:t>
            </a:r>
            <a:endParaRPr lang="si-LK" sz="2400" dirty="0" smtClean="0"/>
          </a:p>
          <a:p>
            <a:pPr marL="0" indent="0">
              <a:buNone/>
            </a:pP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si-LK" sz="2400" dirty="0" smtClean="0"/>
              <a:t>ඉදිරිපත් කරන්නන්/ උපදේශක	:- ඉදිරිපත් කරන්නන්ගේ නම මෙහි </a:t>
            </a:r>
            <a:r>
              <a:rPr lang="si-LK" sz="2400" dirty="0"/>
              <a:t>එක</a:t>
            </a:r>
            <a:r>
              <a:rPr lang="si-LK" sz="2400" dirty="0" smtClean="0"/>
              <a:t>් කරන</a:t>
            </a:r>
            <a:r>
              <a:rPr lang="si-LK" sz="2400" dirty="0"/>
              <a:t>්න.</a:t>
            </a:r>
            <a:r>
              <a:rPr lang="si-LK" sz="2200" dirty="0" smtClean="0"/>
              <a:t>					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si-LK" dirty="0" smtClean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Coordination Saves Lives</a:t>
            </a:r>
            <a:endParaRPr lang="si-LK" sz="1600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 smtClean="0"/>
              <a:t>						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							</a:t>
            </a:r>
            <a:r>
              <a:rPr lang="si-LK" dirty="0" smtClean="0"/>
              <a:t>	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/>
          <a:srcRect l="28981" t="79333" r="13981" b="13852"/>
          <a:stretch/>
        </p:blipFill>
        <p:spPr>
          <a:xfrm>
            <a:off x="198160" y="6230892"/>
            <a:ext cx="11907157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503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070" y="1042635"/>
            <a:ext cx="6972021" cy="451410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3600" b="1" dirty="0"/>
          </a:p>
          <a:p>
            <a:pPr marL="0" indent="0">
              <a:buNone/>
            </a:pPr>
            <a:r>
              <a:rPr lang="si-LK" sz="3600" dirty="0"/>
              <a:t>මූලික වෛද්‍ය ගලවා ගැනි</a:t>
            </a:r>
            <a:r>
              <a:rPr lang="si-LK" sz="3600" dirty="0" smtClean="0"/>
              <a:t>ම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si-LK" sz="3600" dirty="0"/>
              <a:t> </a:t>
            </a:r>
            <a:r>
              <a:rPr lang="si-LK" sz="3600" dirty="0" smtClean="0"/>
              <a:t>  ර</a:t>
            </a:r>
            <a:r>
              <a:rPr lang="si-LK" sz="3600" dirty="0"/>
              <a:t>ෝගියාට ප්‍රතිකාර කිරී</a:t>
            </a:r>
            <a:r>
              <a:rPr lang="si-LK" sz="3600" dirty="0" smtClean="0"/>
              <a:t>ම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si-LK" sz="3600" dirty="0"/>
              <a:t>රුධිර වහනය සහ අස්ථි බිඳීම්</a:t>
            </a:r>
            <a:endParaRPr lang="en-US" sz="3600" dirty="0"/>
          </a:p>
          <a:p>
            <a:pPr marL="0" indent="0">
              <a:buNone/>
            </a:pPr>
            <a:endParaRPr lang="si-LK" sz="3600" b="1" dirty="0" smtClean="0"/>
          </a:p>
          <a:p>
            <a:pPr marL="0" indent="0">
              <a:buNone/>
            </a:pPr>
            <a:endParaRPr lang="en-US" sz="3600" b="1" dirty="0"/>
          </a:p>
          <a:p>
            <a:pPr marL="0" indent="0" algn="ctr">
              <a:buNone/>
            </a:pPr>
            <a:endParaRPr lang="si-LK" sz="3600" b="1" dirty="0"/>
          </a:p>
          <a:p>
            <a:pPr marL="0" indent="0" algn="ctr">
              <a:buNone/>
            </a:pPr>
            <a:endParaRPr lang="en-US" sz="3600" b="1" dirty="0" smtClean="0"/>
          </a:p>
          <a:p>
            <a:pPr marL="0" indent="0" algn="ctr">
              <a:buNone/>
            </a:pPr>
            <a:endParaRPr lang="si-LK" sz="3600" b="1" dirty="0" smtClean="0"/>
          </a:p>
          <a:p>
            <a:endParaRPr lang="si-LK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1" y="136525"/>
            <a:ext cx="2463800" cy="457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pic>
        <p:nvPicPr>
          <p:cNvPr id="11" name="Picture 10" descr="Overlay-2ColumnText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7981244" y="223365"/>
            <a:ext cx="3603014" cy="5688981"/>
          </a:xfrm>
          <a:prstGeom prst="round2DiagRect">
            <a:avLst/>
          </a:prstGeom>
          <a:gradFill flip="none" rotWithShape="1">
            <a:gsLst>
              <a:gs pos="0">
                <a:srgbClr val="38ABED"/>
              </a:gs>
              <a:gs pos="100000">
                <a:srgbClr val="1B3861"/>
              </a:gs>
            </a:gsLst>
            <a:lin ang="5400000" scaled="0"/>
            <a:tileRect/>
          </a:gradFill>
        </p:spPr>
      </p:pic>
      <p:sp>
        <p:nvSpPr>
          <p:cNvPr id="12" name="Title 3"/>
          <p:cNvSpPr txBox="1">
            <a:spLocks noGrp="1"/>
          </p:cNvSpPr>
          <p:nvPr>
            <p:ph type="title"/>
          </p:nvPr>
        </p:nvSpPr>
        <p:spPr>
          <a:xfrm>
            <a:off x="7236178" y="372126"/>
            <a:ext cx="4084965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  <a:t>පළමුව </a:t>
            </a:r>
            <a:b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</a:br>
            <a: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  <a:t>ප්‍රතිචාර දක්වන්නා</a:t>
            </a:r>
            <a:endParaRPr lang="en-US" sz="3600" b="1" dirty="0"/>
          </a:p>
        </p:txBody>
      </p:sp>
      <p:sp>
        <p:nvSpPr>
          <p:cNvPr id="13" name="Rectangle 12"/>
          <p:cNvSpPr/>
          <p:nvPr/>
        </p:nvSpPr>
        <p:spPr>
          <a:xfrm>
            <a:off x="8161867" y="5278398"/>
            <a:ext cx="29976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Coordination Saves Lives</a:t>
            </a:r>
          </a:p>
        </p:txBody>
      </p:sp>
    </p:spTree>
    <p:extLst>
      <p:ext uri="{BB962C8B-B14F-4D97-AF65-F5344CB8AC3E}">
        <p14:creationId xmlns:p14="http://schemas.microsoft.com/office/powerpoint/2010/main" val="3619079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84154" y="1089764"/>
            <a:ext cx="4960012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රෝගියාට ප්‍රතිකාර කිරීම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35289" y="2314549"/>
            <a:ext cx="6096000" cy="237475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ලේ ගැලීම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අස්ථි බිඳීම්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පිළිස්සුම්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ශරීරයේ ඇණුනු වස්තූන්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අත් පා කැපීම්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717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11200" y="873848"/>
            <a:ext cx="6096000" cy="134376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රෝගියාට ප්‍රතිකාර කිරීම</a:t>
            </a: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si-LK" sz="3600" dirty="0">
                <a:latin typeface="Calibri" panose="020F0502020204030204" pitchFamily="34" charset="0"/>
                <a:ea typeface="Calibri" panose="020F0502020204030204" pitchFamily="34" charset="0"/>
              </a:rPr>
              <a:t>ඉගෙනුම් ප්‍රතිඵල</a:t>
            </a:r>
            <a:endParaRPr lang="en-U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24088" y="2351233"/>
            <a:ext cx="11187290" cy="3296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රුධිර වහනය පාලනය කිරීම සඳහා ප්‍රතිකර්මයන් යොදන්න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අස්ථි බිඳීම සදහා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Splinting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සිදු කිරිම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පිළිස්සුම් සඳහා හදිසි ප්‍රතිකාර ලබා දීම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ස්ථීර ශරීර අවයව සදහා සහ ශරීරයේ එල්ලා වැටෙන ශරීර කොටස් වෙත ප්‍රතිකාර කිරිම.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ශරීර කොටස් කපා ඉවත් කළ රෝගියෙකුට හදිසි ප්‍රතිකාර ලබා දීම සහ කපා දැමු  හෝ වෙන් වු සිරුරේ කොටස රැකබලා ගැනීම.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2906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84154" y="1089764"/>
            <a:ext cx="4960012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රෝගියාට ප්‍රතිකාර කිරීම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35289" y="2314549"/>
            <a:ext cx="6096000" cy="237475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ලේ ගැලීම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අස්ථි බිඳීම්</a:t>
            </a:r>
            <a:endParaRPr lang="en-US" sz="2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පිළිස්සුම්</a:t>
            </a:r>
            <a:endParaRPr lang="en-US" sz="2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ශරීරයේ ඇණුනු වස්තූන්</a:t>
            </a:r>
            <a:endParaRPr lang="en-US" sz="2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අත් පා කැපීම්</a:t>
            </a:r>
            <a:endParaRPr lang="en-US" sz="28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174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316802" y="1033319"/>
            <a:ext cx="2021707" cy="6582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3600" b="1" dirty="0">
                <a:latin typeface="Calibri" panose="020F0502020204030204" pitchFamily="34" charset="0"/>
                <a:ea typeface="Calibri" panose="020F0502020204030204" pitchFamily="34" charset="0"/>
              </a:rPr>
              <a:t>ලේ ගැලීම</a:t>
            </a:r>
            <a:endParaRPr lang="en-US" sz="3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46667" y="1814985"/>
            <a:ext cx="10114844" cy="3517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ලේ ගැලීමේ ප්‍රභවයන්: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ධමනි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ශිරා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කේශනාලික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ා</a:t>
            </a: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ලේ ගැලීමේ වර්ග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බාහිර: පැහැදිලි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දැකීමට පහසුය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අභ්‍යාන්තර: නිරීක්ෂණ කළ නොහැක = භයානකයි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493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65122" y="976875"/>
            <a:ext cx="2225289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ලේ ගැලීම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65121" y="1782432"/>
            <a:ext cx="10889811" cy="4505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ප්‍රතිකාර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ආරක්ෂාව -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CABC</a:t>
            </a: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බොහෝ බාහිර රුධිර වහනය නතර කළ හැකි වන්නේ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චලනය අවම කරන්න: චලනය = ලේ ගැලීම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හැකි නම් ඉහළට රුධිරය වහනය වන කොටස් ඔසවන්න: අත් පා තුවාලයක් නම්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හදවතේ මට්ටමට වඩා එම කොටස් ඉහළට ඔසවන්න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සෘජු පීඩනය එම ස්ථානයට යොදන්න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463550" indent="55563">
              <a:lnSpc>
                <a:spcPct val="107000"/>
              </a:lnSpc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සහ හෝ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Pressure dressing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භාවිතා කරන්න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පිරිසිදුම ද්‍රව්‍ය භාවිතා කරන්න උදා. ටී ෂර්ට් එකක් හෝ පත්‍රයක්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831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761067" y="740229"/>
            <a:ext cx="6096000" cy="37555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67613" y="740229"/>
            <a:ext cx="2220480" cy="7185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ලේ ගැලීම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7613" y="1960618"/>
            <a:ext cx="10905098" cy="2397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ප්‍රතිකාර (අඛණ්ඩව)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පොඟවා ඇති ඇඳුම මත නව ඇඳුම් කොටසක් තබන්න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පැරණි ඇඳුම් ඉවත් නොකරන්න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රුධිර වහනය නතර වන තුරු දැඩි පීඩනය අඛණ්ඩව පවත්වා ගන්න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හැකි ඉක්මනින් ප්‍රවාහනය කරන්න (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ASAP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)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324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761067" y="740229"/>
            <a:ext cx="6096000" cy="37555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65122" y="976875"/>
            <a:ext cx="2225289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ලේ ගැලීම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65122" y="2072222"/>
            <a:ext cx="6995145" cy="28584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ප්‍රතිකාර (අඛණ්ඩව)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971550" lvl="1" indent="-457200" algn="just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රුධිර වහනය සෘජු පීඩනය සහ උස සමඟ නතර නොවේ නම් 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9144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 (උදා: ධමනියකින් සිදුවන රුධිර වහනය) අමතරව පීඩන ලක්ෂ්‍යයක් තෝරාගෙන තද පීඩනය එම ස්ථානයට යොදන්න.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1026" name="Picture 2" descr="Full Size Picture point pressur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3012" y="384233"/>
            <a:ext cx="2577832" cy="5309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4109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65122" y="976875"/>
            <a:ext cx="2225289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ලේ ගැලීම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53066" y="2204511"/>
            <a:ext cx="10126133" cy="1673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උපදේශක විසින් නිරූපනය: ශරීර කොටස් ඉහළ තබා ගැනිම සමඟ සෘජු පීඩනය ලබාදීම සහ පීඩන ස්ථාන භාවිතා කිරීම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685800" marR="0" indent="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උපරිම කාලය විනාඩි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5 </a:t>
            </a: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යි</a:t>
            </a: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98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65122" y="976875"/>
            <a:ext cx="2225289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ලේ ගැලීම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65122" y="1851360"/>
            <a:ext cx="10630167" cy="1607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ප්‍රතිකාර (අඛණ්ඩව)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රුධිර වහනය නතර නොවන්නේ නම්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අත් හෝ පාද ශරීරයේ හෘදය ඇති මට්ටමට වඩා ඉහළට ඔසවන්න</a:t>
            </a: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2050" name="Picture 2" descr="Elevate Your Legs, and Your Game | Soccer Fitnes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623" y="2894312"/>
            <a:ext cx="4222042" cy="335082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3099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65122" y="976875"/>
            <a:ext cx="2225289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ලේ ගැලීම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78933" y="2074630"/>
            <a:ext cx="11029244" cy="24633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ප්‍රතිකාර (අඛණ්ඩව)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ටර්නික්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 (Tourniquets)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: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දරුණු සංකූලතා අවස්ථාවල යොදා ගනි. (උදා: අත් පා අහිමි වීම)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නිරපේක්ෂ අවසාන විසඳුම විකල්පයක් ලෙස භාවිතා කරනවා මිස මෙම ක්‍රමය භාවිතය කිරිම අවම කළ යුතුය.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බොහෝ රුධිර වහනය ටර්නික් වලින් තොරව පාලනය කරනු හැක.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72751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65122" y="976875"/>
            <a:ext cx="2225289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ලේ ගැලීම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75644" y="2020755"/>
            <a:ext cx="10818384" cy="2331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රන් රීතිය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1: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පීඩනය යොදන්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න</a:t>
            </a:r>
            <a:endParaRPr lang="en-US" sz="2800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රන් රීතිය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2: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අතපය ඔසවන්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න</a:t>
            </a:r>
            <a:endParaRPr lang="en-US" sz="2800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සටහන: බොහෝ විට ඔබට කිසි විටෙක ටර්නික් භාවිතා කිරීමට අවශ්‍ය නොවනු ඇත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1209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ChangeArrowheads="1"/>
          </p:cNvSpPr>
          <p:nvPr/>
        </p:nvSpPr>
        <p:spPr bwMode="auto">
          <a:xfrm>
            <a:off x="1981200" y="304800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marL="382588" indent="-3429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fontAlgn="base">
              <a:spcBef>
                <a:spcPts val="800"/>
              </a:spcBef>
              <a:spcAft>
                <a:spcPct val="0"/>
              </a:spcAft>
              <a:buClr>
                <a:srgbClr val="FFFFFF"/>
              </a:buClr>
              <a:buSzPct val="100000"/>
            </a:pPr>
            <a:endParaRPr lang="en-US" sz="4000">
              <a:solidFill>
                <a:srgbClr val="056CB6"/>
              </a:solidFill>
              <a:latin typeface="Arial" panose="020B0604020202020204" pitchFamily="34" charset="0"/>
              <a:sym typeface="Times" panose="02020603050405020304" pitchFamily="18" charset="0"/>
            </a:endParaRPr>
          </a:p>
        </p:txBody>
      </p:sp>
      <p:sp>
        <p:nvSpPr>
          <p:cNvPr id="13315" name="TextBox 1"/>
          <p:cNvSpPr txBox="1">
            <a:spLocks noChangeArrowheads="1"/>
          </p:cNvSpPr>
          <p:nvPr/>
        </p:nvSpPr>
        <p:spPr bwMode="auto">
          <a:xfrm>
            <a:off x="2133600" y="609601"/>
            <a:ext cx="82296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pic>
        <p:nvPicPr>
          <p:cNvPr id="13316" name="Picture 1" descr="backgroun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524000"/>
            <a:ext cx="8763000" cy="299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TextBox 2"/>
          <p:cNvSpPr txBox="1">
            <a:spLocks noChangeArrowheads="1"/>
          </p:cNvSpPr>
          <p:nvPr/>
        </p:nvSpPr>
        <p:spPr bwMode="auto">
          <a:xfrm>
            <a:off x="3276600" y="2592388"/>
            <a:ext cx="28194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4400">
                <a:solidFill>
                  <a:srgbClr val="FFFFFF"/>
                </a:solidFill>
                <a:latin typeface="Avenir Medium" charset="0"/>
              </a:rPr>
              <a:t>Questions</a:t>
            </a:r>
          </a:p>
        </p:txBody>
      </p:sp>
      <p:sp>
        <p:nvSpPr>
          <p:cNvPr id="13318" name="TextBox 4"/>
          <p:cNvSpPr txBox="1">
            <a:spLocks noChangeArrowheads="1"/>
          </p:cNvSpPr>
          <p:nvPr/>
        </p:nvSpPr>
        <p:spPr bwMode="auto">
          <a:xfrm rot="-5400000">
            <a:off x="5450682" y="3358357"/>
            <a:ext cx="17526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Cuestión</a:t>
            </a:r>
          </a:p>
        </p:txBody>
      </p:sp>
      <p:sp>
        <p:nvSpPr>
          <p:cNvPr id="13319" name="Rectangle 6"/>
          <p:cNvSpPr>
            <a:spLocks noChangeArrowheads="1"/>
          </p:cNvSpPr>
          <p:nvPr/>
        </p:nvSpPr>
        <p:spPr bwMode="auto">
          <a:xfrm>
            <a:off x="7086600" y="1676401"/>
            <a:ext cx="17986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La question</a:t>
            </a:r>
          </a:p>
        </p:txBody>
      </p:sp>
      <p:sp>
        <p:nvSpPr>
          <p:cNvPr id="13320" name="Rectangle 7"/>
          <p:cNvSpPr>
            <a:spLocks noChangeArrowheads="1"/>
          </p:cNvSpPr>
          <p:nvPr/>
        </p:nvSpPr>
        <p:spPr bwMode="auto">
          <a:xfrm>
            <a:off x="7086600" y="2582864"/>
            <a:ext cx="137569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ar-SA" sz="4400">
                <a:solidFill>
                  <a:srgbClr val="FFFFFF"/>
                </a:solidFill>
              </a:rPr>
              <a:t>الأسئلة</a:t>
            </a:r>
            <a:endParaRPr lang="en-US" sz="4400">
              <a:solidFill>
                <a:srgbClr val="FFFFFF"/>
              </a:solidFill>
            </a:endParaRPr>
          </a:p>
        </p:txBody>
      </p:sp>
      <p:sp>
        <p:nvSpPr>
          <p:cNvPr id="13321" name="Rectangle 8"/>
          <p:cNvSpPr>
            <a:spLocks noChangeArrowheads="1"/>
          </p:cNvSpPr>
          <p:nvPr/>
        </p:nvSpPr>
        <p:spPr bwMode="auto">
          <a:xfrm>
            <a:off x="1905001" y="3200401"/>
            <a:ext cx="1801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bg-BG" sz="3600">
                <a:solidFill>
                  <a:srgbClr val="FFFFFF"/>
                </a:solidFill>
              </a:rPr>
              <a:t>въпроси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3322" name="Rectangle 9"/>
          <p:cNvSpPr>
            <a:spLocks noChangeArrowheads="1"/>
          </p:cNvSpPr>
          <p:nvPr/>
        </p:nvSpPr>
        <p:spPr bwMode="auto">
          <a:xfrm>
            <a:off x="5334001" y="1676401"/>
            <a:ext cx="11080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TW" altLang="en-US" sz="3600">
                <a:solidFill>
                  <a:srgbClr val="FFFFFF"/>
                </a:solidFill>
              </a:rPr>
              <a:t>问题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3323" name="Rectangle 10"/>
          <p:cNvSpPr>
            <a:spLocks noChangeArrowheads="1"/>
          </p:cNvSpPr>
          <p:nvPr/>
        </p:nvSpPr>
        <p:spPr bwMode="auto">
          <a:xfrm>
            <a:off x="5029201" y="3429001"/>
            <a:ext cx="10969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otázky</a:t>
            </a:r>
          </a:p>
        </p:txBody>
      </p:sp>
      <p:sp>
        <p:nvSpPr>
          <p:cNvPr id="13324" name="Rectangle 11"/>
          <p:cNvSpPr>
            <a:spLocks noChangeArrowheads="1"/>
          </p:cNvSpPr>
          <p:nvPr/>
        </p:nvSpPr>
        <p:spPr bwMode="auto">
          <a:xfrm>
            <a:off x="6826250" y="3886201"/>
            <a:ext cx="1860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spørgsmål</a:t>
            </a:r>
          </a:p>
        </p:txBody>
      </p:sp>
      <p:sp>
        <p:nvSpPr>
          <p:cNvPr id="13325" name="Rectangle 12"/>
          <p:cNvSpPr>
            <a:spLocks noChangeArrowheads="1"/>
          </p:cNvSpPr>
          <p:nvPr/>
        </p:nvSpPr>
        <p:spPr bwMode="auto">
          <a:xfrm rot="-5400000">
            <a:off x="2151856" y="2267744"/>
            <a:ext cx="14620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FFFFFF"/>
                </a:solidFill>
                <a:latin typeface="Avenir Medium" charset="0"/>
              </a:rPr>
              <a:t>vragen</a:t>
            </a:r>
          </a:p>
        </p:txBody>
      </p:sp>
      <p:sp>
        <p:nvSpPr>
          <p:cNvPr id="13326" name="Rectangle 13"/>
          <p:cNvSpPr>
            <a:spLocks noChangeArrowheads="1"/>
          </p:cNvSpPr>
          <p:nvPr/>
        </p:nvSpPr>
        <p:spPr bwMode="auto">
          <a:xfrm>
            <a:off x="4267201" y="3962401"/>
            <a:ext cx="16557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küsimused</a:t>
            </a:r>
          </a:p>
        </p:txBody>
      </p:sp>
      <p:sp>
        <p:nvSpPr>
          <p:cNvPr id="13327" name="Rectangle 14"/>
          <p:cNvSpPr>
            <a:spLocks noChangeArrowheads="1"/>
          </p:cNvSpPr>
          <p:nvPr/>
        </p:nvSpPr>
        <p:spPr bwMode="auto">
          <a:xfrm>
            <a:off x="7086600" y="2209801"/>
            <a:ext cx="17859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kysymykset</a:t>
            </a:r>
          </a:p>
        </p:txBody>
      </p:sp>
      <p:sp>
        <p:nvSpPr>
          <p:cNvPr id="13328" name="Rectangle 15"/>
          <p:cNvSpPr>
            <a:spLocks noChangeArrowheads="1"/>
          </p:cNvSpPr>
          <p:nvPr/>
        </p:nvSpPr>
        <p:spPr bwMode="auto">
          <a:xfrm rot="-5400000">
            <a:off x="1476376" y="2201863"/>
            <a:ext cx="165576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600">
                <a:solidFill>
                  <a:srgbClr val="FFFFFF"/>
                </a:solidFill>
                <a:latin typeface="Avenir Medium" charset="0"/>
              </a:rPr>
              <a:t>Fragen</a:t>
            </a:r>
          </a:p>
        </p:txBody>
      </p:sp>
      <p:sp>
        <p:nvSpPr>
          <p:cNvPr id="13329" name="Rectangle 16"/>
          <p:cNvSpPr>
            <a:spLocks noChangeArrowheads="1"/>
          </p:cNvSpPr>
          <p:nvPr/>
        </p:nvSpPr>
        <p:spPr bwMode="auto">
          <a:xfrm>
            <a:off x="5410200" y="2667001"/>
            <a:ext cx="762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13330" name="Rectangle 18"/>
          <p:cNvSpPr>
            <a:spLocks noChangeArrowheads="1"/>
          </p:cNvSpPr>
          <p:nvPr/>
        </p:nvSpPr>
        <p:spPr bwMode="auto">
          <a:xfrm>
            <a:off x="3276601" y="2133601"/>
            <a:ext cx="20617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</a:rPr>
              <a:t>सवालों के जवाब</a:t>
            </a:r>
          </a:p>
        </p:txBody>
      </p:sp>
      <p:sp>
        <p:nvSpPr>
          <p:cNvPr id="13331" name="Rectangle 19"/>
          <p:cNvSpPr>
            <a:spLocks noChangeArrowheads="1"/>
          </p:cNvSpPr>
          <p:nvPr/>
        </p:nvSpPr>
        <p:spPr bwMode="auto">
          <a:xfrm>
            <a:off x="1752600" y="3886200"/>
            <a:ext cx="22669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FFFFFF"/>
                </a:solidFill>
                <a:latin typeface="Avenir Medium" charset="0"/>
              </a:rPr>
              <a:t>pertanyaan</a:t>
            </a:r>
          </a:p>
        </p:txBody>
      </p:sp>
      <p:sp>
        <p:nvSpPr>
          <p:cNvPr id="13332" name="Rectangle 20"/>
          <p:cNvSpPr>
            <a:spLocks noChangeArrowheads="1"/>
          </p:cNvSpPr>
          <p:nvPr/>
        </p:nvSpPr>
        <p:spPr bwMode="auto">
          <a:xfrm rot="-5400000">
            <a:off x="5919788" y="2279651"/>
            <a:ext cx="17287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domande</a:t>
            </a:r>
          </a:p>
        </p:txBody>
      </p:sp>
      <p:sp>
        <p:nvSpPr>
          <p:cNvPr id="13333" name="Rectangle 21"/>
          <p:cNvSpPr>
            <a:spLocks noChangeArrowheads="1"/>
          </p:cNvSpPr>
          <p:nvPr/>
        </p:nvSpPr>
        <p:spPr bwMode="auto">
          <a:xfrm>
            <a:off x="3886200" y="3352800"/>
            <a:ext cx="1004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ja-JP" altLang="en-US" sz="3200">
                <a:solidFill>
                  <a:srgbClr val="FFFFFF"/>
                </a:solidFill>
              </a:rPr>
              <a:t>質問</a:t>
            </a:r>
            <a:endParaRPr lang="en-US" sz="3200">
              <a:solidFill>
                <a:srgbClr val="FFFFFF"/>
              </a:solidFill>
            </a:endParaRPr>
          </a:p>
        </p:txBody>
      </p:sp>
      <p:sp>
        <p:nvSpPr>
          <p:cNvPr id="13334" name="Rectangle 22"/>
          <p:cNvSpPr>
            <a:spLocks noChangeArrowheads="1"/>
          </p:cNvSpPr>
          <p:nvPr/>
        </p:nvSpPr>
        <p:spPr bwMode="auto">
          <a:xfrm>
            <a:off x="5105401" y="2286001"/>
            <a:ext cx="15922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perguntas</a:t>
            </a:r>
          </a:p>
        </p:txBody>
      </p:sp>
      <p:sp>
        <p:nvSpPr>
          <p:cNvPr id="13335" name="Rectangle 23"/>
          <p:cNvSpPr>
            <a:spLocks noChangeArrowheads="1"/>
          </p:cNvSpPr>
          <p:nvPr/>
        </p:nvSpPr>
        <p:spPr bwMode="auto">
          <a:xfrm>
            <a:off x="3654426" y="1600201"/>
            <a:ext cx="13989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Times" panose="02020603050405020304" pitchFamily="18" charset="0"/>
              </a:rPr>
              <a:t>вопросов</a:t>
            </a:r>
          </a:p>
        </p:txBody>
      </p:sp>
      <p:sp>
        <p:nvSpPr>
          <p:cNvPr id="13336" name="Rectangle 24"/>
          <p:cNvSpPr>
            <a:spLocks noChangeArrowheads="1"/>
          </p:cNvSpPr>
          <p:nvPr/>
        </p:nvSpPr>
        <p:spPr bwMode="auto">
          <a:xfrm>
            <a:off x="7162800" y="3360738"/>
            <a:ext cx="11366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sorular</a:t>
            </a:r>
          </a:p>
        </p:txBody>
      </p:sp>
      <p:sp>
        <p:nvSpPr>
          <p:cNvPr id="13337" name="TextBox 25"/>
          <p:cNvSpPr txBox="1">
            <a:spLocks noChangeArrowheads="1"/>
          </p:cNvSpPr>
          <p:nvPr/>
        </p:nvSpPr>
        <p:spPr bwMode="auto">
          <a:xfrm>
            <a:off x="8991600" y="1371601"/>
            <a:ext cx="1524000" cy="315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9900">
                <a:solidFill>
                  <a:srgbClr val="FFFFFF"/>
                </a:solidFill>
                <a:latin typeface="Avenir Medium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9877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05256" y="1033319"/>
            <a:ext cx="4960012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රෝගියාට ප්‍රතිකාර කිරීම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46667" y="2145215"/>
            <a:ext cx="6096000" cy="237475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ලේ ගැලීම</a:t>
            </a:r>
            <a:endParaRPr lang="en-US" sz="2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අස්ථි බිඳීම්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පිළිස්සුම්</a:t>
            </a:r>
            <a:endParaRPr lang="en-US" sz="2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ඇණ ගැසූ වස්තුව</a:t>
            </a:r>
            <a:endParaRPr lang="en-US" sz="2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අත් පා කැපීම්</a:t>
            </a:r>
            <a:endParaRPr lang="en-US" sz="28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89664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4548" y="830119"/>
            <a:ext cx="9787674" cy="1380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මස්කියුලොස්ක්ලේටල් </a:t>
            </a:r>
            <a:r>
              <a:rPr lang="en-US" sz="4000" b="1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(Musculoskeletal) </a:t>
            </a: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තුවාල</a:t>
            </a: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</a:pP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41778" y="2188943"/>
            <a:ext cx="6096000" cy="3319498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වර්ග: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අස්ථි බිඳීම්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අවතැන්වීම්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උළුක්කු වි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</a:t>
            </a:r>
            <a:endParaRPr lang="en-US" sz="2800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1257300" lvl="2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වෙන්කිරිම අපහසුයි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එම ආකාරයෙන්ම සලකන්න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52088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954637" y="1101052"/>
            <a:ext cx="2215671" cy="7185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අස්ථි බිඳීම්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59693" y="2361381"/>
            <a:ext cx="10961511" cy="12779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3600" dirty="0">
                <a:latin typeface="Calibri" panose="020F0502020204030204" pitchFamily="34" charset="0"/>
                <a:ea typeface="Calibri" panose="020F0502020204030204" pitchFamily="34" charset="0"/>
              </a:rPr>
              <a:t>අස්ථි බිඳීම් (සාමාන්‍යයෙන් කැඩුණු අස්ථි ලෙස හැඳින්වේ) අස්ථිය මත යෙදෙන මොට බලයක ප්‍රතිඵලයක් ලෙස සිදුවේ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.</a:t>
            </a:r>
            <a:endParaRPr lang="en-U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42391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954637" y="1101052"/>
            <a:ext cx="2215671" cy="7185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අස්ථි බිඳීම්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2676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954637" y="1101052"/>
            <a:ext cx="2215671" cy="7185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අස්ථි බිඳීම්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75908" y="2590945"/>
            <a:ext cx="4532010" cy="6559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si-LK" sz="3600" dirty="0">
                <a:latin typeface="Calibri" panose="020F0502020204030204" pitchFamily="34" charset="0"/>
                <a:ea typeface="Calibri" panose="020F0502020204030204" pitchFamily="34" charset="0"/>
              </a:rPr>
              <a:t>සම්පූර්ණයෙන් බිදි </a:t>
            </a:r>
            <a:r>
              <a:rPr lang="si-LK" sz="3600" dirty="0" smtClean="0">
                <a:latin typeface="Calibri" panose="020F0502020204030204" pitchFamily="34" charset="0"/>
                <a:ea typeface="Calibri" panose="020F0502020204030204" pitchFamily="34" charset="0"/>
              </a:rPr>
              <a:t>ඇත</a:t>
            </a:r>
            <a:endParaRPr lang="en-U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1026" name="Picture 2" descr="Bone Fracture Treatments | Orthopedic Specialists of Seatt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3131" y="1253733"/>
            <a:ext cx="4436256" cy="370208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27463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954637" y="1101052"/>
            <a:ext cx="2215671" cy="7185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අස්ථි බිඳීම්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75908" y="2590945"/>
            <a:ext cx="4198585" cy="12516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si-LK" sz="3600" dirty="0"/>
              <a:t>අසම්පූර්ණව බිදි ඇත.</a:t>
            </a:r>
            <a:endParaRPr lang="en-US" sz="3600" dirty="0"/>
          </a:p>
          <a:p>
            <a:pPr marL="28575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endParaRPr lang="en-U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2050" name="Picture 2" descr="Bone fracture - Wikipe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9378" y="653664"/>
            <a:ext cx="4018845" cy="535237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35569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954637" y="1101052"/>
            <a:ext cx="2215671" cy="7185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අස්ථි බිඳීම්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75908" y="2590945"/>
            <a:ext cx="3005951" cy="12516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si-LK" sz="3600" dirty="0"/>
              <a:t>සංවෘත බිඳිමක්</a:t>
            </a:r>
            <a:endParaRPr lang="en-US" sz="3600" dirty="0"/>
          </a:p>
          <a:p>
            <a:pPr marL="28575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endParaRPr lang="en-U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3074" name="Picture 2" descr="Fractures - Singapore SPORTS and Orthopaedi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800" y="1343378"/>
            <a:ext cx="5528741" cy="448509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5084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954637" y="1101052"/>
            <a:ext cx="2215671" cy="7185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අස්ථි බිඳීම්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54637" y="1884555"/>
            <a:ext cx="2842445" cy="12516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si-LK" sz="3600" dirty="0" smtClean="0"/>
              <a:t>විවෘත බ</a:t>
            </a:r>
            <a:r>
              <a:rPr lang="si-LK" sz="3600" dirty="0"/>
              <a:t>ිඳිමක්</a:t>
            </a:r>
            <a:endParaRPr lang="en-US" sz="3600" dirty="0"/>
          </a:p>
          <a:p>
            <a:pPr marL="28575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endParaRPr lang="en-U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8263" y="5097610"/>
            <a:ext cx="11116093" cy="1014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විවෘත අස්ථි බිඳීමක් ලෙස සලකනු ලබන්නේ විවෘත තුවාලයක් හා සම්බන්ධ අස්ථියක් බිදිමක් සිදු නොවුනද එය එළියට නැමි තිබිමයි. 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7" name="AutoShape 2" descr="Open Fractures – Core EM"/>
          <p:cNvSpPr>
            <a:spLocks noChangeAspect="1" noChangeArrowheads="1"/>
          </p:cNvSpPr>
          <p:nvPr/>
        </p:nvSpPr>
        <p:spPr bwMode="auto">
          <a:xfrm>
            <a:off x="155575" y="-144463"/>
            <a:ext cx="3366558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4133" y="897449"/>
            <a:ext cx="5305777" cy="380414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245780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067526" y="1008070"/>
            <a:ext cx="2226892" cy="7509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‍අස්ථි බිඳීම්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65926" y="1770275"/>
            <a:ext cx="9656918" cy="4222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3600" dirty="0">
                <a:latin typeface="Calibri" panose="020F0502020204030204" pitchFamily="34" charset="0"/>
                <a:ea typeface="Calibri" panose="020F0502020204030204" pitchFamily="34" charset="0"/>
              </a:rPr>
              <a:t>ලක්ෂණ සහ රෝග ලක්ෂණ:</a:t>
            </a: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වේදනාව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ලේ ගැලීම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අභ්‍යාන්තර නම් නිරීක්ෂණය නොවේ. (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Bruising) </a:t>
            </a:r>
          </a:p>
          <a:p>
            <a:pPr marL="1257300" lvl="2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විවෘත නම් බාහිර (ආසාදනය වීමේ අවදානම ඇත.)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ඉදිමීම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අස්ථාවරත්වය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විරූපණය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කාර්යය සිදු කිරිමට නොහැකි වීම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නෙරා ඇති අස්ථි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1673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932059" y="954296"/>
            <a:ext cx="2226892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අස්ථි බිඳීම්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32059" y="1737734"/>
            <a:ext cx="9679498" cy="44392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b="1" dirty="0">
                <a:latin typeface="Calibri" panose="020F0502020204030204" pitchFamily="34" charset="0"/>
                <a:ea typeface="Calibri" panose="020F0502020204030204" pitchFamily="34" charset="0"/>
              </a:rPr>
              <a:t>ප්‍රතිකාර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RICCE (</a:t>
            </a:r>
            <a:r>
              <a:rPr lang="si-LK" sz="2800" b="1" dirty="0">
                <a:latin typeface="Calibri" panose="020F0502020204030204" pitchFamily="34" charset="0"/>
                <a:ea typeface="Calibri" panose="020F0502020204030204" pitchFamily="34" charset="0"/>
              </a:rPr>
              <a:t>ආරක්ෂිත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CABC)</a:t>
            </a:r>
          </a:p>
          <a:p>
            <a:pPr>
              <a:lnSpc>
                <a:spcPct val="107000"/>
              </a:lnSpc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 </a:t>
            </a: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742950" algn="l"/>
              </a:tabLst>
            </a:pP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R: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	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	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ව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ිවේකය ලබා ගැනිම : චලනය අවම කිරීම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46355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742950" algn="l"/>
              </a:tabLst>
            </a:pP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I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	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	Immobilize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: splinting</a:t>
            </a:r>
          </a:p>
          <a:p>
            <a:pPr marL="463550" marR="0" indent="-63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463550" algn="l"/>
                <a:tab pos="744538" algn="l"/>
              </a:tabLs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C: 	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ස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ීතල: සම නොවෙනස්ව පවතී නම් අයිස් තබන්න.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457200" marR="0" indent="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742950" algn="l"/>
              </a:tabLst>
            </a:pP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	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හ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ැකි - සමට අයිස් කෙලින්ම නොතබන්න.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742950" algn="l"/>
              </a:tabLs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C:	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	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ආවරණය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: විවෘත තුවාල (පිරිසිදුම 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457200" marR="0" indent="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	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ද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්‍රව්‍ය උපරිම ලෙස යොදාගන්න උදා. ටී ෂර්ට් හෝ පත්‍රය )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463550" algn="l"/>
                <a:tab pos="742950" algn="l"/>
              </a:tabLs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E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	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ඉහළ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: අතපය නම් ඉහළීන් තබන්න.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742950" algn="l"/>
              </a:tabLs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 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b="1" dirty="0">
                <a:latin typeface="Calibri" panose="020F0502020204030204" pitchFamily="34" charset="0"/>
                <a:ea typeface="Calibri" panose="020F0502020204030204" pitchFamily="34" charset="0"/>
              </a:rPr>
              <a:t>ඉක්මනින් ප්‍රවාහනය කරන්න</a:t>
            </a:r>
            <a:endParaRPr lang="en-US" sz="2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53116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932059" y="954296"/>
            <a:ext cx="2226892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අස්ථි බිඳීම්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61155" y="2063341"/>
            <a:ext cx="9922934" cy="33854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Splinting:</a:t>
            </a: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අරමුණ: තුවාල වූ ශරීරය නිශ්චල කරන්න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නිශ්චලතාව නිසා: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වේදනාව අඩු කරයි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පටක හා ස්නායු හානි අඩු කරයි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රුධිර වහනය අඩු කරයි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රෝගියෙකු ඇසුරුම් කිරීමට සහ ප්‍රවාහනය කිරීමට උපකාරී වේ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7592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932059" y="954296"/>
            <a:ext cx="2226892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අස්ථි බිඳීම්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61154" y="2063341"/>
            <a:ext cx="10882489" cy="2965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Splinting</a:t>
            </a:r>
            <a:r>
              <a:rPr lang="en-US" sz="3200" b="1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: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endParaRPr lang="en-US" sz="3200" b="1" dirty="0" smtClean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si-LK" sz="2800" dirty="0"/>
              <a:t>අස්ථි බිඳීම විවෘත හෝ සංවෘත තාවයන් තිබේද යන්න ගැටළුවක් නොවේ</a:t>
            </a:r>
            <a:endParaRPr lang="en-US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si-LK" sz="2800" dirty="0"/>
              <a:t>තුවාලයට ඉහළින් සහ පහළින් ස්පින්ට් යොදන්න</a:t>
            </a:r>
            <a:endParaRPr lang="en-US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si-LK" sz="2800" dirty="0"/>
              <a:t>රෝගියාට වඩාත් සුවපහසු ස්ථානයේ ආකාරයට </a:t>
            </a:r>
            <a:r>
              <a:rPr lang="en-US" sz="2800" dirty="0"/>
              <a:t>Splint </a:t>
            </a:r>
            <a:r>
              <a:rPr lang="si-LK" sz="2800" dirty="0"/>
              <a:t>යොදන්න</a:t>
            </a:r>
            <a:endParaRPr lang="en-US" sz="2800" dirty="0"/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29260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932059" y="954296"/>
            <a:ext cx="2226892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අස්ථි බිඳීම්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83012" y="1781119"/>
            <a:ext cx="11211016" cy="3780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රන් රීතිය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1: </a:t>
            </a:r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RICCE</a:t>
            </a:r>
            <a:endParaRPr lang="si-LK" sz="2800" dirty="0" smtClean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රන් රීතිය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2: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තුවාලයට ඉහළින් සහ පහළින්  චලනය නොවන පරිදි නිශ්චල කරන්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න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රන් රීතිය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3: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කැඩුම් බිඳුම් සමග විවෘත තුවාලය විවෘත භග්නයට සමාන ව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ේ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algn="just">
              <a:lnSpc>
                <a:spcPct val="107000"/>
              </a:lnSpc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සටහන: සම නොවෙනස්ව පවතී නම් පමණක් සීතල සම්පීඩනය භාවිතා කරන්න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8354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ChangeArrowheads="1"/>
          </p:cNvSpPr>
          <p:nvPr/>
        </p:nvSpPr>
        <p:spPr bwMode="auto">
          <a:xfrm>
            <a:off x="1981200" y="304800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marL="382588" indent="-3429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fontAlgn="base">
              <a:spcBef>
                <a:spcPts val="800"/>
              </a:spcBef>
              <a:spcAft>
                <a:spcPct val="0"/>
              </a:spcAft>
              <a:buClr>
                <a:srgbClr val="FFFFFF"/>
              </a:buClr>
              <a:buSzPct val="100000"/>
            </a:pPr>
            <a:endParaRPr lang="en-US" sz="4000">
              <a:solidFill>
                <a:srgbClr val="056CB6"/>
              </a:solidFill>
              <a:latin typeface="Arial" panose="020B0604020202020204" pitchFamily="34" charset="0"/>
              <a:sym typeface="Times" panose="02020603050405020304" pitchFamily="18" charset="0"/>
            </a:endParaRPr>
          </a:p>
        </p:txBody>
      </p:sp>
      <p:sp>
        <p:nvSpPr>
          <p:cNvPr id="13315" name="TextBox 1"/>
          <p:cNvSpPr txBox="1">
            <a:spLocks noChangeArrowheads="1"/>
          </p:cNvSpPr>
          <p:nvPr/>
        </p:nvSpPr>
        <p:spPr bwMode="auto">
          <a:xfrm>
            <a:off x="2133600" y="609601"/>
            <a:ext cx="82296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pic>
        <p:nvPicPr>
          <p:cNvPr id="13316" name="Picture 1" descr="backgroun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524000"/>
            <a:ext cx="8763000" cy="299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TextBox 2"/>
          <p:cNvSpPr txBox="1">
            <a:spLocks noChangeArrowheads="1"/>
          </p:cNvSpPr>
          <p:nvPr/>
        </p:nvSpPr>
        <p:spPr bwMode="auto">
          <a:xfrm>
            <a:off x="3276600" y="2592388"/>
            <a:ext cx="28194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4400">
                <a:solidFill>
                  <a:srgbClr val="FFFFFF"/>
                </a:solidFill>
                <a:latin typeface="Avenir Medium" charset="0"/>
              </a:rPr>
              <a:t>Questions</a:t>
            </a:r>
          </a:p>
        </p:txBody>
      </p:sp>
      <p:sp>
        <p:nvSpPr>
          <p:cNvPr id="13318" name="TextBox 4"/>
          <p:cNvSpPr txBox="1">
            <a:spLocks noChangeArrowheads="1"/>
          </p:cNvSpPr>
          <p:nvPr/>
        </p:nvSpPr>
        <p:spPr bwMode="auto">
          <a:xfrm rot="-5400000">
            <a:off x="5450682" y="3358357"/>
            <a:ext cx="17526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Cuestión</a:t>
            </a:r>
          </a:p>
        </p:txBody>
      </p:sp>
      <p:sp>
        <p:nvSpPr>
          <p:cNvPr id="13319" name="Rectangle 6"/>
          <p:cNvSpPr>
            <a:spLocks noChangeArrowheads="1"/>
          </p:cNvSpPr>
          <p:nvPr/>
        </p:nvSpPr>
        <p:spPr bwMode="auto">
          <a:xfrm>
            <a:off x="7086600" y="1676401"/>
            <a:ext cx="17986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La question</a:t>
            </a:r>
          </a:p>
        </p:txBody>
      </p:sp>
      <p:sp>
        <p:nvSpPr>
          <p:cNvPr id="13320" name="Rectangle 7"/>
          <p:cNvSpPr>
            <a:spLocks noChangeArrowheads="1"/>
          </p:cNvSpPr>
          <p:nvPr/>
        </p:nvSpPr>
        <p:spPr bwMode="auto">
          <a:xfrm>
            <a:off x="7086600" y="2582864"/>
            <a:ext cx="137569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ar-SA" sz="4400">
                <a:solidFill>
                  <a:srgbClr val="FFFFFF"/>
                </a:solidFill>
              </a:rPr>
              <a:t>الأسئلة</a:t>
            </a:r>
            <a:endParaRPr lang="en-US" sz="4400">
              <a:solidFill>
                <a:srgbClr val="FFFFFF"/>
              </a:solidFill>
            </a:endParaRPr>
          </a:p>
        </p:txBody>
      </p:sp>
      <p:sp>
        <p:nvSpPr>
          <p:cNvPr id="13321" name="Rectangle 8"/>
          <p:cNvSpPr>
            <a:spLocks noChangeArrowheads="1"/>
          </p:cNvSpPr>
          <p:nvPr/>
        </p:nvSpPr>
        <p:spPr bwMode="auto">
          <a:xfrm>
            <a:off x="1905001" y="3200401"/>
            <a:ext cx="1801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bg-BG" sz="3600">
                <a:solidFill>
                  <a:srgbClr val="FFFFFF"/>
                </a:solidFill>
              </a:rPr>
              <a:t>въпроси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3322" name="Rectangle 9"/>
          <p:cNvSpPr>
            <a:spLocks noChangeArrowheads="1"/>
          </p:cNvSpPr>
          <p:nvPr/>
        </p:nvSpPr>
        <p:spPr bwMode="auto">
          <a:xfrm>
            <a:off x="5334001" y="1676401"/>
            <a:ext cx="11080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TW" altLang="en-US" sz="3600">
                <a:solidFill>
                  <a:srgbClr val="FFFFFF"/>
                </a:solidFill>
              </a:rPr>
              <a:t>问题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3323" name="Rectangle 10"/>
          <p:cNvSpPr>
            <a:spLocks noChangeArrowheads="1"/>
          </p:cNvSpPr>
          <p:nvPr/>
        </p:nvSpPr>
        <p:spPr bwMode="auto">
          <a:xfrm>
            <a:off x="5029201" y="3429001"/>
            <a:ext cx="10969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otázky</a:t>
            </a:r>
          </a:p>
        </p:txBody>
      </p:sp>
      <p:sp>
        <p:nvSpPr>
          <p:cNvPr id="13324" name="Rectangle 11"/>
          <p:cNvSpPr>
            <a:spLocks noChangeArrowheads="1"/>
          </p:cNvSpPr>
          <p:nvPr/>
        </p:nvSpPr>
        <p:spPr bwMode="auto">
          <a:xfrm>
            <a:off x="6826250" y="3886201"/>
            <a:ext cx="1860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spørgsmål</a:t>
            </a:r>
          </a:p>
        </p:txBody>
      </p:sp>
      <p:sp>
        <p:nvSpPr>
          <p:cNvPr id="13325" name="Rectangle 12"/>
          <p:cNvSpPr>
            <a:spLocks noChangeArrowheads="1"/>
          </p:cNvSpPr>
          <p:nvPr/>
        </p:nvSpPr>
        <p:spPr bwMode="auto">
          <a:xfrm rot="-5400000">
            <a:off x="2151856" y="2267744"/>
            <a:ext cx="14620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FFFFFF"/>
                </a:solidFill>
                <a:latin typeface="Avenir Medium" charset="0"/>
              </a:rPr>
              <a:t>vragen</a:t>
            </a:r>
          </a:p>
        </p:txBody>
      </p:sp>
      <p:sp>
        <p:nvSpPr>
          <p:cNvPr id="13326" name="Rectangle 13"/>
          <p:cNvSpPr>
            <a:spLocks noChangeArrowheads="1"/>
          </p:cNvSpPr>
          <p:nvPr/>
        </p:nvSpPr>
        <p:spPr bwMode="auto">
          <a:xfrm>
            <a:off x="4267201" y="3962401"/>
            <a:ext cx="16557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küsimused</a:t>
            </a:r>
          </a:p>
        </p:txBody>
      </p:sp>
      <p:sp>
        <p:nvSpPr>
          <p:cNvPr id="13327" name="Rectangle 14"/>
          <p:cNvSpPr>
            <a:spLocks noChangeArrowheads="1"/>
          </p:cNvSpPr>
          <p:nvPr/>
        </p:nvSpPr>
        <p:spPr bwMode="auto">
          <a:xfrm>
            <a:off x="7086600" y="2209801"/>
            <a:ext cx="17859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kysymykset</a:t>
            </a:r>
          </a:p>
        </p:txBody>
      </p:sp>
      <p:sp>
        <p:nvSpPr>
          <p:cNvPr id="13328" name="Rectangle 15"/>
          <p:cNvSpPr>
            <a:spLocks noChangeArrowheads="1"/>
          </p:cNvSpPr>
          <p:nvPr/>
        </p:nvSpPr>
        <p:spPr bwMode="auto">
          <a:xfrm rot="-5400000">
            <a:off x="1476376" y="2201863"/>
            <a:ext cx="165576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600">
                <a:solidFill>
                  <a:srgbClr val="FFFFFF"/>
                </a:solidFill>
                <a:latin typeface="Avenir Medium" charset="0"/>
              </a:rPr>
              <a:t>Fragen</a:t>
            </a:r>
          </a:p>
        </p:txBody>
      </p:sp>
      <p:sp>
        <p:nvSpPr>
          <p:cNvPr id="13329" name="Rectangle 16"/>
          <p:cNvSpPr>
            <a:spLocks noChangeArrowheads="1"/>
          </p:cNvSpPr>
          <p:nvPr/>
        </p:nvSpPr>
        <p:spPr bwMode="auto">
          <a:xfrm>
            <a:off x="5410200" y="2667001"/>
            <a:ext cx="762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13330" name="Rectangle 18"/>
          <p:cNvSpPr>
            <a:spLocks noChangeArrowheads="1"/>
          </p:cNvSpPr>
          <p:nvPr/>
        </p:nvSpPr>
        <p:spPr bwMode="auto">
          <a:xfrm>
            <a:off x="3276601" y="2133601"/>
            <a:ext cx="20617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</a:rPr>
              <a:t>सवालों के जवाब</a:t>
            </a:r>
          </a:p>
        </p:txBody>
      </p:sp>
      <p:sp>
        <p:nvSpPr>
          <p:cNvPr id="13331" name="Rectangle 19"/>
          <p:cNvSpPr>
            <a:spLocks noChangeArrowheads="1"/>
          </p:cNvSpPr>
          <p:nvPr/>
        </p:nvSpPr>
        <p:spPr bwMode="auto">
          <a:xfrm>
            <a:off x="1752600" y="3886200"/>
            <a:ext cx="22669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FFFFFF"/>
                </a:solidFill>
                <a:latin typeface="Avenir Medium" charset="0"/>
              </a:rPr>
              <a:t>pertanyaan</a:t>
            </a:r>
          </a:p>
        </p:txBody>
      </p:sp>
      <p:sp>
        <p:nvSpPr>
          <p:cNvPr id="13332" name="Rectangle 20"/>
          <p:cNvSpPr>
            <a:spLocks noChangeArrowheads="1"/>
          </p:cNvSpPr>
          <p:nvPr/>
        </p:nvSpPr>
        <p:spPr bwMode="auto">
          <a:xfrm rot="-5400000">
            <a:off x="5919788" y="2279651"/>
            <a:ext cx="17287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domande</a:t>
            </a:r>
          </a:p>
        </p:txBody>
      </p:sp>
      <p:sp>
        <p:nvSpPr>
          <p:cNvPr id="13333" name="Rectangle 21"/>
          <p:cNvSpPr>
            <a:spLocks noChangeArrowheads="1"/>
          </p:cNvSpPr>
          <p:nvPr/>
        </p:nvSpPr>
        <p:spPr bwMode="auto">
          <a:xfrm>
            <a:off x="3886200" y="3352800"/>
            <a:ext cx="1004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ja-JP" altLang="en-US" sz="3200">
                <a:solidFill>
                  <a:srgbClr val="FFFFFF"/>
                </a:solidFill>
              </a:rPr>
              <a:t>質問</a:t>
            </a:r>
            <a:endParaRPr lang="en-US" sz="3200">
              <a:solidFill>
                <a:srgbClr val="FFFFFF"/>
              </a:solidFill>
            </a:endParaRPr>
          </a:p>
        </p:txBody>
      </p:sp>
      <p:sp>
        <p:nvSpPr>
          <p:cNvPr id="13334" name="Rectangle 22"/>
          <p:cNvSpPr>
            <a:spLocks noChangeArrowheads="1"/>
          </p:cNvSpPr>
          <p:nvPr/>
        </p:nvSpPr>
        <p:spPr bwMode="auto">
          <a:xfrm>
            <a:off x="5105401" y="2286001"/>
            <a:ext cx="15922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perguntas</a:t>
            </a:r>
          </a:p>
        </p:txBody>
      </p:sp>
      <p:sp>
        <p:nvSpPr>
          <p:cNvPr id="13335" name="Rectangle 23"/>
          <p:cNvSpPr>
            <a:spLocks noChangeArrowheads="1"/>
          </p:cNvSpPr>
          <p:nvPr/>
        </p:nvSpPr>
        <p:spPr bwMode="auto">
          <a:xfrm>
            <a:off x="3654426" y="1600201"/>
            <a:ext cx="13989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Times" panose="02020603050405020304" pitchFamily="18" charset="0"/>
              </a:rPr>
              <a:t>вопросов</a:t>
            </a:r>
          </a:p>
        </p:txBody>
      </p:sp>
      <p:sp>
        <p:nvSpPr>
          <p:cNvPr id="13336" name="Rectangle 24"/>
          <p:cNvSpPr>
            <a:spLocks noChangeArrowheads="1"/>
          </p:cNvSpPr>
          <p:nvPr/>
        </p:nvSpPr>
        <p:spPr bwMode="auto">
          <a:xfrm>
            <a:off x="7162800" y="3360738"/>
            <a:ext cx="11366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sorular</a:t>
            </a:r>
          </a:p>
        </p:txBody>
      </p:sp>
      <p:sp>
        <p:nvSpPr>
          <p:cNvPr id="13337" name="TextBox 25"/>
          <p:cNvSpPr txBox="1">
            <a:spLocks noChangeArrowheads="1"/>
          </p:cNvSpPr>
          <p:nvPr/>
        </p:nvSpPr>
        <p:spPr bwMode="auto">
          <a:xfrm>
            <a:off x="8991600" y="1371601"/>
            <a:ext cx="1524000" cy="315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9900">
                <a:solidFill>
                  <a:srgbClr val="FFFFFF"/>
                </a:solidFill>
                <a:latin typeface="Avenir Medium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58163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1"/>
          <p:cNvSpPr>
            <a:spLocks noGrp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hangingPunct="1"/>
            <a:fld id="{207FAFF6-E146-4F48-809E-3DA26EEA4871}" type="slidenum">
              <a:rPr lang="en-US" sz="1400">
                <a:latin typeface="Times" panose="02020603050405020304" pitchFamily="18" charset="0"/>
                <a:sym typeface="Times" panose="02020603050405020304" pitchFamily="18" charset="0"/>
              </a:rPr>
              <a:pPr eaLnBrk="1" hangingPunct="1"/>
              <a:t>32</a:t>
            </a:fld>
            <a:endParaRPr lang="en-US" sz="1400">
              <a:latin typeface="Times" panose="02020603050405020304" pitchFamily="18" charset="0"/>
              <a:sym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30293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Overlay-2ColumnText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308472" y="879087"/>
            <a:ext cx="3428149" cy="5171757"/>
          </a:xfrm>
          <a:prstGeom prst="round2DiagRect">
            <a:avLst/>
          </a:prstGeom>
          <a:gradFill flip="none" rotWithShape="1">
            <a:gsLst>
              <a:gs pos="0">
                <a:srgbClr val="38ABED"/>
              </a:gs>
              <a:gs pos="100000">
                <a:srgbClr val="1B3861"/>
              </a:gs>
            </a:gsLst>
            <a:lin ang="5400000" scaled="0"/>
            <a:tileRect/>
          </a:gradFill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1" y="136525"/>
            <a:ext cx="2463800" cy="457200"/>
          </a:xfrm>
          <a:prstGeom prst="rect">
            <a:avLst/>
          </a:prstGeom>
        </p:spPr>
      </p:pic>
      <p:sp>
        <p:nvSpPr>
          <p:cNvPr id="4" name="Title 3"/>
          <p:cNvSpPr txBox="1">
            <a:spLocks noGrp="1"/>
          </p:cNvSpPr>
          <p:nvPr>
            <p:ph type="title"/>
          </p:nvPr>
        </p:nvSpPr>
        <p:spPr>
          <a:xfrm>
            <a:off x="490653" y="1142804"/>
            <a:ext cx="4371278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  <a:t>පළමුව </a:t>
            </a:r>
            <a:b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</a:br>
            <a: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  <a:t>ප්‍රතිචාර දක්වන්නා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8473" y="2467781"/>
            <a:ext cx="11001784" cy="4694918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si-LK" sz="2400" dirty="0"/>
              <a:t>ඉදිරිපත් කිරිමේ මාතෘකා</a:t>
            </a:r>
            <a:r>
              <a:rPr lang="si-LK" sz="2400" dirty="0" smtClean="0"/>
              <a:t>ව	:- </a:t>
            </a:r>
            <a:r>
              <a:rPr lang="si-LK" sz="2400" dirty="0"/>
              <a:t>රෝගියාගේ තත්වය තක්සේරු කිරීම 	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si-LK" sz="2400" dirty="0" smtClean="0"/>
              <a:t>	ම</a:t>
            </a:r>
            <a:r>
              <a:rPr lang="si-LK" sz="2400" dirty="0"/>
              <a:t>ොඩියුලර</a:t>
            </a:r>
            <a:r>
              <a:rPr lang="si-LK" sz="2400" dirty="0" smtClean="0"/>
              <a:t>්		: 6.3</a:t>
            </a:r>
            <a:r>
              <a:rPr lang="en-US" sz="2400" dirty="0" smtClean="0"/>
              <a:t>b</a:t>
            </a:r>
            <a:endParaRPr lang="si-LK" sz="2400" dirty="0" smtClean="0"/>
          </a:p>
          <a:p>
            <a:pPr marL="0" indent="0">
              <a:buNone/>
            </a:pP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si-LK" sz="2400" dirty="0" smtClean="0"/>
              <a:t>ඉදිරිපත් කරන්නන්/ උපදේශක	:- ඉදිරිපත් කරන්නන්ගේ නම මෙහි </a:t>
            </a:r>
            <a:r>
              <a:rPr lang="si-LK" sz="2400" dirty="0"/>
              <a:t>එක</a:t>
            </a:r>
            <a:r>
              <a:rPr lang="si-LK" sz="2400" dirty="0" smtClean="0"/>
              <a:t>් කරන</a:t>
            </a:r>
            <a:r>
              <a:rPr lang="si-LK" sz="2400" dirty="0"/>
              <a:t>්න.</a:t>
            </a:r>
            <a:r>
              <a:rPr lang="si-LK" sz="2200" dirty="0" smtClean="0"/>
              <a:t>					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si-LK" dirty="0" smtClean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Coordination Saves Lives</a:t>
            </a:r>
            <a:endParaRPr lang="si-LK" sz="1600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 smtClean="0"/>
              <a:t>						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							</a:t>
            </a:r>
            <a:r>
              <a:rPr lang="si-LK" dirty="0" smtClean="0"/>
              <a:t>	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/>
          <a:srcRect l="28981" t="79333" r="13981" b="13852"/>
          <a:stretch/>
        </p:blipFill>
        <p:spPr>
          <a:xfrm>
            <a:off x="198160" y="6230892"/>
            <a:ext cx="11907157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655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070" y="1042635"/>
            <a:ext cx="6972021" cy="4514103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endParaRPr lang="en-US" sz="3600" b="1" dirty="0"/>
          </a:p>
          <a:p>
            <a:pPr marL="0" indent="0">
              <a:buNone/>
            </a:pPr>
            <a:r>
              <a:rPr lang="en-US" sz="4800" dirty="0" smtClean="0"/>
              <a:t>     </a:t>
            </a:r>
            <a:r>
              <a:rPr lang="si-LK" sz="4800" dirty="0" smtClean="0"/>
              <a:t>ම</a:t>
            </a:r>
            <a:r>
              <a:rPr lang="si-LK" sz="4800" dirty="0"/>
              <a:t>ූලික වෛද්‍ය ගලවා ගැනි</a:t>
            </a:r>
            <a:r>
              <a:rPr lang="si-LK" sz="4800" dirty="0" smtClean="0"/>
              <a:t>ම</a:t>
            </a:r>
            <a:endParaRPr lang="en-US" sz="4800" dirty="0" smtClean="0"/>
          </a:p>
          <a:p>
            <a:pPr marL="0" indent="0">
              <a:buNone/>
            </a:pPr>
            <a:endParaRPr lang="en-US" sz="3600" dirty="0"/>
          </a:p>
          <a:p>
            <a:pPr marL="0" indent="0" algn="ctr">
              <a:buNone/>
            </a:pPr>
            <a:r>
              <a:rPr lang="si-LK" sz="4300" dirty="0"/>
              <a:t>රෝගියාගේ තක්සේරු</a:t>
            </a:r>
            <a:r>
              <a:rPr lang="si-LK" sz="4300" dirty="0" smtClean="0"/>
              <a:t>ව</a:t>
            </a:r>
            <a:endParaRPr lang="en-US" sz="4300" dirty="0" smtClean="0"/>
          </a:p>
          <a:p>
            <a:pPr marL="0" indent="0">
              <a:buNone/>
            </a:pPr>
            <a:endParaRPr lang="en-US" sz="3600" dirty="0"/>
          </a:p>
          <a:p>
            <a:pPr marL="0" indent="0" algn="ctr">
              <a:buNone/>
            </a:pPr>
            <a:r>
              <a:rPr lang="si-LK" sz="3900" dirty="0" smtClean="0"/>
              <a:t>ද</a:t>
            </a:r>
            <a:r>
              <a:rPr lang="si-LK" sz="3900" dirty="0"/>
              <a:t>්විතියික සමීක්ෂණය</a:t>
            </a:r>
            <a:endParaRPr lang="en-US" sz="3900" dirty="0"/>
          </a:p>
          <a:p>
            <a:pPr marL="0" indent="0" algn="ctr">
              <a:buNone/>
            </a:pPr>
            <a:r>
              <a:rPr lang="si-LK" sz="3900" dirty="0" smtClean="0"/>
              <a:t>ර</a:t>
            </a:r>
            <a:r>
              <a:rPr lang="si-LK" sz="3900" dirty="0"/>
              <a:t>ෝගියාගේ ඉතිහාසය</a:t>
            </a:r>
            <a:endParaRPr lang="en-US" sz="3900" dirty="0"/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si-LK" sz="3600" dirty="0"/>
              <a:t> </a:t>
            </a:r>
            <a:r>
              <a:rPr lang="si-LK" sz="3600" dirty="0" smtClean="0"/>
              <a:t>  </a:t>
            </a:r>
            <a:endParaRPr lang="si-LK" sz="3600" b="1" dirty="0" smtClean="0"/>
          </a:p>
          <a:p>
            <a:pPr marL="0" indent="0">
              <a:buNone/>
            </a:pPr>
            <a:endParaRPr lang="en-US" sz="3600" b="1" dirty="0"/>
          </a:p>
          <a:p>
            <a:pPr marL="0" indent="0" algn="ctr">
              <a:buNone/>
            </a:pPr>
            <a:endParaRPr lang="si-LK" sz="3600" b="1" dirty="0"/>
          </a:p>
          <a:p>
            <a:pPr marL="0" indent="0" algn="ctr">
              <a:buNone/>
            </a:pPr>
            <a:endParaRPr lang="en-US" sz="3600" b="1" dirty="0" smtClean="0"/>
          </a:p>
          <a:p>
            <a:pPr marL="0" indent="0" algn="ctr">
              <a:buNone/>
            </a:pPr>
            <a:endParaRPr lang="si-LK" sz="3600" b="1" dirty="0" smtClean="0"/>
          </a:p>
          <a:p>
            <a:endParaRPr lang="si-LK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1" y="136525"/>
            <a:ext cx="2463800" cy="457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pic>
        <p:nvPicPr>
          <p:cNvPr id="11" name="Picture 10" descr="Overlay-2ColumnText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7981244" y="223365"/>
            <a:ext cx="3603014" cy="5688981"/>
          </a:xfrm>
          <a:prstGeom prst="round2DiagRect">
            <a:avLst/>
          </a:prstGeom>
          <a:gradFill flip="none" rotWithShape="1">
            <a:gsLst>
              <a:gs pos="0">
                <a:srgbClr val="38ABED"/>
              </a:gs>
              <a:gs pos="100000">
                <a:srgbClr val="1B3861"/>
              </a:gs>
            </a:gsLst>
            <a:lin ang="5400000" scaled="0"/>
            <a:tileRect/>
          </a:gradFill>
        </p:spPr>
      </p:pic>
      <p:sp>
        <p:nvSpPr>
          <p:cNvPr id="12" name="Title 3"/>
          <p:cNvSpPr txBox="1">
            <a:spLocks noGrp="1"/>
          </p:cNvSpPr>
          <p:nvPr>
            <p:ph type="title"/>
          </p:nvPr>
        </p:nvSpPr>
        <p:spPr>
          <a:xfrm>
            <a:off x="7236178" y="372126"/>
            <a:ext cx="4084965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  <a:t>පළමුව </a:t>
            </a:r>
            <a:b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</a:br>
            <a: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  <a:t>ප්‍රතිචාර දක්වන්නා</a:t>
            </a:r>
            <a:endParaRPr lang="en-US" sz="3600" b="1" dirty="0"/>
          </a:p>
        </p:txBody>
      </p:sp>
      <p:sp>
        <p:nvSpPr>
          <p:cNvPr id="13" name="Rectangle 12"/>
          <p:cNvSpPr/>
          <p:nvPr/>
        </p:nvSpPr>
        <p:spPr>
          <a:xfrm>
            <a:off x="8161867" y="5278398"/>
            <a:ext cx="29976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Coordination Saves Lives</a:t>
            </a:r>
          </a:p>
        </p:txBody>
      </p:sp>
    </p:spTree>
    <p:extLst>
      <p:ext uri="{BB962C8B-B14F-4D97-AF65-F5344CB8AC3E}">
        <p14:creationId xmlns:p14="http://schemas.microsoft.com/office/powerpoint/2010/main" val="2627904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90070" y="740229"/>
            <a:ext cx="6096000" cy="134376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</a:pPr>
            <a:r>
              <a:rPr lang="si-LK" sz="4400" b="1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රෝගියාගේ තක්සේරුව</a:t>
            </a:r>
            <a:endParaRPr lang="en-US" sz="4400" b="1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ඉගෙන ගැනිමේ ප්‍රතිඵල</a:t>
            </a: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61154" y="2226977"/>
            <a:ext cx="9245601" cy="32537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 සිටින ස්ථානයට ප්‍රවේශවිමේදි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3 H 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භාවිතා කරන්න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ප්‍රාථමික සමීක්ෂණයක් සිදු කරන්න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ව්‍යාසනකාරී රුධිර වහනය හඳුනා ගැනීම සහ පාලනය කිරීම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si-LK" sz="2400" dirty="0"/>
              <a:t>ශ්වසන මාර්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ගයක් විවෘත කර ගැනිම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රෝගියෙකු සුවය ලබන ස්ථානයේ තබන්න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හුස්ම ගැනීම තක්සේරු කරන්න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ද්විතියික සමීක්ෂණයක් සිදු කරන්න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රෝගී ඉතිහාසය ලබාගන්න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10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90070" y="740229"/>
            <a:ext cx="8324952" cy="816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400" b="1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රෝගියාගේ </a:t>
            </a:r>
            <a:r>
              <a:rPr lang="si-LK" sz="44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තත්වය තක</a:t>
            </a:r>
            <a:r>
              <a:rPr lang="si-LK" sz="4400" b="1" dirty="0">
                <a:latin typeface="Calibri" panose="020F0502020204030204" pitchFamily="34" charset="0"/>
                <a:ea typeface="Calibri" panose="020F0502020204030204" pitchFamily="34" charset="0"/>
              </a:rPr>
              <a:t>්සේරු</a:t>
            </a:r>
            <a:r>
              <a:rPr lang="si-LK" sz="44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ව</a:t>
            </a:r>
            <a:endParaRPr lang="en-US" sz="4400" b="1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64356" y="2180810"/>
            <a:ext cx="6096000" cy="217418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 වෙත ප්‍රවේශවන්න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ප්‍රාථමික සමීක්ෂණය සිදුකරන්න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ද්විතියික සමීක්ෂණය සිදුකරන්න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රෝගි  ඉතිහාසය සොයා බලන්න</a:t>
            </a: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170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015998" y="2287691"/>
            <a:ext cx="10476091" cy="38237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3200" dirty="0"/>
              <a:t>හිස සිට පාදය දක්වා </a:t>
            </a:r>
            <a:endParaRPr lang="en-US" sz="3200" dirty="0"/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පැහැදිලිව ශරීරයේ ඇති තුවාල වල සලකුණු සොයාගන්න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 පරීක්ෂා කිරිම - ස්ත්‍රී පුරුෂ භාවය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සංස්කෘතික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ආගමික සහ සදාචාරාත්මක කරුණු ගැන සැලකිලිමත් වන්න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අවශ්‍ය ප්‍රමාණයට පමණක් ඇඳුම් ඉවත් කරන්න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ඔබ පරීක්ෂා කළ වහාම නිරාවරණය වූ ප්‍රදේශ ආවරණය කරන්න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714500" lvl="3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ගරුත්වය ආරක්ෂා කරන්න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714500" lvl="3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උණුසුම තබාගන්න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49410" y="1109663"/>
            <a:ext cx="4278735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ද්විතියික සමීක්ෂණය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6790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49410" y="1109663"/>
            <a:ext cx="4278735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ද්විතියික සමීක්ෂණය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59554" y="2375158"/>
            <a:ext cx="8974667" cy="33854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පහත කරුණූ පරීක්ෂා කිරීමේදි මතක තබා ගන්න: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හිස සහ මුහුණ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බෙල්ල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පපුව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උදරය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ශ්රෝණිය / ඉකිලි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පසුපස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680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49410" y="1109663"/>
            <a:ext cx="4278735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ද්විතියික සමීක්ෂණය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49410" y="2200127"/>
            <a:ext cx="10787834" cy="24439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ඔබ ශරීරයේ තුවාලයක් සොයා ගත්තේ නම්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හැකියාව ඇතිනම් ප්‍රතිකාර සිදු කරන්න.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තුවාලයට ප්‍රතිකාර කිරීමට පෙර ඔබට රෝගියා චලනය කිරීමට සිදු විය හැකිය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එක් රෝගියෙකුට වඩා වැඩි නම් - ඔබට වඩාත් බරපතල තුවාල ඇති රෝගීයාට ප්‍රථමයෙන් ප්‍රතිකාර කිරීමට සිදු කළ හැකිය.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හිසේ  සිට පාදය දක්වා සම්පූර්ණ ශරීරය සමීක්ෂණය කිරීමට මතක තබා ගන්න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5001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49410" y="1109663"/>
            <a:ext cx="4278735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ද්විතියික සමීක්ෂණය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20800" y="2551614"/>
            <a:ext cx="10645422" cy="28584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උපදේශක විසින් ලොග් රෝල්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ක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ොටස්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කරන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ආකාරයක ද්විතියික සමීක්ෂණය නිරූපණය කිරීම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	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උපරිම  කාලය විනාඩි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5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 ය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ි</a:t>
            </a:r>
            <a:endParaRPr lang="en-US" sz="2800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සහභාගිවන්නන් විසින් පුහුණු කරන්න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	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උපරිම කාලය විනාඩි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10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යි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6354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49410" y="1109663"/>
            <a:ext cx="4278735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ද්විතියික සමීක්ෂණය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49410" y="2113375"/>
            <a:ext cx="11224784" cy="37809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රන් රීතිය 1: හිස සිට දෙපතුල දක්වා ශරීරය සම්පූර්ණ පරීක්ෂා කිරීමට මතක තබා ගන්</a:t>
            </a:r>
            <a:r>
              <a:rPr lang="si-LK" sz="3200" dirty="0" smtClean="0">
                <a:latin typeface="Calibri" panose="020F0502020204030204" pitchFamily="34" charset="0"/>
                <a:ea typeface="Calibri" panose="020F0502020204030204" pitchFamily="34" charset="0"/>
              </a:rPr>
              <a:t>න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රන් රීතිය 2: අවශ්‍ය ඇඳුම් පමණක් ඉවත් කරන්</a:t>
            </a:r>
            <a:r>
              <a:rPr lang="si-LK" sz="3200" dirty="0" smtClean="0">
                <a:latin typeface="Calibri" panose="020F0502020204030204" pitchFamily="34" charset="0"/>
                <a:ea typeface="Calibri" panose="020F0502020204030204" pitchFamily="34" charset="0"/>
              </a:rPr>
              <a:t>න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රන් රීතිය 3: නිරාවරණය වූ ප්‍රදේශ පරීක්ෂා කිරීමෙන් පසු එම ප්‍රදේශය ආවරණය කරන්න</a:t>
            </a: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658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17466" y="931719"/>
            <a:ext cx="4453463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රෝගියාගේ ඉතිහාසය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11199" y="2233247"/>
            <a:ext cx="10837333" cy="2835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අරමුණ: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 algn="just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රෝගියාගේ (රෝගියා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පවුලේ සාමාජිකයන් සහ සාක්ෂිකරුවන්ගෙන්) ඔවුන්ගේ තුවාල සහ අනෙකුත් රෝගී තත්ත්වයන් පිළිබඳ අදාළ තොරතුරු ලබා ගැනීම 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 algn="just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ඔබ විසින් රෝගියා භාර දෙන අවස්ථාවේ එම පුද්ගලයාට එම තොරතුරු සැපයීමට හැකියාව ලැබීම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509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17466" y="931719"/>
            <a:ext cx="4453463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රෝගියාගේ ඉතිහාසය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96622" y="1935417"/>
            <a:ext cx="8861778" cy="3780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විස්තර: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තුවාල සිදු වු ආකාරය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828800" lvl="3" indent="-4572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සිදුවුයේ කුමක් ද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828800" lvl="3" indent="-4572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එය සිදු වූයේ කොපමණ කලකට පෙරය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ප්‍රධාන පැමිණිල්ල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නම (හැකි නම්)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වයස (ආසන්න)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ඔබ සිදුකළේ කුමක් ද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000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ChangeArrowheads="1"/>
          </p:cNvSpPr>
          <p:nvPr/>
        </p:nvSpPr>
        <p:spPr bwMode="auto">
          <a:xfrm>
            <a:off x="1981200" y="304800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marL="382588" indent="-3429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fontAlgn="base">
              <a:spcBef>
                <a:spcPts val="800"/>
              </a:spcBef>
              <a:spcAft>
                <a:spcPct val="0"/>
              </a:spcAft>
              <a:buClr>
                <a:srgbClr val="FFFFFF"/>
              </a:buClr>
              <a:buSzPct val="100000"/>
            </a:pPr>
            <a:endParaRPr lang="en-US" sz="4000">
              <a:solidFill>
                <a:srgbClr val="056CB6"/>
              </a:solidFill>
              <a:latin typeface="Arial" panose="020B0604020202020204" pitchFamily="34" charset="0"/>
              <a:sym typeface="Times" panose="02020603050405020304" pitchFamily="18" charset="0"/>
            </a:endParaRPr>
          </a:p>
        </p:txBody>
      </p:sp>
      <p:sp>
        <p:nvSpPr>
          <p:cNvPr id="13315" name="TextBox 1"/>
          <p:cNvSpPr txBox="1">
            <a:spLocks noChangeArrowheads="1"/>
          </p:cNvSpPr>
          <p:nvPr/>
        </p:nvSpPr>
        <p:spPr bwMode="auto">
          <a:xfrm>
            <a:off x="2133600" y="609601"/>
            <a:ext cx="82296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pic>
        <p:nvPicPr>
          <p:cNvPr id="13316" name="Picture 1" descr="backgroun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524000"/>
            <a:ext cx="8763000" cy="299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TextBox 2"/>
          <p:cNvSpPr txBox="1">
            <a:spLocks noChangeArrowheads="1"/>
          </p:cNvSpPr>
          <p:nvPr/>
        </p:nvSpPr>
        <p:spPr bwMode="auto">
          <a:xfrm>
            <a:off x="3276600" y="2592388"/>
            <a:ext cx="28194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4400">
                <a:solidFill>
                  <a:srgbClr val="FFFFFF"/>
                </a:solidFill>
                <a:latin typeface="Avenir Medium" charset="0"/>
              </a:rPr>
              <a:t>Questions</a:t>
            </a:r>
          </a:p>
        </p:txBody>
      </p:sp>
      <p:sp>
        <p:nvSpPr>
          <p:cNvPr id="13318" name="TextBox 4"/>
          <p:cNvSpPr txBox="1">
            <a:spLocks noChangeArrowheads="1"/>
          </p:cNvSpPr>
          <p:nvPr/>
        </p:nvSpPr>
        <p:spPr bwMode="auto">
          <a:xfrm rot="-5400000">
            <a:off x="5450682" y="3358357"/>
            <a:ext cx="17526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Cuestión</a:t>
            </a:r>
          </a:p>
        </p:txBody>
      </p:sp>
      <p:sp>
        <p:nvSpPr>
          <p:cNvPr id="13319" name="Rectangle 6"/>
          <p:cNvSpPr>
            <a:spLocks noChangeArrowheads="1"/>
          </p:cNvSpPr>
          <p:nvPr/>
        </p:nvSpPr>
        <p:spPr bwMode="auto">
          <a:xfrm>
            <a:off x="7086600" y="1676401"/>
            <a:ext cx="17986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La question</a:t>
            </a:r>
          </a:p>
        </p:txBody>
      </p:sp>
      <p:sp>
        <p:nvSpPr>
          <p:cNvPr id="13320" name="Rectangle 7"/>
          <p:cNvSpPr>
            <a:spLocks noChangeArrowheads="1"/>
          </p:cNvSpPr>
          <p:nvPr/>
        </p:nvSpPr>
        <p:spPr bwMode="auto">
          <a:xfrm>
            <a:off x="7086600" y="2582864"/>
            <a:ext cx="137569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ar-SA" sz="4400">
                <a:solidFill>
                  <a:srgbClr val="FFFFFF"/>
                </a:solidFill>
              </a:rPr>
              <a:t>الأسئلة</a:t>
            </a:r>
            <a:endParaRPr lang="en-US" sz="4400">
              <a:solidFill>
                <a:srgbClr val="FFFFFF"/>
              </a:solidFill>
            </a:endParaRPr>
          </a:p>
        </p:txBody>
      </p:sp>
      <p:sp>
        <p:nvSpPr>
          <p:cNvPr id="13321" name="Rectangle 8"/>
          <p:cNvSpPr>
            <a:spLocks noChangeArrowheads="1"/>
          </p:cNvSpPr>
          <p:nvPr/>
        </p:nvSpPr>
        <p:spPr bwMode="auto">
          <a:xfrm>
            <a:off x="1905001" y="3200401"/>
            <a:ext cx="1801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bg-BG" sz="3600">
                <a:solidFill>
                  <a:srgbClr val="FFFFFF"/>
                </a:solidFill>
              </a:rPr>
              <a:t>въпроси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3322" name="Rectangle 9"/>
          <p:cNvSpPr>
            <a:spLocks noChangeArrowheads="1"/>
          </p:cNvSpPr>
          <p:nvPr/>
        </p:nvSpPr>
        <p:spPr bwMode="auto">
          <a:xfrm>
            <a:off x="5334001" y="1676401"/>
            <a:ext cx="11080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TW" altLang="en-US" sz="3600">
                <a:solidFill>
                  <a:srgbClr val="FFFFFF"/>
                </a:solidFill>
              </a:rPr>
              <a:t>问题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3323" name="Rectangle 10"/>
          <p:cNvSpPr>
            <a:spLocks noChangeArrowheads="1"/>
          </p:cNvSpPr>
          <p:nvPr/>
        </p:nvSpPr>
        <p:spPr bwMode="auto">
          <a:xfrm>
            <a:off x="5029201" y="3429001"/>
            <a:ext cx="10969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otázky</a:t>
            </a:r>
          </a:p>
        </p:txBody>
      </p:sp>
      <p:sp>
        <p:nvSpPr>
          <p:cNvPr id="13324" name="Rectangle 11"/>
          <p:cNvSpPr>
            <a:spLocks noChangeArrowheads="1"/>
          </p:cNvSpPr>
          <p:nvPr/>
        </p:nvSpPr>
        <p:spPr bwMode="auto">
          <a:xfrm>
            <a:off x="6826250" y="3886201"/>
            <a:ext cx="1860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spørgsmål</a:t>
            </a:r>
          </a:p>
        </p:txBody>
      </p:sp>
      <p:sp>
        <p:nvSpPr>
          <p:cNvPr id="13325" name="Rectangle 12"/>
          <p:cNvSpPr>
            <a:spLocks noChangeArrowheads="1"/>
          </p:cNvSpPr>
          <p:nvPr/>
        </p:nvSpPr>
        <p:spPr bwMode="auto">
          <a:xfrm rot="-5400000">
            <a:off x="2151856" y="2267744"/>
            <a:ext cx="14620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FFFFFF"/>
                </a:solidFill>
                <a:latin typeface="Avenir Medium" charset="0"/>
              </a:rPr>
              <a:t>vragen</a:t>
            </a:r>
          </a:p>
        </p:txBody>
      </p:sp>
      <p:sp>
        <p:nvSpPr>
          <p:cNvPr id="13326" name="Rectangle 13"/>
          <p:cNvSpPr>
            <a:spLocks noChangeArrowheads="1"/>
          </p:cNvSpPr>
          <p:nvPr/>
        </p:nvSpPr>
        <p:spPr bwMode="auto">
          <a:xfrm>
            <a:off x="4267201" y="3962401"/>
            <a:ext cx="16557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küsimused</a:t>
            </a:r>
          </a:p>
        </p:txBody>
      </p:sp>
      <p:sp>
        <p:nvSpPr>
          <p:cNvPr id="13327" name="Rectangle 14"/>
          <p:cNvSpPr>
            <a:spLocks noChangeArrowheads="1"/>
          </p:cNvSpPr>
          <p:nvPr/>
        </p:nvSpPr>
        <p:spPr bwMode="auto">
          <a:xfrm>
            <a:off x="7086600" y="2209801"/>
            <a:ext cx="17859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kysymykset</a:t>
            </a:r>
          </a:p>
        </p:txBody>
      </p:sp>
      <p:sp>
        <p:nvSpPr>
          <p:cNvPr id="13328" name="Rectangle 15"/>
          <p:cNvSpPr>
            <a:spLocks noChangeArrowheads="1"/>
          </p:cNvSpPr>
          <p:nvPr/>
        </p:nvSpPr>
        <p:spPr bwMode="auto">
          <a:xfrm rot="-5400000">
            <a:off x="1476376" y="2201863"/>
            <a:ext cx="165576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600">
                <a:solidFill>
                  <a:srgbClr val="FFFFFF"/>
                </a:solidFill>
                <a:latin typeface="Avenir Medium" charset="0"/>
              </a:rPr>
              <a:t>Fragen</a:t>
            </a:r>
          </a:p>
        </p:txBody>
      </p:sp>
      <p:sp>
        <p:nvSpPr>
          <p:cNvPr id="13329" name="Rectangle 16"/>
          <p:cNvSpPr>
            <a:spLocks noChangeArrowheads="1"/>
          </p:cNvSpPr>
          <p:nvPr/>
        </p:nvSpPr>
        <p:spPr bwMode="auto">
          <a:xfrm>
            <a:off x="5410200" y="2667001"/>
            <a:ext cx="762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13330" name="Rectangle 18"/>
          <p:cNvSpPr>
            <a:spLocks noChangeArrowheads="1"/>
          </p:cNvSpPr>
          <p:nvPr/>
        </p:nvSpPr>
        <p:spPr bwMode="auto">
          <a:xfrm>
            <a:off x="3276601" y="2133601"/>
            <a:ext cx="20617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</a:rPr>
              <a:t>सवालों के जवाब</a:t>
            </a:r>
          </a:p>
        </p:txBody>
      </p:sp>
      <p:sp>
        <p:nvSpPr>
          <p:cNvPr id="13331" name="Rectangle 19"/>
          <p:cNvSpPr>
            <a:spLocks noChangeArrowheads="1"/>
          </p:cNvSpPr>
          <p:nvPr/>
        </p:nvSpPr>
        <p:spPr bwMode="auto">
          <a:xfrm>
            <a:off x="1752600" y="3886200"/>
            <a:ext cx="22669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FFFFFF"/>
                </a:solidFill>
                <a:latin typeface="Avenir Medium" charset="0"/>
              </a:rPr>
              <a:t>pertanyaan</a:t>
            </a:r>
          </a:p>
        </p:txBody>
      </p:sp>
      <p:sp>
        <p:nvSpPr>
          <p:cNvPr id="13332" name="Rectangle 20"/>
          <p:cNvSpPr>
            <a:spLocks noChangeArrowheads="1"/>
          </p:cNvSpPr>
          <p:nvPr/>
        </p:nvSpPr>
        <p:spPr bwMode="auto">
          <a:xfrm rot="-5400000">
            <a:off x="5919788" y="2279651"/>
            <a:ext cx="17287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domande</a:t>
            </a:r>
          </a:p>
        </p:txBody>
      </p:sp>
      <p:sp>
        <p:nvSpPr>
          <p:cNvPr id="13333" name="Rectangle 21"/>
          <p:cNvSpPr>
            <a:spLocks noChangeArrowheads="1"/>
          </p:cNvSpPr>
          <p:nvPr/>
        </p:nvSpPr>
        <p:spPr bwMode="auto">
          <a:xfrm>
            <a:off x="3886200" y="3352800"/>
            <a:ext cx="1004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ja-JP" altLang="en-US" sz="3200">
                <a:solidFill>
                  <a:srgbClr val="FFFFFF"/>
                </a:solidFill>
              </a:rPr>
              <a:t>質問</a:t>
            </a:r>
            <a:endParaRPr lang="en-US" sz="3200">
              <a:solidFill>
                <a:srgbClr val="FFFFFF"/>
              </a:solidFill>
            </a:endParaRPr>
          </a:p>
        </p:txBody>
      </p:sp>
      <p:sp>
        <p:nvSpPr>
          <p:cNvPr id="13334" name="Rectangle 22"/>
          <p:cNvSpPr>
            <a:spLocks noChangeArrowheads="1"/>
          </p:cNvSpPr>
          <p:nvPr/>
        </p:nvSpPr>
        <p:spPr bwMode="auto">
          <a:xfrm>
            <a:off x="5105401" y="2286001"/>
            <a:ext cx="15922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perguntas</a:t>
            </a:r>
          </a:p>
        </p:txBody>
      </p:sp>
      <p:sp>
        <p:nvSpPr>
          <p:cNvPr id="13335" name="Rectangle 23"/>
          <p:cNvSpPr>
            <a:spLocks noChangeArrowheads="1"/>
          </p:cNvSpPr>
          <p:nvPr/>
        </p:nvSpPr>
        <p:spPr bwMode="auto">
          <a:xfrm>
            <a:off x="3654426" y="1600201"/>
            <a:ext cx="13989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Times" panose="02020603050405020304" pitchFamily="18" charset="0"/>
              </a:rPr>
              <a:t>вопросов</a:t>
            </a:r>
          </a:p>
        </p:txBody>
      </p:sp>
      <p:sp>
        <p:nvSpPr>
          <p:cNvPr id="13336" name="Rectangle 24"/>
          <p:cNvSpPr>
            <a:spLocks noChangeArrowheads="1"/>
          </p:cNvSpPr>
          <p:nvPr/>
        </p:nvSpPr>
        <p:spPr bwMode="auto">
          <a:xfrm>
            <a:off x="7162800" y="3360738"/>
            <a:ext cx="11366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sorular</a:t>
            </a:r>
          </a:p>
        </p:txBody>
      </p:sp>
      <p:sp>
        <p:nvSpPr>
          <p:cNvPr id="13337" name="TextBox 25"/>
          <p:cNvSpPr txBox="1">
            <a:spLocks noChangeArrowheads="1"/>
          </p:cNvSpPr>
          <p:nvPr/>
        </p:nvSpPr>
        <p:spPr bwMode="auto">
          <a:xfrm>
            <a:off x="8991600" y="1371601"/>
            <a:ext cx="1524000" cy="315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9900">
                <a:solidFill>
                  <a:srgbClr val="FFFFFF"/>
                </a:solidFill>
                <a:latin typeface="Avenir Medium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3110979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1"/>
          <p:cNvSpPr>
            <a:spLocks noGrp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hangingPunct="1"/>
            <a:fld id="{207FAFF6-E146-4F48-809E-3DA26EEA4871}" type="slidenum">
              <a:rPr lang="en-US" sz="1400">
                <a:latin typeface="Times" panose="02020603050405020304" pitchFamily="18" charset="0"/>
                <a:sym typeface="Times" panose="02020603050405020304" pitchFamily="18" charset="0"/>
              </a:rPr>
              <a:pPr eaLnBrk="1" hangingPunct="1"/>
              <a:t>45</a:t>
            </a:fld>
            <a:endParaRPr lang="en-US" sz="1400">
              <a:latin typeface="Times" panose="02020603050405020304" pitchFamily="18" charset="0"/>
              <a:sym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64471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Overlay-2ColumnText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308472" y="879087"/>
            <a:ext cx="3428149" cy="5171757"/>
          </a:xfrm>
          <a:prstGeom prst="round2DiagRect">
            <a:avLst/>
          </a:prstGeom>
          <a:gradFill flip="none" rotWithShape="1">
            <a:gsLst>
              <a:gs pos="0">
                <a:srgbClr val="38ABED"/>
              </a:gs>
              <a:gs pos="100000">
                <a:srgbClr val="1B3861"/>
              </a:gs>
            </a:gsLst>
            <a:lin ang="5400000" scaled="0"/>
            <a:tileRect/>
          </a:gradFill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1" y="136525"/>
            <a:ext cx="2463800" cy="457200"/>
          </a:xfrm>
          <a:prstGeom prst="rect">
            <a:avLst/>
          </a:prstGeom>
        </p:spPr>
      </p:pic>
      <p:sp>
        <p:nvSpPr>
          <p:cNvPr id="4" name="Title 3"/>
          <p:cNvSpPr txBox="1">
            <a:spLocks noGrp="1"/>
          </p:cNvSpPr>
          <p:nvPr>
            <p:ph type="title"/>
          </p:nvPr>
        </p:nvSpPr>
        <p:spPr>
          <a:xfrm>
            <a:off x="490653" y="1142804"/>
            <a:ext cx="4371278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  <a:t>පළමුව </a:t>
            </a:r>
            <a:b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</a:br>
            <a: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  <a:t>ප්‍රතිචාර දක්වන්නා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8473" y="2467781"/>
            <a:ext cx="11001784" cy="4694918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si-LK" sz="2400" dirty="0"/>
              <a:t>ඉදිරිපත් කිරිමේ මාතෘකා</a:t>
            </a:r>
            <a:r>
              <a:rPr lang="si-LK" sz="2400" dirty="0" smtClean="0"/>
              <a:t>ව	:- </a:t>
            </a:r>
            <a:r>
              <a:rPr lang="si-LK" sz="2400" dirty="0"/>
              <a:t>රෝගියාට ප්‍රතිකාර කිරීම	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si-LK" sz="2400" dirty="0" smtClean="0"/>
              <a:t>	ම</a:t>
            </a:r>
            <a:r>
              <a:rPr lang="si-LK" sz="2400" dirty="0"/>
              <a:t>ොඩියුලර</a:t>
            </a:r>
            <a:r>
              <a:rPr lang="si-LK" sz="2400" dirty="0" smtClean="0"/>
              <a:t>්		: 6.4</a:t>
            </a:r>
            <a:r>
              <a:rPr lang="en-US" sz="2400" dirty="0" smtClean="0"/>
              <a:t>b</a:t>
            </a:r>
            <a:endParaRPr lang="si-LK" sz="2400" dirty="0" smtClean="0"/>
          </a:p>
          <a:p>
            <a:pPr marL="0" indent="0">
              <a:buNone/>
            </a:pP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si-LK" sz="2400" dirty="0" smtClean="0"/>
              <a:t>ඉදිරිපත් කරන්නන්/ උපදේශක	:- ඉදිරිපත් කරන්නන්ගේ නම මෙහි </a:t>
            </a:r>
            <a:r>
              <a:rPr lang="si-LK" sz="2400" dirty="0"/>
              <a:t>එක</a:t>
            </a:r>
            <a:r>
              <a:rPr lang="si-LK" sz="2400" dirty="0" smtClean="0"/>
              <a:t>් කරන</a:t>
            </a:r>
            <a:r>
              <a:rPr lang="si-LK" sz="2400" dirty="0"/>
              <a:t>්න.</a:t>
            </a:r>
            <a:r>
              <a:rPr lang="si-LK" sz="2200" dirty="0" smtClean="0"/>
              <a:t>					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si-LK" dirty="0" smtClean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Coordination Saves Lives</a:t>
            </a:r>
            <a:endParaRPr lang="si-LK" sz="1600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 smtClean="0"/>
              <a:t>						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							</a:t>
            </a:r>
            <a:r>
              <a:rPr lang="si-LK" dirty="0" smtClean="0"/>
              <a:t>	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/>
          <a:srcRect l="28981" t="79333" r="13981" b="13852"/>
          <a:stretch/>
        </p:blipFill>
        <p:spPr>
          <a:xfrm>
            <a:off x="198160" y="6230892"/>
            <a:ext cx="11907157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84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1" y="136525"/>
            <a:ext cx="2463800" cy="457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pic>
        <p:nvPicPr>
          <p:cNvPr id="11" name="Picture 10" descr="Overlay-2ColumnText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7981244" y="223365"/>
            <a:ext cx="3603014" cy="5688981"/>
          </a:xfrm>
          <a:prstGeom prst="round2DiagRect">
            <a:avLst/>
          </a:prstGeom>
          <a:gradFill flip="none" rotWithShape="1">
            <a:gsLst>
              <a:gs pos="0">
                <a:srgbClr val="38ABED"/>
              </a:gs>
              <a:gs pos="100000">
                <a:srgbClr val="1B3861"/>
              </a:gs>
            </a:gsLst>
            <a:lin ang="5400000" scaled="0"/>
            <a:tileRect/>
          </a:gradFill>
        </p:spPr>
      </p:pic>
      <p:sp>
        <p:nvSpPr>
          <p:cNvPr id="12" name="Title 3"/>
          <p:cNvSpPr txBox="1">
            <a:spLocks noGrp="1"/>
          </p:cNvSpPr>
          <p:nvPr>
            <p:ph type="title"/>
          </p:nvPr>
        </p:nvSpPr>
        <p:spPr>
          <a:xfrm>
            <a:off x="7236178" y="372126"/>
            <a:ext cx="4084965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  <a:t>පළමුව </a:t>
            </a:r>
            <a:b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</a:br>
            <a: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  <a:t>ප්‍රතිචාර දක්වන්නා</a:t>
            </a:r>
            <a:endParaRPr lang="en-US" sz="3600" b="1" dirty="0"/>
          </a:p>
        </p:txBody>
      </p:sp>
      <p:sp>
        <p:nvSpPr>
          <p:cNvPr id="13" name="Rectangle 12"/>
          <p:cNvSpPr/>
          <p:nvPr/>
        </p:nvSpPr>
        <p:spPr>
          <a:xfrm>
            <a:off x="8161867" y="5278398"/>
            <a:ext cx="29976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Coordination Saves Lives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90071" y="1825625"/>
            <a:ext cx="7030156" cy="4351338"/>
          </a:xfrm>
        </p:spPr>
        <p:txBody>
          <a:bodyPr/>
          <a:lstStyle/>
          <a:p>
            <a:pPr marL="0" indent="0" algn="ctr">
              <a:buNone/>
            </a:pPr>
            <a:r>
              <a:rPr lang="si-LK" sz="4400" b="1" dirty="0"/>
              <a:t>මූලික වෛද්‍ය ගලවා ගැනි</a:t>
            </a:r>
            <a:r>
              <a:rPr lang="si-LK" sz="4400" b="1" dirty="0" smtClean="0"/>
              <a:t>ම</a:t>
            </a:r>
            <a:endParaRPr lang="en-US" sz="4400" b="1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   </a:t>
            </a:r>
            <a:r>
              <a:rPr lang="si-LK" dirty="0" smtClean="0"/>
              <a:t>ර</a:t>
            </a:r>
            <a:r>
              <a:rPr lang="si-LK" dirty="0"/>
              <a:t>ෝගියාට ප්‍රතිකාර කිරී</a:t>
            </a:r>
            <a:r>
              <a:rPr lang="si-LK" dirty="0" smtClean="0"/>
              <a:t>ම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si-LK" sz="3200" dirty="0"/>
              <a:t>පිළිස්සීම්</a:t>
            </a:r>
            <a:r>
              <a:rPr lang="en-US" sz="3200" dirty="0"/>
              <a:t>, </a:t>
            </a:r>
            <a:r>
              <a:rPr lang="si-LK" sz="3200" dirty="0"/>
              <a:t>ශරීරයේ තියුණු වස්තූන් ඇනීම සහ</a:t>
            </a:r>
            <a:endParaRPr lang="en-US" sz="3200" dirty="0"/>
          </a:p>
          <a:p>
            <a:pPr marL="0" indent="0" algn="ctr">
              <a:buNone/>
            </a:pPr>
            <a:r>
              <a:rPr lang="si-LK" sz="3200" dirty="0"/>
              <a:t>ශරීර කොටස් කපා ඉවත් කිරීම</a:t>
            </a:r>
            <a:endParaRPr lang="en-U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2998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84154" y="1089764"/>
            <a:ext cx="4960012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රෝගියාට ප්‍රතිකාර කිරීම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35289" y="2314549"/>
            <a:ext cx="6096000" cy="2397451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ලේ ගැලීම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අස්ථි බිඳීම්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පිළිස්සුම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්</a:t>
            </a:r>
            <a:endParaRPr lang="en-US" sz="2800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800" dirty="0"/>
              <a:t>ශරීරයේ උල් සහිත වස්තූන් ඇනීම</a:t>
            </a:r>
            <a:endParaRPr lang="en-US" sz="2800" dirty="0"/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අත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් පා කැපීම්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65739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11200" y="873848"/>
            <a:ext cx="6096000" cy="134376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රෝගියාට ප්‍රතිකාර කිරීම</a:t>
            </a: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si-LK" sz="3600" dirty="0">
                <a:latin typeface="Calibri" panose="020F0502020204030204" pitchFamily="34" charset="0"/>
                <a:ea typeface="Calibri" panose="020F0502020204030204" pitchFamily="34" charset="0"/>
              </a:rPr>
              <a:t>ඉගෙනුම් ප්‍රතිඵල</a:t>
            </a:r>
            <a:endParaRPr lang="en-U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24088" y="2351233"/>
            <a:ext cx="11187290" cy="3138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si-LK" sz="2800" dirty="0"/>
              <a:t>රුධිර වහනය පාලනය කිරීම සඳහා ක්‍රමයක් යොදන්න</a:t>
            </a:r>
            <a:endParaRPr lang="en-US" sz="28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si-LK" sz="2800" dirty="0"/>
              <a:t>අස්ථි බිඳී ඇති නම් එය </a:t>
            </a:r>
            <a:r>
              <a:rPr lang="en-US" sz="2800" dirty="0"/>
              <a:t>Splint</a:t>
            </a:r>
            <a:r>
              <a:rPr lang="si-LK" sz="2800" dirty="0"/>
              <a:t> කරන්න</a:t>
            </a:r>
            <a:endParaRPr lang="en-US" sz="28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si-LK" sz="2800" dirty="0"/>
              <a:t>පිළිස්සුම් සඳහා හදිසි ප්‍රතිකාර ලබා දීම</a:t>
            </a:r>
            <a:endParaRPr lang="en-US" sz="28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si-LK" sz="2800" dirty="0"/>
              <a:t>තුවාල සිදුවීම නිසා ශරීරයේ එල්ලා වැටෙන කොටස් ස්ථිරව තබා ප්‍රතිකාර කිරිම</a:t>
            </a:r>
            <a:endParaRPr lang="en-US" sz="28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si-LK" sz="2800" dirty="0"/>
              <a:t>අත් කපා ඉවත් කළ රෝගියෙකුට හදිසි ප්‍රතිකාර ලබා දීම සහ කපා දැමූ සිරුරේ කොටස් වල ජිවය රදවා තබා ගනිමින් රැකබලා ගැනීම.</a:t>
            </a:r>
            <a:endParaRPr lang="en-US" sz="2800" dirty="0"/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5437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84154" y="1089764"/>
            <a:ext cx="4960012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රෝගියාට ප්‍රතිකාර කිරීම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35289" y="2314549"/>
            <a:ext cx="6096000" cy="2397451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ලේ ගැලීම</a:t>
            </a:r>
            <a:endParaRPr lang="en-US" sz="2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අස්ථි බිඳීම්</a:t>
            </a:r>
            <a:endParaRPr lang="en-US" sz="2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පිළිස්සුම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්</a:t>
            </a:r>
          </a:p>
          <a:p>
            <a:pPr marL="342900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800" dirty="0">
                <a:solidFill>
                  <a:schemeClr val="bg2"/>
                </a:solidFill>
              </a:rPr>
              <a:t>ශරීරයේ උල් සහිත වස්තූන් ඇනීම</a:t>
            </a:r>
            <a:endParaRPr lang="en-US" sz="2800" dirty="0">
              <a:solidFill>
                <a:schemeClr val="bg2"/>
              </a:solidFill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අත</a:t>
            </a:r>
            <a:r>
              <a:rPr lang="si-LK" sz="2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් පා කැපීම්</a:t>
            </a:r>
            <a:endParaRPr lang="en-US" sz="28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95362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80182" y="954297"/>
            <a:ext cx="3193503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පිළිස්සුම් තුවාල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69244" y="2098286"/>
            <a:ext cx="10363200" cy="34285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3600" dirty="0">
                <a:latin typeface="Calibri" panose="020F0502020204030204" pitchFamily="34" charset="0"/>
                <a:ea typeface="Calibri" panose="020F0502020204030204" pitchFamily="34" charset="0"/>
              </a:rPr>
              <a:t>පොදුවේ වර්ග කිරිම:</a:t>
            </a: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  <a:tabLst>
                <a:tab pos="800100" algn="l"/>
              </a:tabLst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තාපය: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වියළි පිළිස්සිම: ගිනි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;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උණුසුම් මතුපිට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තෙත් පිළිස්සුම්: උණු වතුර / වාෂ්ප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  <a:tabLst>
                <a:tab pos="800100" algn="l"/>
              </a:tabLst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රසායනික: අම්ල උදා. හයිඩ්රොක්ලෝරික් අම්ලය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  <a:tabLst>
                <a:tab pos="800100" algn="l"/>
              </a:tabLst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රසායනික: භාෂ්ම උදා. දෙහි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  <a:tabLst>
                <a:tab pos="800100" algn="l"/>
              </a:tabLst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විදුලි: විදුලි ධාරාව හෝ චාප සමග සෘජු ස්පර්ශය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22926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68893" y="1061810"/>
            <a:ext cx="3193503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පිළිස්සුම් තුවාල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53155" y="2160783"/>
            <a:ext cx="6096000" cy="3648884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පිළිස්සුම් තුවාල වර්ගී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කරණය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endParaRPr lang="si-LK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endParaRPr lang="si-LK" sz="2400" dirty="0" smtClean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endParaRPr lang="si-LK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endParaRPr lang="si-LK" sz="2400" dirty="0" smtClean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si-LK" sz="2400" dirty="0" smtClean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බොහෝ රෝගීන්ට මෙම දෙකෙහි සංයෝජනයක් ඇති වේ.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2050" name="Picture 2" descr="Characteristics of Burn Injuri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7236" y="1207912"/>
            <a:ext cx="6566431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90947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68893" y="1061810"/>
            <a:ext cx="1867819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පිළිස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්සීම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68336" y="2207363"/>
            <a:ext cx="3589444" cy="6559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indent="-571500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si-LK" sz="3600" dirty="0">
                <a:latin typeface="Calibri" panose="020F0502020204030204" pitchFamily="34" charset="0"/>
                <a:ea typeface="Calibri" panose="020F0502020204030204" pitchFamily="34" charset="0"/>
              </a:rPr>
              <a:t>මතුපිට පිළීස්සීම</a:t>
            </a:r>
            <a:endParaRPr lang="en-U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1026" name="Picture 2" descr="Burns and Burn Rehabilitation Module Four Free Trial - Pass The O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6802" y="832929"/>
            <a:ext cx="3665144" cy="4721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94654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68893" y="1061810"/>
            <a:ext cx="1867819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පිළිස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්සීම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45758" y="2102464"/>
            <a:ext cx="4232249" cy="12516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indent="-571500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si-LK" sz="3600" dirty="0"/>
              <a:t>අර්ධ ලෙස පිළිස්සිම</a:t>
            </a:r>
            <a:endParaRPr lang="en-US" sz="3600" dirty="0"/>
          </a:p>
          <a:p>
            <a:pPr marL="571500" indent="-571500">
              <a:lnSpc>
                <a:spcPct val="107000"/>
              </a:lnSpc>
              <a:buFont typeface="Wingdings" panose="05000000000000000000" pitchFamily="2" charset="2"/>
              <a:buChar char="§"/>
            </a:pPr>
            <a:endParaRPr lang="en-U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6" name="Picture 5" descr="C:\Users\Military PC\Downloads\2023\download (1).jpg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64" t="21961" r="13026" b="45935"/>
          <a:stretch/>
        </p:blipFill>
        <p:spPr bwMode="auto">
          <a:xfrm>
            <a:off x="5644444" y="2212371"/>
            <a:ext cx="6096000" cy="363502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606963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68893" y="1061810"/>
            <a:ext cx="1867819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පිළිස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්සීම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45758" y="2102464"/>
            <a:ext cx="5885619" cy="1870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si-LK" sz="3600" dirty="0"/>
              <a:t>සම්පූර්ණ ස්ථරය පිළිස්සීම </a:t>
            </a:r>
            <a:r>
              <a:rPr lang="si-LK" sz="3600" dirty="0" smtClean="0"/>
              <a:t>- </a:t>
            </a:r>
            <a:r>
              <a:rPr lang="si-LK" sz="3600" dirty="0"/>
              <a:t>බොහෝ විට වේදනාව රහිතය</a:t>
            </a:r>
            <a:endParaRPr lang="en-US" sz="3600" dirty="0"/>
          </a:p>
          <a:p>
            <a:pPr marL="571500" indent="-571500">
              <a:lnSpc>
                <a:spcPct val="107000"/>
              </a:lnSpc>
              <a:buFont typeface="Wingdings" panose="05000000000000000000" pitchFamily="2" charset="2"/>
              <a:buChar char="§"/>
            </a:pPr>
            <a:endParaRPr lang="en-U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6" name="Picture 5" descr="C:\Users\Military PC\Downloads\2023\1-s2.0-S0305417915002399-gr4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6367" y="2416639"/>
            <a:ext cx="4503455" cy="36680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27337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68893" y="1061810"/>
            <a:ext cx="1867819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පිළිස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්සීම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45758" y="2102464"/>
            <a:ext cx="7703131" cy="12779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si-LK" sz="3600" dirty="0"/>
              <a:t>හතරවන වර්ගීකරණය - දැවීම (කරවීම)</a:t>
            </a:r>
            <a:endParaRPr lang="en-US" sz="3600" dirty="0"/>
          </a:p>
          <a:p>
            <a:pPr marL="571500" indent="-571500">
              <a:lnSpc>
                <a:spcPct val="107000"/>
              </a:lnSpc>
              <a:buFont typeface="Wingdings" panose="05000000000000000000" pitchFamily="2" charset="2"/>
              <a:buChar char="§"/>
            </a:pPr>
            <a:endParaRPr lang="en-U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5799" y="2767330"/>
            <a:ext cx="6353602" cy="342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19940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68893" y="1061810"/>
            <a:ext cx="1867819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පිළිස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්සීම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82133" y="2109390"/>
            <a:ext cx="10363200" cy="29016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ඉතිහාසය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මූලාශ්‍රය කුමක්ද උදා. ගිනි ගැනිමේ මුලාශ්‍රය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?</a:t>
            </a: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 සිටියේ සංවෘත අවකාශයකද -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?</a:t>
            </a:r>
          </a:p>
          <a:p>
            <a:pPr marL="1143000" lvl="1">
              <a:lnSpc>
                <a:spcPct val="107000"/>
              </a:lnSpc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ආශ්වාස පිළිස්සුම්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අන්තරායකර ද්‍රව්‍ය සම්බන්ධ වී තිබේද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? -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උදා: අම්ලය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?</a:t>
            </a: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සිදුවීම සම්බන්ධ කම්පන තත්වයක් තිබේද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?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341192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68893" y="1061810"/>
            <a:ext cx="1867819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පිළිස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්සීම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8892" y="2078386"/>
            <a:ext cx="11039285" cy="37612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ප්‍රතිකාර: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ආරක්ෂාව -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CABC</a:t>
            </a: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අරමුණ: තවදුරටත් තුවාල වීම වැළැක්වීම සහ ආසාදනය අවම කිරීම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පිළිස්සීමේ මූලාශ්‍රය ඉවත් කරන්න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රසායනික පිළිස්සුම්: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තෙත් පිළිස්සීමක් නම් උදා. අම්ලය = වතුරෙන් සෝදා හරින්න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වියළි පිළිස්සීමක් නම් උදා. භෂ්ම = කුඩු ඉවත් කරන්න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පිළිස්සුණු ප්‍රදේශය විනාඩි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20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ක් දක්වා පමණ කාලයක් ප්‍රායෝගිකව ලබා ගත හැකි පිරිසිදුම ජලය සමඟ සිසිල් කරන්න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4591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68893" y="1061810"/>
            <a:ext cx="1867819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පිළිස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්සීම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70844" y="2277830"/>
            <a:ext cx="10735734" cy="24633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දැඩි ලෙස පිළිස්සි ඇති රෝගීන් හයිපෝතර්මියාව (සීතල) තත්වයට ගොදුරු වේ.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පිළිස්සුණු රෝගියෙකු වෙව්ලීමට පටන් ගනී නම් හෝ දැඩි සීතල දැනීම ගැන පැමිණිලි කරයි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සිසිලනය නවත්වන්න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උණුසුම්ව තබා ගැනීමට ආවරණය කරන්න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ඉක්මනින් ප්‍රවාහනය කරන්න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21219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761067" y="740229"/>
            <a:ext cx="6096000" cy="37555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65122" y="976875"/>
            <a:ext cx="2225289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ලේ ගැලීම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422399" y="2664948"/>
            <a:ext cx="9539111" cy="1277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රන් රීතිය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1: 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පිළිස්සීම ඇතිවන ප්‍රභවය ඉවත් කරන්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න</a:t>
            </a:r>
            <a:endParaRPr lang="en-US" sz="2400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රන් රීතිය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2: 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මිනිත්තු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20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ක් දක්වා ප්‍රායෝගිකව සිසිලනය කිරිම කරන්න.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562404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ChangeArrowheads="1"/>
          </p:cNvSpPr>
          <p:nvPr/>
        </p:nvSpPr>
        <p:spPr bwMode="auto">
          <a:xfrm>
            <a:off x="1981200" y="304800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marL="382588" indent="-3429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fontAlgn="base">
              <a:spcBef>
                <a:spcPts val="800"/>
              </a:spcBef>
              <a:spcAft>
                <a:spcPct val="0"/>
              </a:spcAft>
              <a:buClr>
                <a:srgbClr val="FFFFFF"/>
              </a:buClr>
              <a:buSzPct val="100000"/>
            </a:pPr>
            <a:endParaRPr lang="en-US" sz="4000">
              <a:solidFill>
                <a:srgbClr val="056CB6"/>
              </a:solidFill>
              <a:latin typeface="Arial" panose="020B0604020202020204" pitchFamily="34" charset="0"/>
              <a:sym typeface="Times" panose="02020603050405020304" pitchFamily="18" charset="0"/>
            </a:endParaRPr>
          </a:p>
        </p:txBody>
      </p:sp>
      <p:sp>
        <p:nvSpPr>
          <p:cNvPr id="13315" name="TextBox 1"/>
          <p:cNvSpPr txBox="1">
            <a:spLocks noChangeArrowheads="1"/>
          </p:cNvSpPr>
          <p:nvPr/>
        </p:nvSpPr>
        <p:spPr bwMode="auto">
          <a:xfrm>
            <a:off x="2133600" y="609601"/>
            <a:ext cx="82296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pic>
        <p:nvPicPr>
          <p:cNvPr id="13316" name="Picture 1" descr="backgroun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524000"/>
            <a:ext cx="8763000" cy="299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TextBox 2"/>
          <p:cNvSpPr txBox="1">
            <a:spLocks noChangeArrowheads="1"/>
          </p:cNvSpPr>
          <p:nvPr/>
        </p:nvSpPr>
        <p:spPr bwMode="auto">
          <a:xfrm>
            <a:off x="3276600" y="2592388"/>
            <a:ext cx="28194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4400">
                <a:solidFill>
                  <a:srgbClr val="FFFFFF"/>
                </a:solidFill>
                <a:latin typeface="Avenir Medium" charset="0"/>
              </a:rPr>
              <a:t>Questions</a:t>
            </a:r>
          </a:p>
        </p:txBody>
      </p:sp>
      <p:sp>
        <p:nvSpPr>
          <p:cNvPr id="13318" name="TextBox 4"/>
          <p:cNvSpPr txBox="1">
            <a:spLocks noChangeArrowheads="1"/>
          </p:cNvSpPr>
          <p:nvPr/>
        </p:nvSpPr>
        <p:spPr bwMode="auto">
          <a:xfrm rot="-5400000">
            <a:off x="5450682" y="3358357"/>
            <a:ext cx="17526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Cuestión</a:t>
            </a:r>
          </a:p>
        </p:txBody>
      </p:sp>
      <p:sp>
        <p:nvSpPr>
          <p:cNvPr id="13319" name="Rectangle 6"/>
          <p:cNvSpPr>
            <a:spLocks noChangeArrowheads="1"/>
          </p:cNvSpPr>
          <p:nvPr/>
        </p:nvSpPr>
        <p:spPr bwMode="auto">
          <a:xfrm>
            <a:off x="7086600" y="1676401"/>
            <a:ext cx="17986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La question</a:t>
            </a:r>
          </a:p>
        </p:txBody>
      </p:sp>
      <p:sp>
        <p:nvSpPr>
          <p:cNvPr id="13320" name="Rectangle 7"/>
          <p:cNvSpPr>
            <a:spLocks noChangeArrowheads="1"/>
          </p:cNvSpPr>
          <p:nvPr/>
        </p:nvSpPr>
        <p:spPr bwMode="auto">
          <a:xfrm>
            <a:off x="7086600" y="2582864"/>
            <a:ext cx="137569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ar-SA" sz="4400">
                <a:solidFill>
                  <a:srgbClr val="FFFFFF"/>
                </a:solidFill>
              </a:rPr>
              <a:t>الأسئلة</a:t>
            </a:r>
            <a:endParaRPr lang="en-US" sz="4400">
              <a:solidFill>
                <a:srgbClr val="FFFFFF"/>
              </a:solidFill>
            </a:endParaRPr>
          </a:p>
        </p:txBody>
      </p:sp>
      <p:sp>
        <p:nvSpPr>
          <p:cNvPr id="13321" name="Rectangle 8"/>
          <p:cNvSpPr>
            <a:spLocks noChangeArrowheads="1"/>
          </p:cNvSpPr>
          <p:nvPr/>
        </p:nvSpPr>
        <p:spPr bwMode="auto">
          <a:xfrm>
            <a:off x="1905001" y="3200401"/>
            <a:ext cx="1801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bg-BG" sz="3600">
                <a:solidFill>
                  <a:srgbClr val="FFFFFF"/>
                </a:solidFill>
              </a:rPr>
              <a:t>въпроси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3322" name="Rectangle 9"/>
          <p:cNvSpPr>
            <a:spLocks noChangeArrowheads="1"/>
          </p:cNvSpPr>
          <p:nvPr/>
        </p:nvSpPr>
        <p:spPr bwMode="auto">
          <a:xfrm>
            <a:off x="5334001" y="1676401"/>
            <a:ext cx="11080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TW" altLang="en-US" sz="3600">
                <a:solidFill>
                  <a:srgbClr val="FFFFFF"/>
                </a:solidFill>
              </a:rPr>
              <a:t>问题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3323" name="Rectangle 10"/>
          <p:cNvSpPr>
            <a:spLocks noChangeArrowheads="1"/>
          </p:cNvSpPr>
          <p:nvPr/>
        </p:nvSpPr>
        <p:spPr bwMode="auto">
          <a:xfrm>
            <a:off x="5029201" y="3429001"/>
            <a:ext cx="10969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otázky</a:t>
            </a:r>
          </a:p>
        </p:txBody>
      </p:sp>
      <p:sp>
        <p:nvSpPr>
          <p:cNvPr id="13324" name="Rectangle 11"/>
          <p:cNvSpPr>
            <a:spLocks noChangeArrowheads="1"/>
          </p:cNvSpPr>
          <p:nvPr/>
        </p:nvSpPr>
        <p:spPr bwMode="auto">
          <a:xfrm>
            <a:off x="6826250" y="3886201"/>
            <a:ext cx="1860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spørgsmål</a:t>
            </a:r>
          </a:p>
        </p:txBody>
      </p:sp>
      <p:sp>
        <p:nvSpPr>
          <p:cNvPr id="13325" name="Rectangle 12"/>
          <p:cNvSpPr>
            <a:spLocks noChangeArrowheads="1"/>
          </p:cNvSpPr>
          <p:nvPr/>
        </p:nvSpPr>
        <p:spPr bwMode="auto">
          <a:xfrm rot="-5400000">
            <a:off x="2151856" y="2267744"/>
            <a:ext cx="14620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FFFFFF"/>
                </a:solidFill>
                <a:latin typeface="Avenir Medium" charset="0"/>
              </a:rPr>
              <a:t>vragen</a:t>
            </a:r>
          </a:p>
        </p:txBody>
      </p:sp>
      <p:sp>
        <p:nvSpPr>
          <p:cNvPr id="13326" name="Rectangle 13"/>
          <p:cNvSpPr>
            <a:spLocks noChangeArrowheads="1"/>
          </p:cNvSpPr>
          <p:nvPr/>
        </p:nvSpPr>
        <p:spPr bwMode="auto">
          <a:xfrm>
            <a:off x="4267201" y="3962401"/>
            <a:ext cx="16557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küsimused</a:t>
            </a:r>
          </a:p>
        </p:txBody>
      </p:sp>
      <p:sp>
        <p:nvSpPr>
          <p:cNvPr id="13327" name="Rectangle 14"/>
          <p:cNvSpPr>
            <a:spLocks noChangeArrowheads="1"/>
          </p:cNvSpPr>
          <p:nvPr/>
        </p:nvSpPr>
        <p:spPr bwMode="auto">
          <a:xfrm>
            <a:off x="7086600" y="2209801"/>
            <a:ext cx="17859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kysymykset</a:t>
            </a:r>
          </a:p>
        </p:txBody>
      </p:sp>
      <p:sp>
        <p:nvSpPr>
          <p:cNvPr id="13328" name="Rectangle 15"/>
          <p:cNvSpPr>
            <a:spLocks noChangeArrowheads="1"/>
          </p:cNvSpPr>
          <p:nvPr/>
        </p:nvSpPr>
        <p:spPr bwMode="auto">
          <a:xfrm rot="-5400000">
            <a:off x="1476376" y="2201863"/>
            <a:ext cx="165576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600">
                <a:solidFill>
                  <a:srgbClr val="FFFFFF"/>
                </a:solidFill>
                <a:latin typeface="Avenir Medium" charset="0"/>
              </a:rPr>
              <a:t>Fragen</a:t>
            </a:r>
          </a:p>
        </p:txBody>
      </p:sp>
      <p:sp>
        <p:nvSpPr>
          <p:cNvPr id="13329" name="Rectangle 16"/>
          <p:cNvSpPr>
            <a:spLocks noChangeArrowheads="1"/>
          </p:cNvSpPr>
          <p:nvPr/>
        </p:nvSpPr>
        <p:spPr bwMode="auto">
          <a:xfrm>
            <a:off x="5410200" y="2667001"/>
            <a:ext cx="762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13330" name="Rectangle 18"/>
          <p:cNvSpPr>
            <a:spLocks noChangeArrowheads="1"/>
          </p:cNvSpPr>
          <p:nvPr/>
        </p:nvSpPr>
        <p:spPr bwMode="auto">
          <a:xfrm>
            <a:off x="3276601" y="2133601"/>
            <a:ext cx="20617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</a:rPr>
              <a:t>सवालों के जवाब</a:t>
            </a:r>
          </a:p>
        </p:txBody>
      </p:sp>
      <p:sp>
        <p:nvSpPr>
          <p:cNvPr id="13331" name="Rectangle 19"/>
          <p:cNvSpPr>
            <a:spLocks noChangeArrowheads="1"/>
          </p:cNvSpPr>
          <p:nvPr/>
        </p:nvSpPr>
        <p:spPr bwMode="auto">
          <a:xfrm>
            <a:off x="1752600" y="3886200"/>
            <a:ext cx="22669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FFFFFF"/>
                </a:solidFill>
                <a:latin typeface="Avenir Medium" charset="0"/>
              </a:rPr>
              <a:t>pertanyaan</a:t>
            </a:r>
          </a:p>
        </p:txBody>
      </p:sp>
      <p:sp>
        <p:nvSpPr>
          <p:cNvPr id="13332" name="Rectangle 20"/>
          <p:cNvSpPr>
            <a:spLocks noChangeArrowheads="1"/>
          </p:cNvSpPr>
          <p:nvPr/>
        </p:nvSpPr>
        <p:spPr bwMode="auto">
          <a:xfrm rot="-5400000">
            <a:off x="5919788" y="2279651"/>
            <a:ext cx="17287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domande</a:t>
            </a:r>
          </a:p>
        </p:txBody>
      </p:sp>
      <p:sp>
        <p:nvSpPr>
          <p:cNvPr id="13333" name="Rectangle 21"/>
          <p:cNvSpPr>
            <a:spLocks noChangeArrowheads="1"/>
          </p:cNvSpPr>
          <p:nvPr/>
        </p:nvSpPr>
        <p:spPr bwMode="auto">
          <a:xfrm>
            <a:off x="3886200" y="3352800"/>
            <a:ext cx="1004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ja-JP" altLang="en-US" sz="3200">
                <a:solidFill>
                  <a:srgbClr val="FFFFFF"/>
                </a:solidFill>
              </a:rPr>
              <a:t>質問</a:t>
            </a:r>
            <a:endParaRPr lang="en-US" sz="3200">
              <a:solidFill>
                <a:srgbClr val="FFFFFF"/>
              </a:solidFill>
            </a:endParaRPr>
          </a:p>
        </p:txBody>
      </p:sp>
      <p:sp>
        <p:nvSpPr>
          <p:cNvPr id="13334" name="Rectangle 22"/>
          <p:cNvSpPr>
            <a:spLocks noChangeArrowheads="1"/>
          </p:cNvSpPr>
          <p:nvPr/>
        </p:nvSpPr>
        <p:spPr bwMode="auto">
          <a:xfrm>
            <a:off x="5105401" y="2286001"/>
            <a:ext cx="15922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perguntas</a:t>
            </a:r>
          </a:p>
        </p:txBody>
      </p:sp>
      <p:sp>
        <p:nvSpPr>
          <p:cNvPr id="13335" name="Rectangle 23"/>
          <p:cNvSpPr>
            <a:spLocks noChangeArrowheads="1"/>
          </p:cNvSpPr>
          <p:nvPr/>
        </p:nvSpPr>
        <p:spPr bwMode="auto">
          <a:xfrm>
            <a:off x="3654426" y="1600201"/>
            <a:ext cx="13989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Times" panose="02020603050405020304" pitchFamily="18" charset="0"/>
              </a:rPr>
              <a:t>вопросов</a:t>
            </a:r>
          </a:p>
        </p:txBody>
      </p:sp>
      <p:sp>
        <p:nvSpPr>
          <p:cNvPr id="13336" name="Rectangle 24"/>
          <p:cNvSpPr>
            <a:spLocks noChangeArrowheads="1"/>
          </p:cNvSpPr>
          <p:nvPr/>
        </p:nvSpPr>
        <p:spPr bwMode="auto">
          <a:xfrm>
            <a:off x="7162800" y="3360738"/>
            <a:ext cx="11366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sorular</a:t>
            </a:r>
          </a:p>
        </p:txBody>
      </p:sp>
      <p:sp>
        <p:nvSpPr>
          <p:cNvPr id="13337" name="TextBox 25"/>
          <p:cNvSpPr txBox="1">
            <a:spLocks noChangeArrowheads="1"/>
          </p:cNvSpPr>
          <p:nvPr/>
        </p:nvSpPr>
        <p:spPr bwMode="auto">
          <a:xfrm>
            <a:off x="8991600" y="1371601"/>
            <a:ext cx="1524000" cy="315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9900">
                <a:solidFill>
                  <a:srgbClr val="FFFFFF"/>
                </a:solidFill>
                <a:latin typeface="Avenir Medium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8459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80085" y="740229"/>
            <a:ext cx="4910319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රෝගීන්ට ප්‍රතිකාර කිරිම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95022" y="2311006"/>
            <a:ext cx="6096000" cy="237475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රුධීරය ගැලීම</a:t>
            </a:r>
            <a:endParaRPr lang="en-US" sz="2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අස්ථි බිඳිම</a:t>
            </a:r>
            <a:endParaRPr lang="en-US" sz="2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පිළිස්සිම</a:t>
            </a:r>
            <a:endParaRPr lang="en-US" sz="2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වස්තූන් ඇනිම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ශරීර කොටස් වෙන්වීම / වෙන් කිරිම</a:t>
            </a:r>
            <a:endParaRPr lang="en-US" sz="28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499404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979141" y="1191363"/>
            <a:ext cx="5288627" cy="783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400" b="1" dirty="0">
                <a:latin typeface="Calibri" panose="020F0502020204030204" pitchFamily="34" charset="0"/>
                <a:ea typeface="Calibri" panose="020F0502020204030204" pitchFamily="34" charset="0"/>
              </a:rPr>
              <a:t>ශරීරයේ ඇණුන වස්තුන්</a:t>
            </a:r>
            <a:endParaRPr lang="en-US" sz="4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79141" y="2478530"/>
            <a:ext cx="10806459" cy="28586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3600" b="1" dirty="0">
                <a:latin typeface="Calibri" panose="020F0502020204030204" pitchFamily="34" charset="0"/>
                <a:ea typeface="Calibri" panose="020F0502020204030204" pitchFamily="34" charset="0"/>
              </a:rPr>
              <a:t>ශරීරයේ ඇණී ඇති කිසිම වස්තුවක් ඉවත් නොකරන්න</a:t>
            </a:r>
            <a:endParaRPr lang="en-US" sz="3600" b="1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වස්තුව ඉවත් කිරීම සිදු කිරිම නිසා: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ශරීරයේ පටක වලට හානි ඇති කරයි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වැඩි රුධිර වහනයක් ඇති කරයි (වස්තුව ඇබයක් ලෙස ක්‍රියා කරයි)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දැඩි වේදනාව ඇති කරයි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වස්තුව අවයවයක "හිරවී" ඇත්දැයි බැලීමට එය අදින්න එප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ා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14282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90070" y="965585"/>
            <a:ext cx="7430239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ශරීරයේ ඇණුනු වස්තුවකට උදාරහණ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070" y="1686616"/>
            <a:ext cx="4524375" cy="3657600"/>
          </a:xfrm>
          <a:prstGeom prst="rect">
            <a:avLst/>
          </a:prstGeom>
        </p:spPr>
      </p:pic>
      <p:pic>
        <p:nvPicPr>
          <p:cNvPr id="6" name="Picture 5" descr="Construction worker impaled by two iron rods, one inches from heart,  miraculously survives | Fox News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3836" y="1686616"/>
            <a:ext cx="2762478" cy="3657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873838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862042" y="1123630"/>
            <a:ext cx="4690708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ශරීරයේ ඇණුන වස්තුව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62042" y="2082225"/>
            <a:ext cx="11231986" cy="2990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ප්‍රතිකාර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ආරක්ෂාව -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CABC</a:t>
            </a: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ඇණුන වස්තුව එසේම තබන්න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වස්තුව ස්ථාවර කරන්න - එම වස්තුව තවදුරටත් චලනය විම වළක්වන්න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වස්තුව වටා ඇඳුම් හෝ රෙදි අසුරන්න / ඔතන්න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ආරක්ෂිත කිරිමට ඇඳුම් පැළඳුම්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 භාවිතාකරන්න උදා. ටේප් / වෙළුම් පටි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ඉක්මනින් ප්‍රවාහනය කරන්න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586375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862042" y="1123630"/>
            <a:ext cx="4798108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ශරීරයේ ඇණු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නු </a:t>
            </a: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වස්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තූන්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6" name="Picture 2" descr="Open - Windows Sound Icon Png Transparent PNG - 2000x2000 - Free Download  on Nice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431972">
            <a:off x="4152798" y="2046110"/>
            <a:ext cx="3489779" cy="326414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246315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862042" y="1123630"/>
            <a:ext cx="4798108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ශරීරයේ ඇණු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නු </a:t>
            </a: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වස්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තූන්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72444" y="2267487"/>
            <a:ext cx="10385777" cy="1913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ස්වර්ණමය රීතිය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1: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ශරීරයේ ඇති වස්තුවක් ඉවත් කිරීම හෝ ඇදිම සිදු නොකරන්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න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රන් රීතිය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2: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ප්‍රවාහනයට පෙර ශරීරයේ ඇති වස්තුව ස්ථාවර කරන්න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06739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ChangeArrowheads="1"/>
          </p:cNvSpPr>
          <p:nvPr/>
        </p:nvSpPr>
        <p:spPr bwMode="auto">
          <a:xfrm>
            <a:off x="1981200" y="304800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marL="382588" indent="-3429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fontAlgn="base">
              <a:spcBef>
                <a:spcPts val="800"/>
              </a:spcBef>
              <a:spcAft>
                <a:spcPct val="0"/>
              </a:spcAft>
              <a:buClr>
                <a:srgbClr val="FFFFFF"/>
              </a:buClr>
              <a:buSzPct val="100000"/>
            </a:pPr>
            <a:endParaRPr lang="en-US" sz="4000">
              <a:solidFill>
                <a:srgbClr val="056CB6"/>
              </a:solidFill>
              <a:latin typeface="Arial" panose="020B0604020202020204" pitchFamily="34" charset="0"/>
              <a:sym typeface="Times" panose="02020603050405020304" pitchFamily="18" charset="0"/>
            </a:endParaRPr>
          </a:p>
        </p:txBody>
      </p:sp>
      <p:sp>
        <p:nvSpPr>
          <p:cNvPr id="13315" name="TextBox 1"/>
          <p:cNvSpPr txBox="1">
            <a:spLocks noChangeArrowheads="1"/>
          </p:cNvSpPr>
          <p:nvPr/>
        </p:nvSpPr>
        <p:spPr bwMode="auto">
          <a:xfrm>
            <a:off x="2133600" y="609601"/>
            <a:ext cx="82296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pic>
        <p:nvPicPr>
          <p:cNvPr id="13316" name="Picture 1" descr="backgroun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524000"/>
            <a:ext cx="8763000" cy="299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TextBox 2"/>
          <p:cNvSpPr txBox="1">
            <a:spLocks noChangeArrowheads="1"/>
          </p:cNvSpPr>
          <p:nvPr/>
        </p:nvSpPr>
        <p:spPr bwMode="auto">
          <a:xfrm>
            <a:off x="3276600" y="2592388"/>
            <a:ext cx="28194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4400">
                <a:solidFill>
                  <a:srgbClr val="FFFFFF"/>
                </a:solidFill>
                <a:latin typeface="Avenir Medium" charset="0"/>
              </a:rPr>
              <a:t>Questions</a:t>
            </a:r>
          </a:p>
        </p:txBody>
      </p:sp>
      <p:sp>
        <p:nvSpPr>
          <p:cNvPr id="13318" name="TextBox 4"/>
          <p:cNvSpPr txBox="1">
            <a:spLocks noChangeArrowheads="1"/>
          </p:cNvSpPr>
          <p:nvPr/>
        </p:nvSpPr>
        <p:spPr bwMode="auto">
          <a:xfrm rot="-5400000">
            <a:off x="5450682" y="3358357"/>
            <a:ext cx="17526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Cuestión</a:t>
            </a:r>
          </a:p>
        </p:txBody>
      </p:sp>
      <p:sp>
        <p:nvSpPr>
          <p:cNvPr id="13319" name="Rectangle 6"/>
          <p:cNvSpPr>
            <a:spLocks noChangeArrowheads="1"/>
          </p:cNvSpPr>
          <p:nvPr/>
        </p:nvSpPr>
        <p:spPr bwMode="auto">
          <a:xfrm>
            <a:off x="7086600" y="1676401"/>
            <a:ext cx="17986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La question</a:t>
            </a:r>
          </a:p>
        </p:txBody>
      </p:sp>
      <p:sp>
        <p:nvSpPr>
          <p:cNvPr id="13320" name="Rectangle 7"/>
          <p:cNvSpPr>
            <a:spLocks noChangeArrowheads="1"/>
          </p:cNvSpPr>
          <p:nvPr/>
        </p:nvSpPr>
        <p:spPr bwMode="auto">
          <a:xfrm>
            <a:off x="7086600" y="2582864"/>
            <a:ext cx="137569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ar-SA" sz="4400">
                <a:solidFill>
                  <a:srgbClr val="FFFFFF"/>
                </a:solidFill>
              </a:rPr>
              <a:t>الأسئلة</a:t>
            </a:r>
            <a:endParaRPr lang="en-US" sz="4400">
              <a:solidFill>
                <a:srgbClr val="FFFFFF"/>
              </a:solidFill>
            </a:endParaRPr>
          </a:p>
        </p:txBody>
      </p:sp>
      <p:sp>
        <p:nvSpPr>
          <p:cNvPr id="13321" name="Rectangle 8"/>
          <p:cNvSpPr>
            <a:spLocks noChangeArrowheads="1"/>
          </p:cNvSpPr>
          <p:nvPr/>
        </p:nvSpPr>
        <p:spPr bwMode="auto">
          <a:xfrm>
            <a:off x="1905001" y="3200401"/>
            <a:ext cx="1801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bg-BG" sz="3600">
                <a:solidFill>
                  <a:srgbClr val="FFFFFF"/>
                </a:solidFill>
              </a:rPr>
              <a:t>въпроси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3322" name="Rectangle 9"/>
          <p:cNvSpPr>
            <a:spLocks noChangeArrowheads="1"/>
          </p:cNvSpPr>
          <p:nvPr/>
        </p:nvSpPr>
        <p:spPr bwMode="auto">
          <a:xfrm>
            <a:off x="5334001" y="1676401"/>
            <a:ext cx="11080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TW" altLang="en-US" sz="3600">
                <a:solidFill>
                  <a:srgbClr val="FFFFFF"/>
                </a:solidFill>
              </a:rPr>
              <a:t>问题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3323" name="Rectangle 10"/>
          <p:cNvSpPr>
            <a:spLocks noChangeArrowheads="1"/>
          </p:cNvSpPr>
          <p:nvPr/>
        </p:nvSpPr>
        <p:spPr bwMode="auto">
          <a:xfrm>
            <a:off x="5029201" y="3429001"/>
            <a:ext cx="10969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otázky</a:t>
            </a:r>
          </a:p>
        </p:txBody>
      </p:sp>
      <p:sp>
        <p:nvSpPr>
          <p:cNvPr id="13324" name="Rectangle 11"/>
          <p:cNvSpPr>
            <a:spLocks noChangeArrowheads="1"/>
          </p:cNvSpPr>
          <p:nvPr/>
        </p:nvSpPr>
        <p:spPr bwMode="auto">
          <a:xfrm>
            <a:off x="6826250" y="3886201"/>
            <a:ext cx="1860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spørgsmål</a:t>
            </a:r>
          </a:p>
        </p:txBody>
      </p:sp>
      <p:sp>
        <p:nvSpPr>
          <p:cNvPr id="13325" name="Rectangle 12"/>
          <p:cNvSpPr>
            <a:spLocks noChangeArrowheads="1"/>
          </p:cNvSpPr>
          <p:nvPr/>
        </p:nvSpPr>
        <p:spPr bwMode="auto">
          <a:xfrm rot="-5400000">
            <a:off x="2151856" y="2267744"/>
            <a:ext cx="14620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FFFFFF"/>
                </a:solidFill>
                <a:latin typeface="Avenir Medium" charset="0"/>
              </a:rPr>
              <a:t>vragen</a:t>
            </a:r>
          </a:p>
        </p:txBody>
      </p:sp>
      <p:sp>
        <p:nvSpPr>
          <p:cNvPr id="13326" name="Rectangle 13"/>
          <p:cNvSpPr>
            <a:spLocks noChangeArrowheads="1"/>
          </p:cNvSpPr>
          <p:nvPr/>
        </p:nvSpPr>
        <p:spPr bwMode="auto">
          <a:xfrm>
            <a:off x="4267201" y="3962401"/>
            <a:ext cx="16557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küsimused</a:t>
            </a:r>
          </a:p>
        </p:txBody>
      </p:sp>
      <p:sp>
        <p:nvSpPr>
          <p:cNvPr id="13327" name="Rectangle 14"/>
          <p:cNvSpPr>
            <a:spLocks noChangeArrowheads="1"/>
          </p:cNvSpPr>
          <p:nvPr/>
        </p:nvSpPr>
        <p:spPr bwMode="auto">
          <a:xfrm>
            <a:off x="7086600" y="2209801"/>
            <a:ext cx="17859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kysymykset</a:t>
            </a:r>
          </a:p>
        </p:txBody>
      </p:sp>
      <p:sp>
        <p:nvSpPr>
          <p:cNvPr id="13328" name="Rectangle 15"/>
          <p:cNvSpPr>
            <a:spLocks noChangeArrowheads="1"/>
          </p:cNvSpPr>
          <p:nvPr/>
        </p:nvSpPr>
        <p:spPr bwMode="auto">
          <a:xfrm rot="-5400000">
            <a:off x="1476376" y="2201863"/>
            <a:ext cx="165576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600">
                <a:solidFill>
                  <a:srgbClr val="FFFFFF"/>
                </a:solidFill>
                <a:latin typeface="Avenir Medium" charset="0"/>
              </a:rPr>
              <a:t>Fragen</a:t>
            </a:r>
          </a:p>
        </p:txBody>
      </p:sp>
      <p:sp>
        <p:nvSpPr>
          <p:cNvPr id="13329" name="Rectangle 16"/>
          <p:cNvSpPr>
            <a:spLocks noChangeArrowheads="1"/>
          </p:cNvSpPr>
          <p:nvPr/>
        </p:nvSpPr>
        <p:spPr bwMode="auto">
          <a:xfrm>
            <a:off x="5410200" y="2667001"/>
            <a:ext cx="762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13330" name="Rectangle 18"/>
          <p:cNvSpPr>
            <a:spLocks noChangeArrowheads="1"/>
          </p:cNvSpPr>
          <p:nvPr/>
        </p:nvSpPr>
        <p:spPr bwMode="auto">
          <a:xfrm>
            <a:off x="3276601" y="2133601"/>
            <a:ext cx="20617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</a:rPr>
              <a:t>सवालों के जवाब</a:t>
            </a:r>
          </a:p>
        </p:txBody>
      </p:sp>
      <p:sp>
        <p:nvSpPr>
          <p:cNvPr id="13331" name="Rectangle 19"/>
          <p:cNvSpPr>
            <a:spLocks noChangeArrowheads="1"/>
          </p:cNvSpPr>
          <p:nvPr/>
        </p:nvSpPr>
        <p:spPr bwMode="auto">
          <a:xfrm>
            <a:off x="1752600" y="3886200"/>
            <a:ext cx="22669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FFFFFF"/>
                </a:solidFill>
                <a:latin typeface="Avenir Medium" charset="0"/>
              </a:rPr>
              <a:t>pertanyaan</a:t>
            </a:r>
          </a:p>
        </p:txBody>
      </p:sp>
      <p:sp>
        <p:nvSpPr>
          <p:cNvPr id="13332" name="Rectangle 20"/>
          <p:cNvSpPr>
            <a:spLocks noChangeArrowheads="1"/>
          </p:cNvSpPr>
          <p:nvPr/>
        </p:nvSpPr>
        <p:spPr bwMode="auto">
          <a:xfrm rot="-5400000">
            <a:off x="5919788" y="2279651"/>
            <a:ext cx="17287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domande</a:t>
            </a:r>
          </a:p>
        </p:txBody>
      </p:sp>
      <p:sp>
        <p:nvSpPr>
          <p:cNvPr id="13333" name="Rectangle 21"/>
          <p:cNvSpPr>
            <a:spLocks noChangeArrowheads="1"/>
          </p:cNvSpPr>
          <p:nvPr/>
        </p:nvSpPr>
        <p:spPr bwMode="auto">
          <a:xfrm>
            <a:off x="3886200" y="3352800"/>
            <a:ext cx="1004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ja-JP" altLang="en-US" sz="3200">
                <a:solidFill>
                  <a:srgbClr val="FFFFFF"/>
                </a:solidFill>
              </a:rPr>
              <a:t>質問</a:t>
            </a:r>
            <a:endParaRPr lang="en-US" sz="3200">
              <a:solidFill>
                <a:srgbClr val="FFFFFF"/>
              </a:solidFill>
            </a:endParaRPr>
          </a:p>
        </p:txBody>
      </p:sp>
      <p:sp>
        <p:nvSpPr>
          <p:cNvPr id="13334" name="Rectangle 22"/>
          <p:cNvSpPr>
            <a:spLocks noChangeArrowheads="1"/>
          </p:cNvSpPr>
          <p:nvPr/>
        </p:nvSpPr>
        <p:spPr bwMode="auto">
          <a:xfrm>
            <a:off x="5105401" y="2286001"/>
            <a:ext cx="15922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perguntas</a:t>
            </a:r>
          </a:p>
        </p:txBody>
      </p:sp>
      <p:sp>
        <p:nvSpPr>
          <p:cNvPr id="13335" name="Rectangle 23"/>
          <p:cNvSpPr>
            <a:spLocks noChangeArrowheads="1"/>
          </p:cNvSpPr>
          <p:nvPr/>
        </p:nvSpPr>
        <p:spPr bwMode="auto">
          <a:xfrm>
            <a:off x="3654426" y="1600201"/>
            <a:ext cx="13989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Times" panose="02020603050405020304" pitchFamily="18" charset="0"/>
              </a:rPr>
              <a:t>вопросов</a:t>
            </a:r>
          </a:p>
        </p:txBody>
      </p:sp>
      <p:sp>
        <p:nvSpPr>
          <p:cNvPr id="13336" name="Rectangle 24"/>
          <p:cNvSpPr>
            <a:spLocks noChangeArrowheads="1"/>
          </p:cNvSpPr>
          <p:nvPr/>
        </p:nvSpPr>
        <p:spPr bwMode="auto">
          <a:xfrm>
            <a:off x="7162800" y="3360738"/>
            <a:ext cx="11366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sorular</a:t>
            </a:r>
          </a:p>
        </p:txBody>
      </p:sp>
      <p:sp>
        <p:nvSpPr>
          <p:cNvPr id="13337" name="TextBox 25"/>
          <p:cNvSpPr txBox="1">
            <a:spLocks noChangeArrowheads="1"/>
          </p:cNvSpPr>
          <p:nvPr/>
        </p:nvSpPr>
        <p:spPr bwMode="auto">
          <a:xfrm>
            <a:off x="8991600" y="1371601"/>
            <a:ext cx="1524000" cy="315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9900">
                <a:solidFill>
                  <a:srgbClr val="FFFFFF"/>
                </a:solidFill>
                <a:latin typeface="Avenir Medium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16898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05256" y="1033319"/>
            <a:ext cx="4960012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රෝගියාට ප්‍රතිකාර කිරීම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49867" y="2391507"/>
            <a:ext cx="7495822" cy="23747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ලේ ගැලීම</a:t>
            </a:r>
            <a:endParaRPr lang="en-US" sz="2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අස්ථී බිඳිම</a:t>
            </a:r>
            <a:endParaRPr lang="en-US" sz="2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පිළිස්සුම</a:t>
            </a:r>
            <a:endParaRPr lang="en-US" sz="2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ශරීරයේ වස්තුවක් ඇණිම</a:t>
            </a:r>
            <a:endParaRPr lang="en-US" sz="2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ශරීරයේ කොටස් වෙන් කිරිම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427862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87799" y="954297"/>
            <a:ext cx="6449201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ශරීරයේ අවයව කපා ඉවත් කිරීම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87798" y="1681525"/>
            <a:ext cx="10772023" cy="39123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අත් පා සම්පූර්ණයෙන්ම හෝ අර්ධ වශයෙන් අහිමි වීම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මෙහි ප්‍රධාන සංකූලතාව වන්නේ ලේ ගැලීමයි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මුලදී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එය දරුණු විය හැක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කාලයාගේ ඇවෑමෙන් රුධිර වාහිනී සංකෝචනය වන අතර ලේ ගැලීම මන්දගාමී වේ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ශරීරයේ චලනය රුධිර කැටි ගැසීම කඩාකප්පල් කළ හැකිය - සන්සුන් වන්න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අර්ධ කපා ඉවත් කිරීමේදි සැලකිය යුතු ලෙස ලේ වහනය විය හැක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ප්‍රමුඛතා දෙක: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1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 වන ප්‍රමුඛතාවය රෝගියා වේ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2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 වැනි ප්‍රමුඛතාවය වන්නේ කපා දැමූ සිරුරේ කොටසේ ආරක්ෂාවයි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31461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1938" y="1202652"/>
            <a:ext cx="6745757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ශරීරයේ කොටස් කපා ඉවත් කිරිම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6" name="Picture 5" descr="Replantation of multiple digits and hand amputations: four case reports |  Cases Journal | Full Text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97" t="14930" r="3297" b="31749"/>
          <a:stretch/>
        </p:blipFill>
        <p:spPr bwMode="auto">
          <a:xfrm>
            <a:off x="1163410" y="2129447"/>
            <a:ext cx="5857875" cy="404751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 descr="a) Complete amputation of the right forearm, volar view. (b)... | Download  Scientific Diagram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0643" y="2262959"/>
            <a:ext cx="4475299" cy="37082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6504865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64747" y="1022030"/>
            <a:ext cx="6093335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ශරීර කොටස් කපා ඉවත් කිරීම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4747" y="2024862"/>
            <a:ext cx="11017955" cy="3757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රෝගියාට ලබාදෙන ප්‍රතිකාර: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ආරක්ෂාව -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CABC</a:t>
            </a: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පළමු ප්‍රමුඛතාවය වන්නේ ලේ ගැලීම පාලනය කිරීමයි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කපා දැමූ ප්‍රදේශය ඇඳුම් හෝ වෙනත් රෙදි වර්ගයක් ආධාරයෙන් (පිරිසිදුම වස්තුව උදා: ටී-ෂර්ට් සමඟ වැඩිදියුණු කරන්න) ආවරණය කරන්න.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අර්ධ වශයෙන් කපා ඉවත් කර ඇත්නම් - කපා දැමූ කොටස වෙන් කර තුවාලයක් ලෙස සැලකීම නොකරන්න.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 ඉක්මනින් ප්‍රවාහනය කරන්න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40457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01341" y="897852"/>
            <a:ext cx="5731056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ශරීරයේ කොටස් ඉවත් කිරීම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01340" y="1805635"/>
            <a:ext cx="11019727" cy="4702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වෙන් වු ශරීර කොටස් සදහා ප්‍රතිකාර කිරිම: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 algn="just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3600" dirty="0">
                <a:latin typeface="Calibri" panose="020F0502020204030204" pitchFamily="34" charset="0"/>
                <a:ea typeface="Calibri" panose="020F0502020204030204" pitchFamily="34" charset="0"/>
              </a:rPr>
              <a:t>කපා ඉවත් කරන ලද ශරීර කොටස් සඳහා ප්‍රතිකාර කිරිම සහ රෝගියාට ප්‍රතිකාර කිරීම සහ ප්‍රවාහනය ප්‍රමාද නොකරන්න</a:t>
            </a: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 algn="just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හැකි නම්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වෙන් වු කොටස රෝගියා සමඟ ප්‍රවාහනය කරන්න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මන්ද එය නැවත ශරීරයට බද්ධ කළ හැකි බැවිනි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 algn="just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වෙන් වු ශරීර කොටස වියළි ප්ලාස්ටික් බෑගයක තබා මුද්‍රා තබන්න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 algn="just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බෑගය අයිස් වතුරේ තබන්න නමුත් කපා දැමූ කොටස ජලයෙන් තෙත් නොවන බවට වග බලා ගන්න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14936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126669" y="1146208"/>
            <a:ext cx="6587060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ශරීරයෙන් කොටසක් ඉවත් කිරීම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26669" y="2392172"/>
            <a:ext cx="10803467" cy="3319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ස්වර්ණමය රීතිය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1: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කපා දැමූ සිරුරේ කොටසට ප්‍රතිකාර කිරිම රෝගියාට ප්‍රතිකාර කිරීම සහ ප්‍රවාහනය ප්‍රමාද නොකරන්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න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රන් රීතිය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2: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කපා දැමූ සිරුරේ කොටස දැඩි සීතලට භාජනය නොකරන්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න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ස්වර්ණමය රීතිය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3: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අර්ධ කපා ඉවත් නොකළ ශරීර කොටස් ඇතොත් එය තුවාලයක් ලෙස නොසලකන්න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73821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ChangeArrowheads="1"/>
          </p:cNvSpPr>
          <p:nvPr/>
        </p:nvSpPr>
        <p:spPr bwMode="auto">
          <a:xfrm>
            <a:off x="1981200" y="304800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marL="382588" indent="-3429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fontAlgn="base">
              <a:spcBef>
                <a:spcPts val="800"/>
              </a:spcBef>
              <a:spcAft>
                <a:spcPct val="0"/>
              </a:spcAft>
              <a:buClr>
                <a:srgbClr val="FFFFFF"/>
              </a:buClr>
              <a:buSzPct val="100000"/>
            </a:pPr>
            <a:endParaRPr lang="en-US" sz="4000">
              <a:solidFill>
                <a:srgbClr val="056CB6"/>
              </a:solidFill>
              <a:latin typeface="Arial" panose="020B0604020202020204" pitchFamily="34" charset="0"/>
              <a:sym typeface="Times" panose="02020603050405020304" pitchFamily="18" charset="0"/>
            </a:endParaRPr>
          </a:p>
        </p:txBody>
      </p:sp>
      <p:sp>
        <p:nvSpPr>
          <p:cNvPr id="13315" name="TextBox 1"/>
          <p:cNvSpPr txBox="1">
            <a:spLocks noChangeArrowheads="1"/>
          </p:cNvSpPr>
          <p:nvPr/>
        </p:nvSpPr>
        <p:spPr bwMode="auto">
          <a:xfrm>
            <a:off x="2133600" y="609601"/>
            <a:ext cx="82296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pic>
        <p:nvPicPr>
          <p:cNvPr id="13316" name="Picture 1" descr="backgroun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524000"/>
            <a:ext cx="8763000" cy="299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TextBox 2"/>
          <p:cNvSpPr txBox="1">
            <a:spLocks noChangeArrowheads="1"/>
          </p:cNvSpPr>
          <p:nvPr/>
        </p:nvSpPr>
        <p:spPr bwMode="auto">
          <a:xfrm>
            <a:off x="3276600" y="2592388"/>
            <a:ext cx="28194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4400">
                <a:solidFill>
                  <a:srgbClr val="FFFFFF"/>
                </a:solidFill>
                <a:latin typeface="Avenir Medium" charset="0"/>
              </a:rPr>
              <a:t>Questions</a:t>
            </a:r>
          </a:p>
        </p:txBody>
      </p:sp>
      <p:sp>
        <p:nvSpPr>
          <p:cNvPr id="13318" name="TextBox 4"/>
          <p:cNvSpPr txBox="1">
            <a:spLocks noChangeArrowheads="1"/>
          </p:cNvSpPr>
          <p:nvPr/>
        </p:nvSpPr>
        <p:spPr bwMode="auto">
          <a:xfrm rot="-5400000">
            <a:off x="5450682" y="3358357"/>
            <a:ext cx="17526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Cuestión</a:t>
            </a:r>
          </a:p>
        </p:txBody>
      </p:sp>
      <p:sp>
        <p:nvSpPr>
          <p:cNvPr id="13319" name="Rectangle 6"/>
          <p:cNvSpPr>
            <a:spLocks noChangeArrowheads="1"/>
          </p:cNvSpPr>
          <p:nvPr/>
        </p:nvSpPr>
        <p:spPr bwMode="auto">
          <a:xfrm>
            <a:off x="7086600" y="1676401"/>
            <a:ext cx="17986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La question</a:t>
            </a:r>
          </a:p>
        </p:txBody>
      </p:sp>
      <p:sp>
        <p:nvSpPr>
          <p:cNvPr id="13320" name="Rectangle 7"/>
          <p:cNvSpPr>
            <a:spLocks noChangeArrowheads="1"/>
          </p:cNvSpPr>
          <p:nvPr/>
        </p:nvSpPr>
        <p:spPr bwMode="auto">
          <a:xfrm>
            <a:off x="7086600" y="2582864"/>
            <a:ext cx="137569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ar-SA" sz="4400">
                <a:solidFill>
                  <a:srgbClr val="FFFFFF"/>
                </a:solidFill>
              </a:rPr>
              <a:t>الأسئلة</a:t>
            </a:r>
            <a:endParaRPr lang="en-US" sz="4400">
              <a:solidFill>
                <a:srgbClr val="FFFFFF"/>
              </a:solidFill>
            </a:endParaRPr>
          </a:p>
        </p:txBody>
      </p:sp>
      <p:sp>
        <p:nvSpPr>
          <p:cNvPr id="13321" name="Rectangle 8"/>
          <p:cNvSpPr>
            <a:spLocks noChangeArrowheads="1"/>
          </p:cNvSpPr>
          <p:nvPr/>
        </p:nvSpPr>
        <p:spPr bwMode="auto">
          <a:xfrm>
            <a:off x="1905001" y="3200401"/>
            <a:ext cx="1801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bg-BG" sz="3600">
                <a:solidFill>
                  <a:srgbClr val="FFFFFF"/>
                </a:solidFill>
              </a:rPr>
              <a:t>въпроси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3322" name="Rectangle 9"/>
          <p:cNvSpPr>
            <a:spLocks noChangeArrowheads="1"/>
          </p:cNvSpPr>
          <p:nvPr/>
        </p:nvSpPr>
        <p:spPr bwMode="auto">
          <a:xfrm>
            <a:off x="5334001" y="1676401"/>
            <a:ext cx="11080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TW" altLang="en-US" sz="3600">
                <a:solidFill>
                  <a:srgbClr val="FFFFFF"/>
                </a:solidFill>
              </a:rPr>
              <a:t>问题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3323" name="Rectangle 10"/>
          <p:cNvSpPr>
            <a:spLocks noChangeArrowheads="1"/>
          </p:cNvSpPr>
          <p:nvPr/>
        </p:nvSpPr>
        <p:spPr bwMode="auto">
          <a:xfrm>
            <a:off x="5029201" y="3429001"/>
            <a:ext cx="10969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otázky</a:t>
            </a:r>
          </a:p>
        </p:txBody>
      </p:sp>
      <p:sp>
        <p:nvSpPr>
          <p:cNvPr id="13324" name="Rectangle 11"/>
          <p:cNvSpPr>
            <a:spLocks noChangeArrowheads="1"/>
          </p:cNvSpPr>
          <p:nvPr/>
        </p:nvSpPr>
        <p:spPr bwMode="auto">
          <a:xfrm>
            <a:off x="6826250" y="3886201"/>
            <a:ext cx="1860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spørgsmål</a:t>
            </a:r>
          </a:p>
        </p:txBody>
      </p:sp>
      <p:sp>
        <p:nvSpPr>
          <p:cNvPr id="13325" name="Rectangle 12"/>
          <p:cNvSpPr>
            <a:spLocks noChangeArrowheads="1"/>
          </p:cNvSpPr>
          <p:nvPr/>
        </p:nvSpPr>
        <p:spPr bwMode="auto">
          <a:xfrm rot="-5400000">
            <a:off x="2151856" y="2267744"/>
            <a:ext cx="14620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FFFFFF"/>
                </a:solidFill>
                <a:latin typeface="Avenir Medium" charset="0"/>
              </a:rPr>
              <a:t>vragen</a:t>
            </a:r>
          </a:p>
        </p:txBody>
      </p:sp>
      <p:sp>
        <p:nvSpPr>
          <p:cNvPr id="13326" name="Rectangle 13"/>
          <p:cNvSpPr>
            <a:spLocks noChangeArrowheads="1"/>
          </p:cNvSpPr>
          <p:nvPr/>
        </p:nvSpPr>
        <p:spPr bwMode="auto">
          <a:xfrm>
            <a:off x="4267201" y="3962401"/>
            <a:ext cx="16557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küsimused</a:t>
            </a:r>
          </a:p>
        </p:txBody>
      </p:sp>
      <p:sp>
        <p:nvSpPr>
          <p:cNvPr id="13327" name="Rectangle 14"/>
          <p:cNvSpPr>
            <a:spLocks noChangeArrowheads="1"/>
          </p:cNvSpPr>
          <p:nvPr/>
        </p:nvSpPr>
        <p:spPr bwMode="auto">
          <a:xfrm>
            <a:off x="7086600" y="2209801"/>
            <a:ext cx="17859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kysymykset</a:t>
            </a:r>
          </a:p>
        </p:txBody>
      </p:sp>
      <p:sp>
        <p:nvSpPr>
          <p:cNvPr id="13328" name="Rectangle 15"/>
          <p:cNvSpPr>
            <a:spLocks noChangeArrowheads="1"/>
          </p:cNvSpPr>
          <p:nvPr/>
        </p:nvSpPr>
        <p:spPr bwMode="auto">
          <a:xfrm rot="-5400000">
            <a:off x="1476376" y="2201863"/>
            <a:ext cx="165576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600">
                <a:solidFill>
                  <a:srgbClr val="FFFFFF"/>
                </a:solidFill>
                <a:latin typeface="Avenir Medium" charset="0"/>
              </a:rPr>
              <a:t>Fragen</a:t>
            </a:r>
          </a:p>
        </p:txBody>
      </p:sp>
      <p:sp>
        <p:nvSpPr>
          <p:cNvPr id="13329" name="Rectangle 16"/>
          <p:cNvSpPr>
            <a:spLocks noChangeArrowheads="1"/>
          </p:cNvSpPr>
          <p:nvPr/>
        </p:nvSpPr>
        <p:spPr bwMode="auto">
          <a:xfrm>
            <a:off x="5410200" y="2667001"/>
            <a:ext cx="762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13330" name="Rectangle 18"/>
          <p:cNvSpPr>
            <a:spLocks noChangeArrowheads="1"/>
          </p:cNvSpPr>
          <p:nvPr/>
        </p:nvSpPr>
        <p:spPr bwMode="auto">
          <a:xfrm>
            <a:off x="3276601" y="2133601"/>
            <a:ext cx="20617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</a:rPr>
              <a:t>सवालों के जवाब</a:t>
            </a:r>
          </a:p>
        </p:txBody>
      </p:sp>
      <p:sp>
        <p:nvSpPr>
          <p:cNvPr id="13331" name="Rectangle 19"/>
          <p:cNvSpPr>
            <a:spLocks noChangeArrowheads="1"/>
          </p:cNvSpPr>
          <p:nvPr/>
        </p:nvSpPr>
        <p:spPr bwMode="auto">
          <a:xfrm>
            <a:off x="1752600" y="3886200"/>
            <a:ext cx="22669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FFFFFF"/>
                </a:solidFill>
                <a:latin typeface="Avenir Medium" charset="0"/>
              </a:rPr>
              <a:t>pertanyaan</a:t>
            </a:r>
          </a:p>
        </p:txBody>
      </p:sp>
      <p:sp>
        <p:nvSpPr>
          <p:cNvPr id="13332" name="Rectangle 20"/>
          <p:cNvSpPr>
            <a:spLocks noChangeArrowheads="1"/>
          </p:cNvSpPr>
          <p:nvPr/>
        </p:nvSpPr>
        <p:spPr bwMode="auto">
          <a:xfrm rot="-5400000">
            <a:off x="5919788" y="2279651"/>
            <a:ext cx="17287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domande</a:t>
            </a:r>
          </a:p>
        </p:txBody>
      </p:sp>
      <p:sp>
        <p:nvSpPr>
          <p:cNvPr id="13333" name="Rectangle 21"/>
          <p:cNvSpPr>
            <a:spLocks noChangeArrowheads="1"/>
          </p:cNvSpPr>
          <p:nvPr/>
        </p:nvSpPr>
        <p:spPr bwMode="auto">
          <a:xfrm>
            <a:off x="3886200" y="3352800"/>
            <a:ext cx="1004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ja-JP" altLang="en-US" sz="3200">
                <a:solidFill>
                  <a:srgbClr val="FFFFFF"/>
                </a:solidFill>
              </a:rPr>
              <a:t>質問</a:t>
            </a:r>
            <a:endParaRPr lang="en-US" sz="3200">
              <a:solidFill>
                <a:srgbClr val="FFFFFF"/>
              </a:solidFill>
            </a:endParaRPr>
          </a:p>
        </p:txBody>
      </p:sp>
      <p:sp>
        <p:nvSpPr>
          <p:cNvPr id="13334" name="Rectangle 22"/>
          <p:cNvSpPr>
            <a:spLocks noChangeArrowheads="1"/>
          </p:cNvSpPr>
          <p:nvPr/>
        </p:nvSpPr>
        <p:spPr bwMode="auto">
          <a:xfrm>
            <a:off x="5105401" y="2286001"/>
            <a:ext cx="15922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perguntas</a:t>
            </a:r>
          </a:p>
        </p:txBody>
      </p:sp>
      <p:sp>
        <p:nvSpPr>
          <p:cNvPr id="13335" name="Rectangle 23"/>
          <p:cNvSpPr>
            <a:spLocks noChangeArrowheads="1"/>
          </p:cNvSpPr>
          <p:nvPr/>
        </p:nvSpPr>
        <p:spPr bwMode="auto">
          <a:xfrm>
            <a:off x="3654426" y="1600201"/>
            <a:ext cx="13989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Times" panose="02020603050405020304" pitchFamily="18" charset="0"/>
              </a:rPr>
              <a:t>вопросов</a:t>
            </a:r>
          </a:p>
        </p:txBody>
      </p:sp>
      <p:sp>
        <p:nvSpPr>
          <p:cNvPr id="13336" name="Rectangle 24"/>
          <p:cNvSpPr>
            <a:spLocks noChangeArrowheads="1"/>
          </p:cNvSpPr>
          <p:nvPr/>
        </p:nvSpPr>
        <p:spPr bwMode="auto">
          <a:xfrm>
            <a:off x="7162800" y="3360738"/>
            <a:ext cx="11366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sorular</a:t>
            </a:r>
          </a:p>
        </p:txBody>
      </p:sp>
      <p:sp>
        <p:nvSpPr>
          <p:cNvPr id="13337" name="TextBox 25"/>
          <p:cNvSpPr txBox="1">
            <a:spLocks noChangeArrowheads="1"/>
          </p:cNvSpPr>
          <p:nvPr/>
        </p:nvSpPr>
        <p:spPr bwMode="auto">
          <a:xfrm>
            <a:off x="8991600" y="1371601"/>
            <a:ext cx="1524000" cy="315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9900">
                <a:solidFill>
                  <a:srgbClr val="FFFFFF"/>
                </a:solidFill>
                <a:latin typeface="Avenir Medium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21728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1"/>
          <p:cNvSpPr>
            <a:spLocks noGrp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hangingPunct="1"/>
            <a:fld id="{207FAFF6-E146-4F48-809E-3DA26EEA4871}" type="slidenum">
              <a:rPr lang="en-US" sz="1400">
                <a:latin typeface="Times" panose="02020603050405020304" pitchFamily="18" charset="0"/>
                <a:sym typeface="Times" panose="02020603050405020304" pitchFamily="18" charset="0"/>
              </a:rPr>
              <a:pPr eaLnBrk="1" hangingPunct="1"/>
              <a:t>76</a:t>
            </a:fld>
            <a:endParaRPr lang="en-US" sz="1400">
              <a:latin typeface="Times" panose="02020603050405020304" pitchFamily="18" charset="0"/>
              <a:sym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6293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itle &amp; Bullets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99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">
      <a:majorFont>
        <a:latin typeface="Times"/>
        <a:ea typeface="ヒラギノ明朝 ProN W3"/>
        <a:cs typeface="ヒラギノ明朝 ProN W3"/>
      </a:majorFont>
      <a:minorFont>
        <a:latin typeface="Times"/>
        <a:ea typeface="ヒラギノ明朝 ProN W3"/>
        <a:cs typeface="ヒラギノ明朝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CC99"/>
        </a:solid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charset="0"/>
            <a:ea typeface="ヒラギノ明朝 ProN W3" charset="0"/>
            <a:cs typeface="ヒラギノ明朝 ProN W3" charset="0"/>
            <a:sym typeface="Times New Roman" charset="0"/>
          </a:defRPr>
        </a:defPPr>
      </a:lstStyle>
    </a:spDef>
    <a:lnDef>
      <a:spPr bwMode="auto">
        <a:solidFill>
          <a:srgbClr val="00CC99"/>
        </a:solidFill>
        <a:ln w="19050" cap="flat" cmpd="sng" algn="ctr">
          <a:solidFill>
            <a:srgbClr val="174C8E">
              <a:alpha val="84000"/>
            </a:srgb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Title &amp; 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2192</TotalTime>
  <Words>8718</Words>
  <Application>Microsoft Office PowerPoint</Application>
  <PresentationFormat>Widescreen</PresentationFormat>
  <Paragraphs>606</Paragraphs>
  <Slides>76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76</vt:i4>
      </vt:variant>
    </vt:vector>
  </HeadingPairs>
  <TitlesOfParts>
    <vt:vector size="89" baseType="lpstr">
      <vt:lpstr>Arial</vt:lpstr>
      <vt:lpstr>Avenir Medium</vt:lpstr>
      <vt:lpstr>Calibri</vt:lpstr>
      <vt:lpstr>Calibri Light</vt:lpstr>
      <vt:lpstr>Iskoola Pota</vt:lpstr>
      <vt:lpstr>Symbol</vt:lpstr>
      <vt:lpstr>Times</vt:lpstr>
      <vt:lpstr>Times New Roman</vt:lpstr>
      <vt:lpstr>Verdana</vt:lpstr>
      <vt:lpstr>Wingdings</vt:lpstr>
      <vt:lpstr>ヒラギノ明朝 ProN W3</vt:lpstr>
      <vt:lpstr>Office Theme</vt:lpstr>
      <vt:lpstr>1_Title &amp; Bullets</vt:lpstr>
      <vt:lpstr>පළමු ප්‍රතිචාර දැක්වීම් පුහුණු වැඩසටහන </vt:lpstr>
      <vt:lpstr>PowerPoint Presentation</vt:lpstr>
      <vt:lpstr>PowerPoint Presentation</vt:lpstr>
      <vt:lpstr>පළමුව  ප්‍රතිචාර දක්වන්නා</vt:lpstr>
      <vt:lpstr>පළමුව  ප්‍රතිචාර දක්වන්නා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පළමුව  ප්‍රතිචාර දක්වන්නා</vt:lpstr>
      <vt:lpstr>පළමුව  ප්‍රතිචාර දක්වන්නා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පළමුව  ප්‍රතිචාර දක්වන්නා</vt:lpstr>
      <vt:lpstr>පළමුව  ප්‍රතිචාර දක්වන්නා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Military PC</dc:creator>
  <cp:lastModifiedBy>Military PC</cp:lastModifiedBy>
  <cp:revision>409</cp:revision>
  <cp:lastPrinted>2022-08-16T06:16:25Z</cp:lastPrinted>
  <dcterms:created xsi:type="dcterms:W3CDTF">2022-07-11T05:41:01Z</dcterms:created>
  <dcterms:modified xsi:type="dcterms:W3CDTF">2023-01-20T10:33:02Z</dcterms:modified>
</cp:coreProperties>
</file>