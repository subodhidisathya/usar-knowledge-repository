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45"/>
  </p:notesMasterIdLst>
  <p:handoutMasterIdLst>
    <p:handoutMasterId r:id="rId46"/>
  </p:handoutMasterIdLst>
  <p:sldIdLst>
    <p:sldId id="269" r:id="rId2"/>
    <p:sldId id="268" r:id="rId3"/>
    <p:sldId id="267" r:id="rId4"/>
    <p:sldId id="381" r:id="rId5"/>
    <p:sldId id="382" r:id="rId6"/>
    <p:sldId id="332" r:id="rId7"/>
    <p:sldId id="333" r:id="rId8"/>
    <p:sldId id="261" r:id="rId9"/>
    <p:sldId id="270" r:id="rId10"/>
    <p:sldId id="271" r:id="rId11"/>
    <p:sldId id="334" r:id="rId12"/>
    <p:sldId id="335" r:id="rId13"/>
    <p:sldId id="336" r:id="rId14"/>
    <p:sldId id="337" r:id="rId15"/>
    <p:sldId id="272" r:id="rId16"/>
    <p:sldId id="273" r:id="rId17"/>
    <p:sldId id="277" r:id="rId18"/>
    <p:sldId id="278" r:id="rId19"/>
    <p:sldId id="298" r:id="rId20"/>
    <p:sldId id="299" r:id="rId21"/>
    <p:sldId id="300" r:id="rId22"/>
    <p:sldId id="301" r:id="rId23"/>
    <p:sldId id="302" r:id="rId24"/>
    <p:sldId id="383" r:id="rId25"/>
    <p:sldId id="384" r:id="rId26"/>
    <p:sldId id="385" r:id="rId27"/>
    <p:sldId id="341" r:id="rId28"/>
    <p:sldId id="386" r:id="rId29"/>
    <p:sldId id="348" r:id="rId30"/>
    <p:sldId id="350" r:id="rId31"/>
    <p:sldId id="351" r:id="rId32"/>
    <p:sldId id="379" r:id="rId33"/>
    <p:sldId id="355" r:id="rId34"/>
    <p:sldId id="356" r:id="rId35"/>
    <p:sldId id="357" r:id="rId36"/>
    <p:sldId id="358" r:id="rId37"/>
    <p:sldId id="359" r:id="rId38"/>
    <p:sldId id="362" r:id="rId39"/>
    <p:sldId id="363" r:id="rId40"/>
    <p:sldId id="374" r:id="rId41"/>
    <p:sldId id="387" r:id="rId42"/>
    <p:sldId id="378" r:id="rId43"/>
    <p:sldId id="343" r:id="rId44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94" autoAdjust="0"/>
  </p:normalViewPr>
  <p:slideViewPr>
    <p:cSldViewPr snapToGrid="0">
      <p:cViewPr>
        <p:scale>
          <a:sx n="86" d="100"/>
          <a:sy n="86" d="100"/>
        </p:scale>
        <p:origin x="60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1FE1-49FF-49A7-A7F1-7BA43AFF21B6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B333-660B-4C8D-ABAD-4F77470B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3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E2F-C41B-4D8B-95EE-5D8EFFB3B4CF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0"/>
            <a:ext cx="5440680" cy="39111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34173-98C6-48F6-BF0E-3F7CF824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37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02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7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99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79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29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69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15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64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75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74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46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80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39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98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54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0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8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8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2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8CC436-DB0C-4D40-95CD-0C678C839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801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2D13-26C6-49E8-A6B9-CF97DB82E248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</a:t>
            </a:r>
            <a:r>
              <a:rPr lang="si-LK" dirty="0" smtClean="0"/>
              <a:t>ු </a:t>
            </a:r>
            <a:r>
              <a:rPr lang="si-LK" dirty="0" smtClean="0"/>
              <a:t>ප්‍රතිචාර දැක්වීමේ පුහුණු වැඩසටහන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i-LK" dirty="0"/>
              <a:t>මොඩියුලර්	</a:t>
            </a:r>
            <a:r>
              <a:rPr lang="en-US" dirty="0" smtClean="0"/>
              <a:t>3 </a:t>
            </a:r>
            <a:r>
              <a:rPr lang="si-LK" dirty="0" smtClean="0"/>
              <a:t>: ආපදා පරිසරය</a:t>
            </a:r>
            <a:endParaRPr lang="si-LK" dirty="0"/>
          </a:p>
          <a:p>
            <a:pPr marL="0" indent="0">
              <a:buNone/>
            </a:pPr>
            <a:r>
              <a:rPr lang="si-LK" dirty="0" smtClean="0"/>
              <a:t>සැසිය 	</a:t>
            </a:r>
            <a:r>
              <a:rPr lang="en-US" dirty="0" smtClean="0"/>
              <a:t>	3</a:t>
            </a:r>
            <a:r>
              <a:rPr lang="si-LK" dirty="0" smtClean="0"/>
              <a:t>.1- පාඩම් සැලැස්ම</a:t>
            </a:r>
          </a:p>
          <a:p>
            <a:pPr marL="0" indent="0">
              <a:buNone/>
            </a:pPr>
            <a:r>
              <a:rPr lang="si-LK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dirty="0">
                <a:latin typeface="Calibri" panose="020F0502020204030204" pitchFamily="34" charset="0"/>
                <a:ea typeface="Calibri" panose="020F0502020204030204" pitchFamily="34" charset="0"/>
              </a:rPr>
              <a:t>කළමනාකරණය කිරි</a:t>
            </a:r>
            <a:r>
              <a:rPr lang="si-LK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si-LK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81799" y="4681526"/>
            <a:ext cx="468085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</a:t>
            </a:r>
            <a:r>
              <a:rPr lang="si-LK" dirty="0" smtClean="0"/>
              <a:t>ු </a:t>
            </a:r>
            <a:r>
              <a:rPr lang="si-LK" dirty="0" smtClean="0"/>
              <a:t>ප්‍රතිචාර දැක්වීමේ පුහුණු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 ක්‍රියාකාරී කණ්ඩායම විසින් සංවර්ධනය කරන ලද අතර මුදවා ගැනිමේ හැකියාව වර්ධනය කිරිමට සහ ජිවිත බේරා ගැනිම සදහා සියලුම රටවලට සහ ප්‍රතිචාර දක්වන සංවිධානවලට උපකාර කිරිම මෙයින් අදහස් කෙරේ. </a:t>
            </a:r>
          </a:p>
        </p:txBody>
      </p:sp>
    </p:spTree>
    <p:extLst>
      <p:ext uri="{BB962C8B-B14F-4D97-AF65-F5344CB8AC3E}">
        <p14:creationId xmlns:p14="http://schemas.microsoft.com/office/powerpoint/2010/main" val="766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243428"/>
              </p:ext>
            </p:extLst>
          </p:nvPr>
        </p:nvGraphicFramePr>
        <p:xfrm>
          <a:off x="181074" y="182880"/>
          <a:ext cx="11825869" cy="1695704"/>
        </p:xfrm>
        <a:graphic>
          <a:graphicData uri="http://schemas.openxmlformats.org/drawingml/2006/table">
            <a:tbl>
              <a:tblPr firstRow="1" firstCol="1" bandRow="1"/>
              <a:tblGrid>
                <a:gridCol w="2072269"/>
                <a:gridCol w="4147457"/>
                <a:gridCol w="5606143"/>
              </a:tblGrid>
              <a:tr h="1243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Aims)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(Objectives)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ප්‍රතිඵල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(Learning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Outcomes)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976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ග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ැනීමේ මෙහෙයුම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වල ආරක්ෂිත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බව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සහතික කිරීම සඳහා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්‍රව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අවදානම් සහ පාලන ක්‍රියාමාර්ග පිළිබඳ දළ විශ්ලේෂණයක් සහභාගිවන්නන්ට </a:t>
                      </a:r>
                      <a:endParaRPr lang="si-LK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දීම.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 පරිසරය හා සම්බන්ධ අනතුරු සහ උපද්‍රව පිළිබඳ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පුළුල් අවබ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ෝධයක් වර්ධනය කිරීම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යම් සිද්ධියක් සිදුවන ස්ථානය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(Scene</a:t>
                      </a:r>
                      <a:r>
                        <a:rPr lang="en-US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)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කළමන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ාකරණය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සඳහ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සැලැස්මක් සැකසීමේ හැකියාව සහභාගිවන්නන්ට ලබා දීම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සහභාගිවන්නාට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පහත හැකියාවන් ලබාගත හ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ැකි වනු ඇත: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ගොඩනැගිල්ලක්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ිඳවැටීමක් සිද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වූ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ස්ථානයේ පවතින තත්ත්‍ව සහ පාරිසරික උපද්‍රව හඳුනා ගැනීම.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පළමු ප්‍රතිචාර දක්වන්නන්ට සහ මහජනතාවට තුවාල සිදුවීම වැළැක්වීම සඳහා පූර්වාරක්ෂාව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ක්‍රමවේදයන්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ැයිස්තුගත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සිදුවීම් කළමනාකරණ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 සදහා 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ැලැස්මක් සකස්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 ගැනිම.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941081"/>
              </p:ext>
            </p:extLst>
          </p:nvPr>
        </p:nvGraphicFramePr>
        <p:xfrm>
          <a:off x="204396" y="1947137"/>
          <a:ext cx="11833411" cy="4780440"/>
        </p:xfrm>
        <a:graphic>
          <a:graphicData uri="http://schemas.openxmlformats.org/drawingml/2006/table">
            <a:tbl>
              <a:tblPr firstRow="1" firstCol="1" bandRow="1"/>
              <a:tblGrid>
                <a:gridCol w="957431"/>
                <a:gridCol w="2549562"/>
                <a:gridCol w="5431953"/>
                <a:gridCol w="2894465"/>
              </a:tblGrid>
              <a:tr h="2161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(time)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(Content)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ාකාරිත්වය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(Activity)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(Resources)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833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20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උපද්‍රවයන්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ාගරික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පරිසරයක සිදු වු උපද්‍රවයක්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හේතුවෙන්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පළම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 ප්‍රතිචාර දක්වන්නන්ට ඇති විය හැකි අවදානම්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තත්වය හඳ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ුනා ගැනිම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නාගරික ආපදා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පරිසරයේ ඇති පොදු අනතුරුදායක තත්වයන් හදුනාගැනිම සහ එම අනතුරු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Power point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ඉදිරිපත් කිරීමක් මගින් කණ්ඩායම්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සමග 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ාකච්ඡ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කිරිම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විසින් සිදුකරනු ඇත.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3.1a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Flip Chart 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පෑන්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1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 අන්තර් ක්‍රියා කිරිම.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4125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පළමු ප්‍රතිචාර දක්වන්නන්ට ඇති අවදානම්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ගොඩනැගිල්ලක් කඩාවැට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 ඇති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අවස්ථාවක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ිදුකරන මෙහෙයුම් වලදී පළමු ප්‍රතිචාර දක්වන්නන් මුහුණ දෙන සාමාන්‍ය අවදානම් විදහා දැක්වෙන ඡායාරූප පෙළක් පෙන්වීමෙන් ආපදා පරිසරය තුළ ඇති විය හැකි උපද්‍රව පිළි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බඳ පුළුල් ලෙස 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සාකච්ඡා කිරිම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ිරිම.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3.1a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 (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A3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ප්‍රමාණය අවම)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8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 අන්තර් ක්‍රියා කිරිම.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5662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20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යම් සිද්ධියක් සිදුවන ස්ථානය කළමන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ාකරණය කිරිම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ඇතුළුවීම පාලනය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ස්ථානයේ ආරක්ෂාව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වට ආරක්ෂාව සහ බාධක යෙදීම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ඇතුළුවීම පාලනය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ආරක්‍ෂිත ප්‍රදේශ යනාදිය කරුණු ඇතුළුව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වු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්ථානයේ ඇති උපද්‍රව අවම කිරීම සඳහා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අනුගමනය කළයුතු 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ොදු ක්‍රමවේදය පැහැදිලි කරනු ඇත.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3.1b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2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 අන්තර් ක්‍රියා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617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සාරාංශය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සැසියේ ප්‍රධාන කරුණු සාරාංශගත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වන්නන්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පරිදි සවන් දී අන්තර් ක්‍රියා කරන්න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විෂය කරුණු පැහැදිලි කර ගැනිමට ප්‍රශ්න අසන්න.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080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60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9608" marR="396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4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104695"/>
              </p:ext>
            </p:extLst>
          </p:nvPr>
        </p:nvGraphicFramePr>
        <p:xfrm>
          <a:off x="194763" y="-192786"/>
          <a:ext cx="11823042" cy="5962573"/>
        </p:xfrm>
        <a:graphic>
          <a:graphicData uri="http://schemas.openxmlformats.org/drawingml/2006/table">
            <a:tbl>
              <a:tblPr firstRow="1" firstCol="1" bandRow="1"/>
              <a:tblGrid>
                <a:gridCol w="5911521"/>
                <a:gridCol w="5911521"/>
              </a:tblGrid>
              <a:tr h="265784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සටහන්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ta-IN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GB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Instructor Note)</a:t>
                      </a:r>
                      <a:endParaRPr lang="en-US" sz="13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7860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්ත්වය සහ පාරිසරික අනතුරු පිළිබද පාඩම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යම් සිද්ධියක් සිදුවන ස්ථානය කළමන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ාකරණ පාඩම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පුහුණුකරුට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්තර්ක්‍රියාකාරී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පුහුණු 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ැසියක් පැවැත්විය හැකි අතර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 පරිසරයක ඇති විය හැකි උපද්‍රවයන්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හඳ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ුනා ගන්නා ලෙස  සහභාගිවන්නන්ගෙන් ඉල්ලා සිට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ින්න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ඔවුන්ගේ ප්‍රතිචාර සටහන් කිරීමට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Flip Chart (A1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කඩදාසි) භාවිතා කරන්න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ඒවා ප්‍රධාන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වර්ග හයක්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යටතේ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කණ්ඩායම්වලට බෙදීම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ිදු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ප්‍රධාන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ලෙස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වර්ග කරන ලද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්‍රව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හය අන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 පුහුණුකරු කටයුතු කළ යුතු අතර 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සදහා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්නා ප්‍රදේශ වල සිදු වු අනතුරු පිළිබදව උදාහරණ භාවිතා කරයි.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විසින්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පහත ම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ාතෘකා ඇතුළත් කිරීමට වගබලා ගත යුතුය: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සෝදිසි කිරීම් සහ නිරීක්ෂණ ක්‍රියා කිරීම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වට ආරක්ෂාව සහ බාධක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පොලිස්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ාධක සහ ස්ථානීය ආරක්ෂාව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ආරක්ෂිත ප්‍රදේශ නම් කිරීම - කඩා වැටුණු ගොඩනැගිල්ලේ ඉතිරි වු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උස 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x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1.5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ංකල්පය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පුද්ගලයින් ඉවත් කිරීමේ සැලසුම් - සංඥා සහ ගත යුතු ක්‍රියාමාර්ග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ග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ැනීමේ මෙහෙයුම් වලදී බහුලව භාවිතා වන සංඥා සහ සංකේත වර්ග.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සටහන: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1:1.5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සංකල්පය පහත පරිදි පැහැදිලි කළ හැක:  </a:t>
                      </a:r>
                      <a:endParaRPr lang="si-LK" sz="14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කඩා වැටුණූ ව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්‍යුහයේ ඉතිරි උස අඩි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30 (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හෝ මී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ටර්)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වේ නම් එවිට ආසන්නතම ආරක්ෂිත දුර අඩි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45 (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හෝ මීටර්)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එනම්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30 x 1.5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වේ.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ව්‍යුහයේ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ඉතිරි උස අඩි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50 (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හෝ මීටර්) නම්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ආසන්නතම ආරක්ෂිත දුර අඩි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75 (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හෝ මීටර්) වේ. ඔබට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inclinometer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හෝ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inclinometer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යෙදුමක් තිබේ නම්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අගය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අංශක 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33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පමණ කෝණයකට සමාන වේ.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08473" y="879087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907354"/>
            <a:ext cx="4371278" cy="156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පළම</a:t>
            </a:r>
            <a:r>
              <a:rPr lang="si-LK" sz="3100" b="1" dirty="0">
                <a:solidFill>
                  <a:prstClr val="black"/>
                </a:solidFill>
                <a:latin typeface="Calibri Light" panose="020F0302020204030204"/>
              </a:rPr>
              <a:t>ු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 </a:t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i-LK" sz="2200" dirty="0" smtClean="0"/>
              <a:t>ඉද</a:t>
            </a:r>
            <a:r>
              <a:rPr lang="si-LK" sz="2200" dirty="0"/>
              <a:t>ිරිපත් කිරිමේ මාතෘකා</a:t>
            </a:r>
            <a:r>
              <a:rPr lang="si-LK" sz="2200" dirty="0" smtClean="0"/>
              <a:t>ව	:-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ා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කරණය කිරිම</a:t>
            </a:r>
            <a:endParaRPr lang="si-LK" sz="24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si-LK" sz="2200" dirty="0" smtClean="0"/>
          </a:p>
          <a:p>
            <a:pPr marL="0" indent="0">
              <a:buNone/>
            </a:pPr>
            <a:r>
              <a:rPr lang="si-LK" sz="2200" dirty="0"/>
              <a:t>	</a:t>
            </a:r>
            <a:r>
              <a:rPr lang="si-LK" sz="2200" dirty="0" smtClean="0"/>
              <a:t>	ම</a:t>
            </a:r>
            <a:r>
              <a:rPr lang="si-LK" sz="2200" dirty="0"/>
              <a:t>ොඩියුලර</a:t>
            </a:r>
            <a:r>
              <a:rPr lang="si-LK" sz="2200" dirty="0" smtClean="0"/>
              <a:t>්	: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</a:t>
            </a:r>
            <a:endParaRPr lang="si-LK" sz="24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0" indent="0"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si-LK" sz="2200" dirty="0" smtClean="0"/>
              <a:t>ඉදිරිපත් කරන්නන්/ උපදේශක	:-ඉදිරිපත් කරන්නන්ගේ නම මෙහි </a:t>
            </a:r>
            <a:r>
              <a:rPr lang="si-LK" sz="2200" dirty="0"/>
              <a:t>එක</a:t>
            </a:r>
            <a:r>
              <a:rPr lang="si-LK" sz="2200" dirty="0" smtClean="0"/>
              <a:t>් කරන</a:t>
            </a:r>
            <a:r>
              <a:rPr lang="si-LK" sz="2200" dirty="0"/>
              <a:t>්න.</a:t>
            </a:r>
            <a:r>
              <a:rPr lang="si-LK" sz="2200" dirty="0" smtClean="0"/>
              <a:t>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endParaRPr lang="si-LK" dirty="0" smtClean="0"/>
          </a:p>
          <a:p>
            <a:pPr marL="0" indent="0">
              <a:buNone/>
            </a:pPr>
            <a:r>
              <a:rPr lang="en-US" sz="1900" dirty="0" smtClean="0"/>
              <a:t>Coordination Saves Lives</a:t>
            </a: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1" y="1042635"/>
            <a:ext cx="6281058" cy="4235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3600" b="1" dirty="0">
                <a:latin typeface="Calibri" panose="020F0502020204030204" pitchFamily="34" charset="0"/>
                <a:ea typeface="Calibri" panose="020F0502020204030204" pitchFamily="34" charset="0"/>
              </a:rPr>
              <a:t>කළමනාකරණය කිරිම</a:t>
            </a:r>
          </a:p>
          <a:p>
            <a:pPr marL="0" indent="0" algn="ctr">
              <a:buNone/>
            </a:pPr>
            <a:endParaRPr lang="si-LK" sz="3600" b="1" dirty="0" smtClean="0"/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r>
              <a:rPr lang="si-LK" sz="3600" b="1" dirty="0" smtClean="0"/>
              <a:t>තත්වය සහ පාරිසරික උවදුරු</a:t>
            </a:r>
            <a:endParaRPr lang="en-US" sz="3600" b="1" dirty="0" smtClean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284843" y="6020737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668899" y="538325"/>
            <a:ext cx="265224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2400" b="1" dirty="0" smtClean="0">
                <a:solidFill>
                  <a:schemeClr val="bg1"/>
                </a:solidFill>
                <a:latin typeface="Calibri Light" panose="020F0302020204030204"/>
              </a:rPr>
              <a:t>පළම</a:t>
            </a:r>
            <a:r>
              <a:rPr lang="si-LK" sz="2400" b="1" dirty="0" smtClean="0">
                <a:solidFill>
                  <a:schemeClr val="bg1"/>
                </a:solidFill>
                <a:latin typeface="Calibri Light" panose="020F0302020204030204"/>
              </a:rPr>
              <a:t>ු </a:t>
            </a:r>
            <a:r>
              <a:rPr lang="si-LK" sz="2400" b="1" dirty="0" smtClean="0">
                <a:solidFill>
                  <a:schemeClr val="bg1"/>
                </a:solidFill>
                <a:latin typeface="Calibri Light" panose="020F0302020204030204"/>
              </a:rPr>
              <a:t/>
            </a:r>
            <a:br>
              <a:rPr lang="si-LK" sz="2400" b="1" dirty="0" smtClean="0">
                <a:solidFill>
                  <a:schemeClr val="bg1"/>
                </a:solidFill>
                <a:latin typeface="Calibri Light" panose="020F0302020204030204"/>
              </a:rPr>
            </a:br>
            <a:r>
              <a:rPr lang="si-LK" sz="2400" b="1" dirty="0" smtClean="0">
                <a:solidFill>
                  <a:schemeClr val="bg1"/>
                </a:solidFill>
                <a:latin typeface="Calibri Light" panose="020F0302020204030204"/>
              </a:rPr>
              <a:t>ප</a:t>
            </a:r>
            <a:r>
              <a:rPr lang="si-LK" sz="2400" b="1" dirty="0">
                <a:solidFill>
                  <a:schemeClr val="bg1"/>
                </a:solidFill>
                <a:latin typeface="Calibri Light" panose="020F0302020204030204"/>
              </a:rPr>
              <a:t>්‍රතිචාර දක්වන්</a:t>
            </a:r>
            <a:r>
              <a:rPr lang="si-LK" sz="2400" b="1" dirty="0" smtClean="0">
                <a:solidFill>
                  <a:schemeClr val="bg1"/>
                </a:solidFill>
                <a:latin typeface="Calibri Light" panose="020F0302020204030204"/>
              </a:rPr>
              <a:t>නන</a:t>
            </a:r>
            <a:r>
              <a:rPr lang="si-LK" sz="2400" b="1" dirty="0">
                <a:solidFill>
                  <a:schemeClr val="bg1"/>
                </a:solidFill>
                <a:latin typeface="Calibri Light" panose="020F0302020204030204"/>
              </a:rPr>
              <a:t>්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234242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2629" y="1176837"/>
            <a:ext cx="1120139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කළමනාකරණය කිරිම</a:t>
            </a:r>
          </a:p>
          <a:p>
            <a:r>
              <a:rPr lang="si-LK" sz="4000" b="1" dirty="0" smtClean="0"/>
              <a:t>ඉග</a:t>
            </a:r>
            <a:r>
              <a:rPr lang="si-LK" sz="4000" b="1" dirty="0"/>
              <a:t>ෙනුම් ප්‍රති</a:t>
            </a:r>
            <a:r>
              <a:rPr lang="si-LK" sz="4000" b="1" dirty="0" smtClean="0"/>
              <a:t>ඵල</a:t>
            </a:r>
          </a:p>
          <a:p>
            <a:endParaRPr lang="si-LK" sz="3200" dirty="0"/>
          </a:p>
          <a:p>
            <a:endParaRPr lang="en-US" sz="3200" dirty="0"/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si-LK" sz="3200" dirty="0"/>
              <a:t>තත්</a:t>
            </a:r>
            <a:r>
              <a:rPr lang="si-LK" sz="3200" dirty="0" smtClean="0"/>
              <a:t>වය </a:t>
            </a:r>
            <a:r>
              <a:rPr lang="si-LK" sz="3200" dirty="0"/>
              <a:t>හා පාරිසරික උවදුරු හඳුනා ගන්න</a:t>
            </a:r>
            <a:endParaRPr lang="en-US" sz="3200" dirty="0"/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si-LK" sz="3200" dirty="0">
                <a:solidFill>
                  <a:schemeClr val="bg2"/>
                </a:solidFill>
              </a:rPr>
              <a:t>පූර්ව ආරක්</a:t>
            </a:r>
            <a:r>
              <a:rPr lang="si-LK" sz="3200" dirty="0" smtClean="0">
                <a:solidFill>
                  <a:schemeClr val="bg2"/>
                </a:solidFill>
              </a:rPr>
              <a:t>ෂක </a:t>
            </a:r>
            <a:r>
              <a:rPr lang="si-LK" sz="3200" dirty="0">
                <a:solidFill>
                  <a:schemeClr val="bg2"/>
                </a:solidFill>
              </a:rPr>
              <a:t>පි</a:t>
            </a:r>
            <a:r>
              <a:rPr lang="si-LK" sz="3200" dirty="0" smtClean="0">
                <a:solidFill>
                  <a:schemeClr val="bg2"/>
                </a:solidFill>
              </a:rPr>
              <a:t>යවරයන් </a:t>
            </a:r>
            <a:r>
              <a:rPr lang="si-LK" sz="3200" dirty="0">
                <a:solidFill>
                  <a:schemeClr val="bg2"/>
                </a:solidFill>
              </a:rPr>
              <a:t>ලැයිස්තුගත කරන්න</a:t>
            </a:r>
            <a:endParaRPr lang="en-US" sz="3200" dirty="0">
              <a:solidFill>
                <a:schemeClr val="bg2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si-LK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3200" dirty="0" smtClean="0">
                <a:solidFill>
                  <a:schemeClr val="bg1">
                    <a:lumMod val="85000"/>
                  </a:schemeClr>
                </a:solidFill>
              </a:rPr>
              <a:t>කළමන</a:t>
            </a:r>
            <a:r>
              <a:rPr lang="si-LK" sz="3200" dirty="0">
                <a:solidFill>
                  <a:schemeClr val="bg1">
                    <a:lumMod val="85000"/>
                  </a:schemeClr>
                </a:solidFill>
              </a:rPr>
              <a:t>ාකරණය සඳහා සැලැස්මක් සකස් කරන්න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62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084887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64197" y="1028811"/>
            <a:ext cx="9215717" cy="5493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පවතින වතාවරණයට අදාළ වන සහ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පාරිසරික උවදුරු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ප්‍රධාන ක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ාණ්ඩ හයක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ඇත:</a:t>
            </a:r>
          </a:p>
          <a:p>
            <a:pPr>
              <a:lnSpc>
                <a:spcPct val="107000"/>
              </a:lnSpc>
            </a:pP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හානි වූ යටිතල පහසුකම්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අස්ථායී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ගොඩනැගිලි ව්‍යුහයන්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හානියට පත් උපයෝගිතා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ගින්න සහ දුම්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උපද්‍රව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පාරිසරික උවදුරු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4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284843" y="5851882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4628" y="1125500"/>
            <a:ext cx="10123714" cy="506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i-LK" sz="4000" b="1" dirty="0"/>
              <a:t>හානි වූ යටිතල පහසුකම</a:t>
            </a:r>
            <a:r>
              <a:rPr lang="si-LK" sz="4000" b="1" dirty="0" smtClean="0"/>
              <a:t>්</a:t>
            </a:r>
          </a:p>
          <a:p>
            <a:endParaRPr lang="en-US" sz="4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i-LK" sz="3200" dirty="0"/>
              <a:t>මාර්ග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i-LK" sz="3200" dirty="0"/>
              <a:t>පාලම්/උමං මාර්ග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i-LK" sz="3200" dirty="0"/>
              <a:t>උමං මාර්ග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i-LK" sz="3200" dirty="0"/>
              <a:t>නල මාර්ග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i-LK" sz="3200" dirty="0"/>
              <a:t>දුම්රිය මාර්ග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i-LK" sz="3200" dirty="0"/>
              <a:t>ගුවන් තොටුපලවල්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i-LK" sz="3200" dirty="0"/>
              <a:t>විදුලි </a:t>
            </a:r>
            <a:r>
              <a:rPr lang="si-LK" sz="3200" dirty="0" smtClean="0"/>
              <a:t>රැහැන්</a:t>
            </a:r>
            <a:endParaRPr lang="en-US" sz="3200" dirty="0"/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050" name="Picture 2" descr="Ukraine, Belarusian railway workers fight alongside Kyi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485" y="1871832"/>
            <a:ext cx="5985435" cy="347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96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5864320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6871" y="581236"/>
            <a:ext cx="717136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i-LK" sz="4000" b="1" dirty="0"/>
              <a:t>හානි වූ යටිතල පහසුකම්</a:t>
            </a:r>
            <a:endParaRPr lang="en-US" sz="4000" b="1" dirty="0"/>
          </a:p>
          <a:p>
            <a:r>
              <a:rPr lang="si-LK" sz="4000" b="1" i="1" dirty="0">
                <a:solidFill>
                  <a:srgbClr val="FF0000"/>
                </a:solidFill>
              </a:rPr>
              <a:t>අවධානය යොමු කළ යුතු කරුණු</a:t>
            </a:r>
            <a:r>
              <a:rPr lang="si-LK" sz="4000" b="1" i="1" dirty="0" smtClean="0">
                <a:solidFill>
                  <a:srgbClr val="FF0000"/>
                </a:solidFill>
              </a:rPr>
              <a:t>:</a:t>
            </a:r>
            <a:endParaRPr lang="en-US" sz="4000" b="1" i="1" dirty="0" smtClean="0">
              <a:solidFill>
                <a:srgbClr val="FF000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 smtClean="0"/>
              <a:t>ව</a:t>
            </a:r>
            <a:r>
              <a:rPr lang="si-LK" sz="2800" dirty="0"/>
              <a:t>ීදි සංඥා </a:t>
            </a:r>
            <a:r>
              <a:rPr lang="si-LK" sz="2800" dirty="0" smtClean="0"/>
              <a:t>නොමැත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රථවාහන පාලනයක් </a:t>
            </a:r>
            <a:r>
              <a:rPr lang="si-LK" sz="2800" dirty="0" smtClean="0"/>
              <a:t>නොමැත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හුරුපුරුදු </a:t>
            </a:r>
            <a:r>
              <a:rPr lang="si-LK" sz="2800" dirty="0" smtClean="0"/>
              <a:t>මාර්ග සලක</a:t>
            </a:r>
            <a:r>
              <a:rPr lang="si-LK" sz="2800" dirty="0"/>
              <a:t>ුණු නොමැත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අවහිර වූ මාර්ග - කඩා වැටුණු ගොඩනැගිලි </a:t>
            </a:r>
            <a:r>
              <a:rPr lang="si-LK" sz="2800" dirty="0" smtClean="0"/>
              <a:t>සහ </a:t>
            </a:r>
            <a:r>
              <a:rPr lang="si-LK" sz="2800" dirty="0"/>
              <a:t>නායයෑම්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හානි වූ හෝ විනාශ වූ පාලම්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සිතියම් තවදුරටත් භූගෝලයට </a:t>
            </a:r>
            <a:r>
              <a:rPr lang="si-LK" sz="2800" dirty="0" smtClean="0"/>
              <a:t>ලක්ෂයන්ට නොගැලපේ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බිම මත විදුලි රැහැන</a:t>
            </a:r>
            <a:r>
              <a:rPr lang="si-LK" sz="2800" dirty="0" smtClean="0"/>
              <a:t>් </a:t>
            </a:r>
            <a:r>
              <a:rPr lang="si-LK" sz="2800" dirty="0" smtClean="0"/>
              <a:t>වැටි ඇත</a:t>
            </a:r>
            <a:r>
              <a:rPr lang="si-LK" sz="2800" dirty="0" smtClean="0"/>
              <a:t>.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86" y="1990164"/>
            <a:ext cx="4496818" cy="273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4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2833" y="1156314"/>
            <a:ext cx="6096000" cy="52625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හානි වූ යටිතල පහසුකම්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i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උපද්‍රව:</a:t>
            </a:r>
          </a:p>
          <a:p>
            <a:pPr>
              <a:lnSpc>
                <a:spcPct val="107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වාහනවලට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යට 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අධික වේගයෙන්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ගමන් ගන්නා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වාහන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දේශීය පරිසරය තුළ අතරමං 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මාර්ගවල සුන්බුන්වල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ා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හන ගැටීම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හානියට පත් මාර්ග සහ පාලම්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වල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ගැටිමෙන්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ාහන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අනතුරට පත්වීම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හානියට පත් නල මාර්ග වලින් ගංවතු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 ඇතිවීම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අයහපත් කාලගු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ණය, යට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ිතල පහසුකම්වලට තවදුරටත් හානි කරයි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4098" name="Picture 2" descr="July 27 earthquake infrastructure damage hits P1.6B - BusinessWorld On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795" y="2672619"/>
            <a:ext cx="4542263" cy="254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1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93913" y="1095250"/>
            <a:ext cx="6096000" cy="3912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අස්ථායී </a:t>
            </a:r>
            <a:r>
              <a:rPr lang="en-US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්‍යුහයන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්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ගොඩනැගිලි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පාලම්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වේලි සහ ජල මාර්ග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උමං මාර්ග සහ භූගත ප්‍රවාහන පද්ධති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ඉහළීන් ඇති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විදුලි රැහැන්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5124" name="Picture 4" descr="Quake toll passes 5,000 as rescue efforts in Turkey, Syria hampered by  aftershocks | The Times of Isra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913" y="1918457"/>
            <a:ext cx="5022178" cy="334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63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268429" y="5808846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429" y="624213"/>
            <a:ext cx="7498592" cy="5908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i-LK" sz="4000" b="1" dirty="0"/>
              <a:t>අස්ථායී </a:t>
            </a:r>
            <a:r>
              <a:rPr lang="si-LK" sz="4000" b="1" dirty="0" smtClean="0"/>
              <a:t>ව</a:t>
            </a:r>
            <a:r>
              <a:rPr lang="si-LK" sz="4000" b="1" dirty="0" smtClean="0"/>
              <a:t>්‍යුහයන්</a:t>
            </a:r>
          </a:p>
          <a:p>
            <a:r>
              <a:rPr lang="si-LK" sz="2800" i="1" dirty="0" smtClean="0">
                <a:solidFill>
                  <a:srgbClr val="FF0000"/>
                </a:solidFill>
              </a:rPr>
              <a:t>අවධ</a:t>
            </a:r>
            <a:r>
              <a:rPr lang="si-LK" sz="2800" i="1" dirty="0">
                <a:solidFill>
                  <a:srgbClr val="FF0000"/>
                </a:solidFill>
              </a:rPr>
              <a:t>ානය යොමු කළ යුතු කරුණු</a:t>
            </a:r>
            <a:r>
              <a:rPr lang="si-LK" sz="2800" i="1" dirty="0" smtClean="0">
                <a:solidFill>
                  <a:srgbClr val="FF0000"/>
                </a:solidFill>
              </a:rPr>
              <a:t>:</a:t>
            </a:r>
          </a:p>
          <a:p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 smtClean="0"/>
              <a:t>පස</a:t>
            </a:r>
            <a:r>
              <a:rPr lang="si-LK" sz="2800" dirty="0"/>
              <a:t>ු කම්</a:t>
            </a:r>
            <a:r>
              <a:rPr lang="si-LK" sz="2800" dirty="0" smtClean="0"/>
              <a:t>පනතාවන් ඇතිවීම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කෙඳිරිගාන සහ </a:t>
            </a:r>
            <a:r>
              <a:rPr lang="si-LK" sz="2800" dirty="0" smtClean="0"/>
              <a:t>හඬාවැටෙන ශබ</a:t>
            </a:r>
            <a:r>
              <a:rPr lang="si-LK" sz="2800" dirty="0"/>
              <a:t>්ද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ගොඩනැගිලි බිත්ති</a:t>
            </a:r>
            <a:r>
              <a:rPr lang="en-US" sz="2800" dirty="0"/>
              <a:t>, </a:t>
            </a:r>
            <a:r>
              <a:rPr lang="si-LK" sz="2800" dirty="0"/>
              <a:t>බිම්</a:t>
            </a:r>
            <a:r>
              <a:rPr lang="en-US" sz="2800" dirty="0"/>
              <a:t>, </a:t>
            </a:r>
            <a:r>
              <a:rPr lang="si-LK" sz="2800" dirty="0"/>
              <a:t>තීරු හෝ බාල්ක </a:t>
            </a:r>
            <a:r>
              <a:rPr lang="si-LK" sz="2800" dirty="0" smtClean="0"/>
              <a:t>චලනය </a:t>
            </a:r>
            <a:r>
              <a:rPr lang="si-LK" sz="2800" dirty="0" smtClean="0"/>
              <a:t>වීම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සැඟවුණු සිදුරු සහ හිස් තැන</a:t>
            </a:r>
            <a:r>
              <a:rPr lang="si-LK" sz="2800" dirty="0" smtClean="0"/>
              <a:t>් ඇත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දූවිලි හා </a:t>
            </a:r>
            <a:r>
              <a:rPr lang="si-LK" sz="2800" dirty="0" smtClean="0"/>
              <a:t>බදාම කඩ</a:t>
            </a:r>
            <a:r>
              <a:rPr lang="si-LK" sz="2800" dirty="0" smtClean="0"/>
              <a:t>ා ව</a:t>
            </a:r>
            <a:r>
              <a:rPr lang="si-LK" sz="2800" dirty="0"/>
              <a:t>ැටීම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සුන්බුන් </a:t>
            </a:r>
            <a:r>
              <a:rPr lang="si-LK" sz="2800" dirty="0" smtClean="0"/>
              <a:t>තුළින් </a:t>
            </a:r>
            <a:r>
              <a:rPr lang="si-LK" sz="2800" dirty="0"/>
              <a:t>ඕනෑම </a:t>
            </a:r>
            <a:r>
              <a:rPr lang="si-LK" sz="2800" dirty="0" smtClean="0"/>
              <a:t>චලනයක් </a:t>
            </a:r>
            <a:r>
              <a:rPr lang="si-LK" sz="2800" dirty="0" smtClean="0"/>
              <a:t>සිදුවීමට හැක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si-LK" sz="2800" dirty="0"/>
              <a:t>තිරස් හෝ සිරස් ඉරිතැලීම් දිස්වීම හෝ </a:t>
            </a:r>
            <a:r>
              <a:rPr lang="si-LK" sz="2800" dirty="0" smtClean="0"/>
              <a:t>ඒවා ප</a:t>
            </a:r>
            <a:r>
              <a:rPr lang="si-LK" sz="2800" dirty="0"/>
              <a:t>ුළුල් වීම</a:t>
            </a:r>
            <a:endParaRPr lang="en-US" sz="2800" dirty="0"/>
          </a:p>
          <a:p>
            <a:pPr>
              <a:lnSpc>
                <a:spcPct val="107000"/>
              </a:lnSpc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6148" name="Picture 4" descr="White Helmet to miss Oscars because Syria cancelled passport | Syria | The  Guardi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371" y="1813617"/>
            <a:ext cx="4654455" cy="279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47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284843" y="5851051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87680" y="884948"/>
            <a:ext cx="7365402" cy="4966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අස්ථායී 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්‍යුහයන්</a:t>
            </a:r>
            <a:endParaRPr lang="en-US" sz="40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3200" i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උපද්‍රව:</a:t>
            </a:r>
            <a:endParaRPr lang="en-US" sz="3200" i="1" dirty="0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ඉහල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ින් වැටෙන සුන්බුන්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වලට ගොදුරු වී තැලීම් සහ තුවාල සිදුවීම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ැඩුණු වීදුරු වලින් කැපුම්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ුවා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 සිදුවීම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සිදුරු හා හිස්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අවකාශ තුළට ව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ැටී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මට ඇති හැකියාව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හුස්ම හිර කරන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ආකාරයට දුවිලි හැමීම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රිබාර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(Rebar)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කොටස්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 අනෙකුත් ලෝහ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කොටස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්, 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ුන්බුන් වලින්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ුවා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 සිදුවීම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දූවිලි හා සුන්බුන් වලින් ඇස් තුවා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 විම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101" y="1409252"/>
            <a:ext cx="4510275" cy="30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41469" y="740229"/>
            <a:ext cx="6096000" cy="33856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හානියට පත් උපයෝගිතා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ඉහළීන් 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විදුලි රැහැන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ඇත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ජල නල - පොළව උඩින් සහ භූගත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ගෑස් සැපයුම් නල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දුරකථන කේබල්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8194" name="Picture 2" descr="Hydro Ottawa looking at burying more power lines after latest storm | CBC  Ne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252" y="1712258"/>
            <a:ext cx="5989524" cy="336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53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6"/>
          <p:cNvSpPr>
            <a:spLocks noChangeArrowheads="1"/>
          </p:cNvSpPr>
          <p:nvPr/>
        </p:nvSpPr>
        <p:spPr bwMode="auto">
          <a:xfrm>
            <a:off x="1427357" y="16838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80"/>
          <p:cNvSpPr>
            <a:spLocks noChangeArrowheads="1"/>
          </p:cNvSpPr>
          <p:nvPr/>
        </p:nvSpPr>
        <p:spPr bwMode="auto">
          <a:xfrm>
            <a:off x="1427357" y="21410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5" name="Rectangle 85"/>
          <p:cNvSpPr>
            <a:spLocks noChangeArrowheads="1"/>
          </p:cNvSpPr>
          <p:nvPr/>
        </p:nvSpPr>
        <p:spPr bwMode="auto">
          <a:xfrm>
            <a:off x="1427357" y="21410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284843" y="5757098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24348" y="740229"/>
            <a:ext cx="6096000" cy="49001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හානියට පත් උපයෝගිතා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8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අවධානය යොමු කළ යුතු කරුණු:</a:t>
            </a:r>
            <a:endParaRPr lang="en-US" sz="28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කැඩුණු පයිප්පවලින් ගෑස් කාන්දු වීම - සවන් දීම සහ සුවඳ අග්‍රහණය කිරිම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කැඩුණු වයර් සහ කේබල් වලින් විදුලිය කාන්දුවීම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කැඩුණු දුරකථන රැහැන් සජීවී විදුලි රැහැන්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සමග සම්බන්ධ වීම.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ැඩුණු පයිප්පවලින් ජලය කාන්දුවීම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අපද්‍රව්‍ය කාන්දු වීම - දූෂණය වීම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9218" name="Picture 2" descr="16,349 Air Pollution India Photos and Premium High Res Pictures - Getty  Imag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771" y="1990165"/>
            <a:ext cx="4862791" cy="355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42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588650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5256" y="740229"/>
            <a:ext cx="6096000" cy="50978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හානියට පත් උපයෝගිතා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උපද්‍රව:</a:t>
            </a:r>
            <a:endParaRPr lang="en-US" sz="2400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වායුව කාන්දු වීමෙන් හුස්ම හිරවීම සහ විෂ වායු ආග්‍රහනය 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ගිනි දැල්වුවහොත් දැවෙන වායුවෙන් නිසා දැවී යාම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කැඩුණු වයර් සහ කේබල් වලින් විදුලි කම්පන ඇතිවීම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ගංවතුර ඇති බිම් මහලේ හෝ පොළව යට ප්‍රදේශයක් ගිලී යාම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දූෂණය නිසා ඇති වන වායු විෂ වීම සහ අසනීප තත්ව ඇතිවීම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0242" name="Picture 2" descr="Top 10 Causes of Car Fires | HowStuff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442" y="1785769"/>
            <a:ext cx="5115116" cy="307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39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152353"/>
            <a:ext cx="6399351" cy="4235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i-LK" sz="4000" b="1" dirty="0"/>
              <a:t>ගින්න සහ දුම</a:t>
            </a:r>
            <a:r>
              <a:rPr lang="si-LK" sz="4000" b="1" dirty="0" smtClean="0"/>
              <a:t>්</a:t>
            </a:r>
            <a:endParaRPr lang="en-US" sz="4000" b="1" dirty="0" smtClean="0"/>
          </a:p>
          <a:p>
            <a:endParaRPr lang="en-US" sz="4000" b="1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si-LK" sz="2800" dirty="0"/>
              <a:t>ගොඩනැගිලි සහ එහි කොටස්</a:t>
            </a:r>
            <a:endParaRPr lang="en-US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si-LK" sz="2800" dirty="0"/>
              <a:t>විවෘත ස්ථාන අසල හෝ ගොඩනැගිලි යට වාහන ඇත</a:t>
            </a:r>
            <a:endParaRPr lang="en-US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si-LK" sz="2800" dirty="0"/>
              <a:t>ඉන්ධන</a:t>
            </a:r>
            <a:r>
              <a:rPr lang="en-US" sz="2800" dirty="0"/>
              <a:t>, </a:t>
            </a:r>
            <a:r>
              <a:rPr lang="si-LK" sz="2800" dirty="0"/>
              <a:t>ගෑස් හෝ රසායනික ගිනි ඇතිවීම</a:t>
            </a:r>
            <a:endParaRPr lang="en-US" sz="2800" dirty="0"/>
          </a:p>
          <a:p>
            <a:pPr>
              <a:lnSpc>
                <a:spcPct val="107000"/>
              </a:lnSpc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026" name="Picture 2" descr="Sunday fire destroys former Monticello store - Daily Leader | Daily Lead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2004">
            <a:off x="6408917" y="2096101"/>
            <a:ext cx="5473917" cy="32502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59130" y="995358"/>
            <a:ext cx="6096000" cy="53612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ගින්න සහ දුම්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8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අවධානය යොමු කළ යුතු කරුණු:</a:t>
            </a:r>
            <a:endParaRPr lang="en-US" sz="28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ගින්නෙන්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ඇති වන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ුම් විෂ විය හැකි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අතර, ම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ිනිත්තු කිහිපයකින් හුස්ම හි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රවීම සිදුවිය 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හැකිය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ගිනිදැල් වලින් පිළිස්සීම සහ උණුසුම් සුන්බුන් හෝ ලෝහ සමඟ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ගැටීම 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ිසා පිළිස්සිම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අධික උෂ්ණත්වය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නිසා ග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ොඩනැගිලි කඩා වැටීමට හේතු විය හැක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ගිනිගැනිම නිසා පිපිරීම් ඇති විය හැක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2050" name="Picture 2" descr="Fire and smoke at 4th Street restaurant in La Crosse, smoke in coin shop  next door - WIZM 92.3FM 1410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0230">
            <a:off x="7106574" y="2042694"/>
            <a:ext cx="4677579" cy="36918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38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93913" y="785655"/>
            <a:ext cx="6096000" cy="57318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ගින්න සහ දුම්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8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උපද්‍රව:</a:t>
            </a:r>
            <a:endParaRPr lang="en-US" sz="28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දුම නිසා හුස්ම හිරවීම හෝ විෂ දුම් අග්‍රහනය 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ගිනිදැල් වලින් පිළිස්සීම සහ උණුසුම් සුන්බුන් හෝ ලෝහ සමඟ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ගැටීම නිසා පිළීස්සිම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ගින්නෙන් බිත්ති සහ වහල කඩා වැටීම නිසා ගොඩනැගිලි දුර්වල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ීම.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tabLst>
                <a:tab pos="400050" algn="l"/>
              </a:tabLst>
            </a:pP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්ධන හෝ රසායනික ද්‍රව්‍ය ලෙස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ිදුවන පිපිරීම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නිසා ඇති වන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කම්පන තරංග </a:t>
            </a:r>
            <a:endParaRPr lang="en-US" sz="2800" dirty="0"/>
          </a:p>
        </p:txBody>
      </p:sp>
      <p:pic>
        <p:nvPicPr>
          <p:cNvPr id="3074" name="Picture 2" descr="Canton manufacturing building 'probable total loss' after partial collapse  from raging fi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2701">
            <a:off x="7071701" y="2649249"/>
            <a:ext cx="4771473" cy="26720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86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0550" y="740229"/>
            <a:ext cx="6096000" cy="39781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 උපද්‍රව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නිවාස හා මහල් නිවාසවල රසායනික ද්‍රව්‍ය විසිරි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වැඩ පළවල් සහ වාණිජ පරිශ්‍රයන්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කෘෂිකාර්මික පරිශ්‍රයන්හි පළිබෝධනාශක සහ පොහොර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රෝහල් සහ වෛද්‍ය ගොඩනැගිලි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ට්‍රාන්ස්ෆෝමර්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4098" name="Picture 2" descr="Cleaning without chemicals? Part I – The use and hazards of traditional  cleaning chemicals – Sustainable N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3813">
            <a:off x="6887030" y="1986954"/>
            <a:ext cx="4760617" cy="31679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51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67690" y="670546"/>
            <a:ext cx="6096000" cy="56961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 උපද්‍රව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අවධානය යොමු කළ යුතු කරුණු:</a:t>
            </a:r>
            <a:endParaRPr lang="en-US" sz="2400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ගෘහස්ථ රසායනික ද්‍රව්‍ය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ගෑස් සිලින්ඩරය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වෛද්‍ය කටයුතු සදහා භාවිතා කරන ගෑස් සිලින්ඩර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කාන්දු වන රසායනික ටැංකි හෝ සිලින්ඩර්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බැටරි වලින් රසායනික ද්‍රව්‍ය කාන්දු වීම - අම්ලය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ඉන්ධන සහ රසායනික ද්‍රව්‍ය වලින්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ජලය ද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ූෂිත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වීම</a:t>
            </a:r>
            <a:endParaRPr lang="en-US" sz="2800" dirty="0"/>
          </a:p>
        </p:txBody>
      </p:sp>
      <p:pic>
        <p:nvPicPr>
          <p:cNvPr id="5122" name="Picture 2" descr="Industrial barrel plants face more sancti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481" y="2376119"/>
            <a:ext cx="4909280" cy="27491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59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0375" y="842711"/>
            <a:ext cx="6096000" cy="49001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 උපද්‍රව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8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උපද්‍රවයන්</a:t>
            </a:r>
            <a:endParaRPr lang="en-US" sz="2800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අම්ල හෝ භාෂ්ම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රසායනික සමඟ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සෘජු ස්පර්ශයකින්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ිළිස්සීම ඇතිවීම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දුම් හෝ වායු වලින් හුස්ම හිරවීම හෝ විෂ දුම් ආග්‍රන්‍යය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 ද්‍රව්‍ය සම හරහා අවශෝෂණය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වීමෙන්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විෂ 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ඉන්ධන සහ රසායනික ද්‍රව්‍යවලින් දූෂිත වූ පානීය ජලය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3" name="AutoShape 2" descr="Millions Drink Tap Water That Is Legal, but Maybe Not Healthy - The New  York Tim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1912">
            <a:off x="6892182" y="2382997"/>
            <a:ext cx="5111693" cy="28004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8054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10540" y="652828"/>
            <a:ext cx="6096000" cy="46367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පාරිසරික උවදුර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ු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ජල සැපයුම - වැව් සහ ජලාශ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මළ සිරුරු - මිනිසුන් සහ සතුන් යන දෙපාර්ශයේම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ජලය සහ වාතයේ ගුණාත්මක බලපෑම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අයහපත් කාලගුණය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දිවි ගලවා ගත් අයට ඇති වන ශාරීරික හා මානසික බලපෑම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7170" name="Picture 2" descr="Envrionmental Hazard Mapping | Satellite Imaging Cor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384" y="1837743"/>
            <a:ext cx="3673475" cy="41239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5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3410" y="1077649"/>
            <a:ext cx="6187440" cy="5657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පාරිසරික උවදුරු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8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අවධානය යොමු කළ යුතු කරුණු:</a:t>
            </a:r>
            <a:endParaRPr lang="en-US" sz="2800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අඛණ්ඩ පසු කම්පන තත්වයක් ඇති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සුන්බුන්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ඉන්ධන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රසායනික ද්‍රව්‍ය හෝ අපද්‍රව්‍ය වලින් දූෂි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 වූ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ජලය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පරිසරයේ අඩු දූවිලි ප්‍රමාණයක් තිබීම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වින්දිතයින්ගේ ශර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ීරයෙන්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තරල ගලා යාම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අඛණ්ඩ හෝ නරක අතට හැරෙන කාලගුණික තත්ත්වයන්- තව දුරටත් අධික සීතල හෝ තාපය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හිම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ගංවතුර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අධික සුළං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8194" name="Picture 2" descr="Oil spill cleanup operation conducted at Dalian - China.org.c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237" y="1760221"/>
            <a:ext cx="4747985" cy="31595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79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0070" y="825258"/>
            <a:ext cx="6525080" cy="5203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පාරිසරික උවදුරු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32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උපද්‍රව:</a:t>
            </a:r>
            <a:endParaRPr lang="en-US" sz="3200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දූෂිත ජලය පානය කිරීම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දූෂිත 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ා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තය/ජලය නිසා 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ෛද්‍ය තත්වය නරක අතට හැරිම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නරක අතට හැරෙන කාලගුණය - අධික සුළං හෝ හිම හානියට පත් ගොඩනැගිලිවල ස්ථාවරත්වයට බලපානු ඇත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ආතතිය සහ නින්ද සහ විවේකය නොමැතිකම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දිවි ගලවා ගත් අය අතර මානසික ආතතිය සහ වරදකාරි හැඟීම ඇතිවීම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ඍණාත්මක බලපෑ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මක්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පරි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සරය වෙත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එල්ලවීම</a:t>
            </a:r>
            <a:endParaRPr lang="en-US" sz="2400" dirty="0"/>
          </a:p>
        </p:txBody>
      </p:sp>
      <p:pic>
        <p:nvPicPr>
          <p:cNvPr id="9222" name="Picture 6" descr="Water and the global climate crisis: 10 things you should know | UNICE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8904">
            <a:off x="7278576" y="2400251"/>
            <a:ext cx="4497925" cy="29931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59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4999" y="825373"/>
            <a:ext cx="11010900" cy="5075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පවතින වතාවරණයට අදාළ වන සහ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පාරිසරික උවදුර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ු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ව්‍යසනයේ ප්‍රතිඵලයක් ලෙස සිදුවන සියලුම උපද්‍රවයන් හඳුනා ගැනීමට පළමු ප්‍රතිචාර දක්වන්නන් සමත් විය යුතුය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එවිට ඔවුන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එම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 වළක්වා ගැනීමට හෝ උපද්‍රව වල බලපෑම තුරන් කිරීමට හෝ අඩු කිරීමට ක්‍රියාමාර්ග ගත හැකිය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 පාලනය කිරීම සහ කළමනාකරණය කිරීම මීළඟ ඉදිරිපත් කිරීමෙහි ආවරණය කෙරේ.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54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722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28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190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72141" y="700246"/>
            <a:ext cx="3374573" cy="5555570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893504"/>
            <a:ext cx="4371278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පළම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ු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 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53" y="5503880"/>
            <a:ext cx="2578832" cy="4999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06322" y="2332907"/>
            <a:ext cx="9712049" cy="12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කිරීමේ මාතෘකා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ාකරණය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මොඩියු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ලය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	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3.1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b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කරන්නා / උපදේ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ශක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කරන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්නාග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ේ නම මෙහි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ඇතුළත් කරන්න.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01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668899" y="372126"/>
            <a:ext cx="26522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ප්‍රතිචාරකයා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Coordination Saves Lives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043355" y="1461655"/>
            <a:ext cx="6776062" cy="4933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si-LK" sz="5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5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5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ාකරණය</a:t>
            </a:r>
          </a:p>
          <a:p>
            <a:pPr algn="ctr">
              <a:lnSpc>
                <a:spcPct val="107000"/>
              </a:lnSpc>
            </a:pPr>
            <a:endParaRPr lang="si-LK" sz="6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ctr">
              <a:lnSpc>
                <a:spcPct val="107000"/>
              </a:lnSpc>
            </a:pPr>
            <a:r>
              <a:rPr lang="si-LK" sz="36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උපද්‍රව පාලනය සහ </a:t>
            </a:r>
          </a:p>
          <a:p>
            <a:pPr algn="ctr">
              <a:lnSpc>
                <a:spcPct val="107000"/>
              </a:lnSpc>
            </a:pPr>
            <a:r>
              <a:rPr lang="si-LK" sz="36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ස්ථානීය කළමනාකරණය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0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72006" y="1146804"/>
            <a:ext cx="9676686" cy="3912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ාකරණය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ඉගෙ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ිමේ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ඵල</a:t>
            </a:r>
          </a:p>
          <a:p>
            <a:pPr>
              <a:lnSpc>
                <a:spcPct val="107000"/>
              </a:lnSpc>
            </a:pP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rgbClr val="AEAAAA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තත්වය හා පාරිසරික උවදුරු හඳුනා ගන්න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පූර්ව ආරක්ෂණ පියවර ලැයිස්තුගත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2800" dirty="0" smtClean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28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ාකරණය සඳහා සැලැස්මක් සකස් කරන්න</a:t>
            </a:r>
            <a:endParaRPr lang="en-US" sz="2800" dirty="0"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685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4840" y="1089488"/>
            <a:ext cx="6096000" cy="53612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 පාලනය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.....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 වල බලපෑම වළක්වා ගැනීමෙන් හෝ අඩු කිරීම මගින්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ලඟාකර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ගනී: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පුද්ගලික ආරක්ෂාව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ප්‍රවේශය පාලනය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අනතුරු සලකුණු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ප්‍රදේශ නිර්වචනය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අවදානම් කලාප නිර්වචනය කිරීම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නිරීක්ෂකයන් යෙදවීම 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ඉවත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 කිරීම සහ ගැලවී යාම සැලසුම් කිරීම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0242" name="Picture 2" descr="How to Control Chemical Hazards in the Workpla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989" y="2217421"/>
            <a:ext cx="5021678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947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9110" y="740229"/>
            <a:ext cx="6096000" cy="54930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පුද්ගලික ආරක්ෂාව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ඇඳුම් සහ උපකරණ මගින්  උපද්‍රවවල බලපෑම අඩු කළ හැකිය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හිස ආවරණයක් හෝ ශක්තිමත් හිස් වැසුමක්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සම් වලින් සාදන ලද අත්වැසුම් යුගලයක්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සපත්තු හෝ ආරක්ෂිත සපත්තු යුගලයක්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ඇස්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ආවරණ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හෝ ඇස් කණ්ණාඩි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ඇඳුම්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දූවිලි ආවරණයක්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286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………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 වලින් ආරක්ෂා වීමට මෙයින් ඕනෑම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එකක් මගින්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පළමු ප්‍රතිචාර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දක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්වන්නාට  ආරක්ෂා විමට උපකාරී ව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ේ.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2290" name="Picture 2" descr="Confined Space Training – Why It's Important | Confined Space Servi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975" y="1600200"/>
            <a:ext cx="4635194" cy="430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881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0070" y="895178"/>
            <a:ext cx="6096000" cy="54930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ඇතුළුවීම පාලනය කිරීම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පළමු ප්‍රතිචාර දක්වන්නන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විසින්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අවට සිටින්නන් සහ සෙවීම් සහ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ගැනීමේ මෙහෙයුම්වලට සම්බන්ධ නොවන අනෙකුත් පුද්ගලයන් මෙහෙයුම් සිදුකරන ප්‍රදේශවලට සහ ඒ ආශ්‍රිත උපද්‍රව අසළට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ඇතුළු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ී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ම/ ළඟාවීම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වැළැක්වීම වැදගත් වේ.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මෙහෙයුම් සිදුකරන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්‍රදේශය සලකුණු කිරී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මේ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පිළිගත් ක්‍රමය වන්නේ රත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ු/ස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ුදු ප්ලාස්ටික් පටියක්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තිරස් අතට ඇතුළුවන ස්ථානය අවහිර වන පරිදි සවි කිරිමයි.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වෙනත් ආකාරයෙන් සලකුණු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කිරිමේ ක්‍රමයන්,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ලණු හෝ බාධක භාවිතා කළ හැකිය.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3314" name="Picture 2" descr="Red white no entry tape hi-res stock photography and images - Alam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585" y="2253426"/>
            <a:ext cx="4399184" cy="343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998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0070" y="828766"/>
            <a:ext cx="6096000" cy="53385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අනතුරු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සලක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ුණු කිරීම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පළමු ප්‍රතිචාර දක්වන්නන් විසින් අනතුරු සොයාගත් පසු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සෑම කෙනෙකුටම එම අනතුරින් ඈත් විය හැකි පරිදි ඒවා සලකුණු කළ යුතුය.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අනතුරු සලකුණු කිරීමේ පිළිගත් ක්‍රමයක් වන්නේ රතු/සුදු ප්ලාස්ටික් පටියක් වන අතර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අනතුරට යන මාර්ගය විකර්ණ ලෙස ආවරණය කළ හැකිය.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වෙනත් සලකුණු ක්‍රම වේදයක්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වුවද භ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ාවිතා කළ හැකිය.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4338" name="Picture 2" descr="Red white no entry tape hi-res stock photography and images - Alam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715" y="2050221"/>
            <a:ext cx="4699127" cy="328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083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0070" y="2120634"/>
            <a:ext cx="6250760" cy="364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පළම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ු ප්‍රතිචාර දක්වන්නන්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අනතුරුදායක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ොඩනැගිල්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ලක්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හෝ ගොඩනැගිලි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සමුහයක් සොයාගත් පසු එම ස්ථානයෙන් ආරක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්ෂි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තව සිටිමට සුදුසු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ප්‍රදේ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ශයක් සොය ගැනිම කළ යුතුය. 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ප්‍රදේශ යනු මිනිසුන්ට රැස්විය හැකි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උපකරණ තැබිය හැකි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තුවාල ලැබූවන්ට ප්‍රතිකාර කළ හැකි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ආරක්ෂිත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්ථා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නයක්ව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ේ.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ජනතාව දැනුවත් වන පරිදි ආරක්ෂිත ස්ථාන සලකුණු කිරීම හෝ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නම් කර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තැබිය යුතුය.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5088" y="1069916"/>
            <a:ext cx="6758581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ආරක්ෂිත ප්‍රදේශ නිර්වචනය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5362" name="Picture 2" descr="iConiC build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471" y="1182741"/>
            <a:ext cx="3607779" cy="45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7455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01980" y="1637719"/>
            <a:ext cx="6096000" cy="48344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පළම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ු ප්‍රතිචාර දක්වන්නන්ට ආරක්ෂිත නොවන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්‍රදේශ නිර්වචනය කිරී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 හෝ නම් කිරිමට හ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ැකි විය යුතු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මෙම ප්‍රදේශවලට ප්‍රවේශ වීම සීමා කළ යුතු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ය. අනතුරට පත් ග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ොඩනැගිලි ව්‍යුහයේ උස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x1.5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තරම්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ුරකට වඩා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එම ගොඩනැගිලිවලට සම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ීප ඕනෑම ස්ථානයක් අනතුරුදායක ප්‍රදේ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ශයක්වේ.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උදාහරණ: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ීටර්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20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ක් උස හානියට පත් ගොඩනැගිල්ලක් = මීටර්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30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 දුරක් තබා ගන්න.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අනෙකුත් ප්‍රදේශ අනතුරුදායක ප්‍රදේශ ලෙස අර්ථ දැක්විය හැක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උදා. රසායනික ද්‍රව්‍ය හෝ ගිනි ගැනිම අසල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9619" y="800278"/>
            <a:ext cx="6668813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අවදානම් කලාප නිර්වචනය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6388" name="Picture 4" descr="National Seismic Hazard Assessment (NSHA) | Community Safety | Geoscience  Austral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907" y="2473006"/>
            <a:ext cx="4837607" cy="321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212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6260" y="1356586"/>
            <a:ext cx="6096000" cy="43735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පළමු ප්‍රතිචාර දක්වන්නන් වැඩබිමක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මෙහෙයුමේ යෙදි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ිටින විට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අවම වශයෙන් එක් නිරීක්ෂකයකු හෝ නම් කර කාර්යන් යෙදවිය යුතුය.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ඔවුන්ගේ වැදගත් කාර්යභාරය වනුයේ අන්තරායන් ගැන විමසිල්ලෙන් සිටීම සහ භයානක දෙයක් සිදුවීමට පෙර සෑම කෙනෙකුටම ඒ පිළිබදව අනතුරු ඇඟවීමයි.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අනතුරු ඇඟවීමක් දැනුම් දීම සදහා පිඹින විසිල් හෝ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නළා භ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ාවිතා කළ හැකිය.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සෑම කෙනෙකුටම ඉවත් වීම සදහ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 ලබාදෙන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අනතුරු ඇඟවීම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ේ සංඥාව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ඇසුණු විට ඔවුන්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එම ස්ථානයෙන් වහ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ාම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ඉවත්ව ය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ා යුතුය.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විසිල්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සංඥාවක් නොමැති නම් .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..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එසේනම්  කෑගසා අවව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ා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 කරන්න.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3898" y="705927"/>
            <a:ext cx="4456669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නිරීක්ෂකයන් යෙද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17410" name="Picture 2" descr="Alexandra Bridge to be upgraded for maintenance, safety | The Courier Mai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63" y="1805940"/>
            <a:ext cx="4491148" cy="352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457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7690" y="1500968"/>
            <a:ext cx="6096000" cy="522957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පළමු ප්‍රතිචාර දක්වන්නන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මෙහෙයුම සිදුකරන ව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ැඩබ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ිමෙන්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ඉවත් කිරීමට සැලසුමක් තිබීම වැදගත්ය.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ඔවුන් ඉවත් කිරීම සදහා ලබාදෙන අනතුරු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ඇඟවීම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ඇසෙන්නේ නම්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ඔවුන් යා යුත්තේ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ුමන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ස්ථානයටද, කුමන ම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ාර්ගයෙන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්ද යන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්න දැන සිටිය යුතුය.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පුද්ගලයින් ඉවත් කරන විට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සියලු දෙන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ාම මෙහෙයුම සිදුකරන ස්ථානයෙන් ප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ිටව ගොස් ඇත්දැයි පරීක්ෂා කර තහවුරු කරගත යුතුය.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සෑම කෙනෙකුම ආරක්ෂිතව පිටව ගිය පසු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සියලු දෙනා නැවත සේවයට පැමිණීමට පෙර අනතුර ඉවත් කිරී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 සදහා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වැඩිදුර ක්‍රියාමාර්ග ගත හැකිය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2258" y="845782"/>
            <a:ext cx="7795724" cy="7210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ඉවත් කිරීම සහ ඉවත්වීම සැලසුම් කිරීම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766" y="2686815"/>
            <a:ext cx="4602080" cy="30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25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21938" y="1643056"/>
            <a:ext cx="9124950" cy="4373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ාකරණය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ඉගෙනුම් ප්‍රති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ඵල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 smtClean="0">
                <a:solidFill>
                  <a:srgbClr val="76717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පවතින වතාවරණයට අදාළ වන </a:t>
            </a:r>
            <a:r>
              <a:rPr lang="si-LK" sz="2800" dirty="0">
                <a:solidFill>
                  <a:srgbClr val="76717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පාරිසරික උවදුරු හඳුනා ගැනීම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solidFill>
                  <a:srgbClr val="76717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පූර්ව ආරක්</a:t>
            </a:r>
            <a:r>
              <a:rPr lang="si-LK" sz="2800" dirty="0" smtClean="0">
                <a:solidFill>
                  <a:srgbClr val="76717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ෂිත </a:t>
            </a:r>
            <a:r>
              <a:rPr lang="si-LK" sz="2800" dirty="0">
                <a:solidFill>
                  <a:srgbClr val="76717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පියවරයන් ලැයිස්තුගත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ාකරණය සඳහා සැලැස්මක් සකස් කරන්න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304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0540" y="1147046"/>
            <a:ext cx="10599420" cy="4900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සිදුවන ස්ථානය 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කළමන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ාකරණය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තවදුරටත් සිදුවු හානිය වළක්වා ගැනීමට සහ තත්වය නරක අතට හැරීම වැළැක්වීම සඳහා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පළමු ප්‍රතිචාර දක්වන්නන් උත්සාහ කළ යුතු අතර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යම් සිද්ධියක් සිද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ු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වූ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ස්ථානය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ාලනය කළ යුතුය: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ඕනෑම පොලිසියක හෝ හමුදා නිලධාරියෙකුගේ සහාය ලබා ගන්න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මායිම් සලකුණ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ු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කිරි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ඇතුල්වීමේ සහ පිටවීමේ ස්ථාන සකසන්න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ගැනීමේ මෙහෙයුම්වලට සම්බන්ධ නොවන පුද්ගලයින් ඉවත්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800100" lvl="1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පදිංචිකරුවන්ට ඔවුන්ගේ දේපල වෙත ආපසු යාමට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අවශ්‍ය කටය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ුතු සම්පාදනය කරන්න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773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9204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43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181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2453</TotalTime>
  <Words>7498</Words>
  <Application>Microsoft Office PowerPoint</Application>
  <PresentationFormat>Widescreen</PresentationFormat>
  <Paragraphs>396</Paragraphs>
  <Slides>43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Arial</vt:lpstr>
      <vt:lpstr>Avenir Medium</vt:lpstr>
      <vt:lpstr>Calibri</vt:lpstr>
      <vt:lpstr>Calibri Light</vt:lpstr>
      <vt:lpstr>Iskoola Pota</vt:lpstr>
      <vt:lpstr>Symbol</vt:lpstr>
      <vt:lpstr>Times</vt:lpstr>
      <vt:lpstr>Times New Roman</vt:lpstr>
      <vt:lpstr>Wingdings</vt:lpstr>
      <vt:lpstr>ヒラギノ明朝 ProN W3</vt:lpstr>
      <vt:lpstr>Office Theme</vt:lpstr>
      <vt:lpstr>පළමු ප්‍රතිචාර දැක්වීමේ පුහුණු වැඩසටහන</vt:lpstr>
      <vt:lpstr>PowerPoint Presentation</vt:lpstr>
      <vt:lpstr>PowerPoint Presentation</vt:lpstr>
      <vt:lpstr>පළමු  ප්‍රතිචාර දක්වන්නා  </vt:lpstr>
      <vt:lpstr>පළමු  ප්‍රතිචාර දක්වන්නන්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පළමු ප්‍රතිචාර දක්වන්නා  </vt:lpstr>
      <vt:lpstr>පළමු  ප්‍රතිචාරකයා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Military PC</dc:creator>
  <cp:lastModifiedBy>IT-Admin</cp:lastModifiedBy>
  <cp:revision>628</cp:revision>
  <cp:lastPrinted>2022-08-16T06:16:25Z</cp:lastPrinted>
  <dcterms:created xsi:type="dcterms:W3CDTF">2022-07-11T05:41:01Z</dcterms:created>
  <dcterms:modified xsi:type="dcterms:W3CDTF">2023-05-03T06:41:58Z</dcterms:modified>
</cp:coreProperties>
</file>