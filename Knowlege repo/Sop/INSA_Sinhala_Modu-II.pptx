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  <p:sldMasterId id="2147483816" r:id="rId2"/>
  </p:sldMasterIdLst>
  <p:notesMasterIdLst>
    <p:notesMasterId r:id="rId60"/>
  </p:notesMasterIdLst>
  <p:handoutMasterIdLst>
    <p:handoutMasterId r:id="rId61"/>
  </p:handoutMasterIdLst>
  <p:sldIdLst>
    <p:sldId id="269" r:id="rId3"/>
    <p:sldId id="268" r:id="rId4"/>
    <p:sldId id="267" r:id="rId5"/>
    <p:sldId id="328" r:id="rId6"/>
    <p:sldId id="330" r:id="rId7"/>
    <p:sldId id="332" r:id="rId8"/>
    <p:sldId id="333" r:id="rId9"/>
    <p:sldId id="261" r:id="rId10"/>
    <p:sldId id="270" r:id="rId11"/>
    <p:sldId id="271" r:id="rId12"/>
    <p:sldId id="334" r:id="rId13"/>
    <p:sldId id="335" r:id="rId14"/>
    <p:sldId id="336" r:id="rId15"/>
    <p:sldId id="337" r:id="rId16"/>
    <p:sldId id="272" r:id="rId17"/>
    <p:sldId id="273" r:id="rId18"/>
    <p:sldId id="277" r:id="rId19"/>
    <p:sldId id="278" r:id="rId20"/>
    <p:sldId id="309" r:id="rId21"/>
    <p:sldId id="314" r:id="rId22"/>
    <p:sldId id="381" r:id="rId23"/>
    <p:sldId id="382" r:id="rId24"/>
    <p:sldId id="383" r:id="rId25"/>
    <p:sldId id="384" r:id="rId26"/>
    <p:sldId id="340" r:id="rId27"/>
    <p:sldId id="298" r:id="rId28"/>
    <p:sldId id="299" r:id="rId29"/>
    <p:sldId id="300" r:id="rId30"/>
    <p:sldId id="301" r:id="rId31"/>
    <p:sldId id="302" r:id="rId32"/>
    <p:sldId id="341" r:id="rId33"/>
    <p:sldId id="385" r:id="rId34"/>
    <p:sldId id="344" r:id="rId35"/>
    <p:sldId id="345" r:id="rId36"/>
    <p:sldId id="346" r:id="rId37"/>
    <p:sldId id="348" r:id="rId38"/>
    <p:sldId id="350" r:id="rId39"/>
    <p:sldId id="351" r:id="rId40"/>
    <p:sldId id="379" r:id="rId41"/>
    <p:sldId id="352" r:id="rId42"/>
    <p:sldId id="355" r:id="rId43"/>
    <p:sldId id="356" r:id="rId44"/>
    <p:sldId id="357" r:id="rId45"/>
    <p:sldId id="358" r:id="rId46"/>
    <p:sldId id="359" r:id="rId47"/>
    <p:sldId id="365" r:id="rId48"/>
    <p:sldId id="386" r:id="rId49"/>
    <p:sldId id="367" r:id="rId50"/>
    <p:sldId id="368" r:id="rId51"/>
    <p:sldId id="369" r:id="rId52"/>
    <p:sldId id="371" r:id="rId53"/>
    <p:sldId id="373" r:id="rId54"/>
    <p:sldId id="362" r:id="rId55"/>
    <p:sldId id="363" r:id="rId56"/>
    <p:sldId id="374" r:id="rId57"/>
    <p:sldId id="378" r:id="rId58"/>
    <p:sldId id="343" r:id="rId59"/>
  </p:sldIdLst>
  <p:sldSz cx="12192000" cy="6858000"/>
  <p:notesSz cx="6800850" cy="9932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-432" y="-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hPercent val="61"/>
      <c:rotY val="20"/>
      <c:depthPercent val="100"/>
      <c:rAngAx val="1"/>
    </c:view3D>
    <c:floor>
      <c:thickness val="0"/>
      <c:spPr>
        <a:solidFill>
          <a:srgbClr val="C0C0C0"/>
        </a:solidFill>
        <a:ln w="3175">
          <a:solidFill>
            <a:srgbClr val="000000"/>
          </a:solidFill>
          <a:prstDash val="solid"/>
        </a:ln>
      </c:spPr>
    </c:floor>
    <c:sideWall>
      <c:thickness val="0"/>
      <c:spPr>
        <a:noFill/>
        <a:ln w="12700">
          <a:solidFill>
            <a:srgbClr val="000000"/>
          </a:solidFill>
          <a:prstDash val="solid"/>
        </a:ln>
      </c:spPr>
    </c:sideWall>
    <c:backWall>
      <c:thickness val="0"/>
      <c:spPr>
        <a:noFill/>
        <a:ln w="12700">
          <a:solidFill>
            <a:srgbClr val="000000"/>
          </a:solidFill>
          <a:prstDash val="solid"/>
        </a:ln>
      </c:spPr>
    </c:backWall>
    <c:plotArea>
      <c:layout>
        <c:manualLayout>
          <c:layoutTarget val="inner"/>
          <c:xMode val="edge"/>
          <c:yMode val="edge"/>
          <c:x val="6.568689528573933E-2"/>
          <c:y val="3.5545002559093604E-2"/>
          <c:w val="0.87301814160199231"/>
          <c:h val="0.83718499221182108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Survival</c:v>
                </c:pt>
              </c:strCache>
            </c:strRef>
          </c:tx>
          <c:spPr>
            <a:solidFill>
              <a:srgbClr val="60597B"/>
            </a:solidFill>
            <a:ln w="12689">
              <a:solidFill>
                <a:srgbClr val="000000"/>
              </a:solidFill>
              <a:prstDash val="solid"/>
            </a:ln>
          </c:spPr>
          <c:invertIfNegative val="0"/>
          <c:cat>
            <c:strRef>
              <c:f>Sheet1!$B$1:$E$1</c:f>
              <c:strCache>
                <c:ptCount val="4"/>
                <c:pt idx="0">
                  <c:v>24 Hours</c:v>
                </c:pt>
                <c:pt idx="1">
                  <c:v>48 Hours</c:v>
                </c:pt>
                <c:pt idx="2">
                  <c:v>72 Hours</c:v>
                </c:pt>
                <c:pt idx="3">
                  <c:v>96 Hours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88</c:v>
                </c:pt>
                <c:pt idx="1">
                  <c:v>35</c:v>
                </c:pt>
                <c:pt idx="2">
                  <c:v>9</c:v>
                </c:pt>
                <c:pt idx="3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E09-4856-BD7B-AF989D1A09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460573096"/>
        <c:axId val="460571920"/>
        <c:axId val="0"/>
      </c:bar3DChart>
      <c:catAx>
        <c:axId val="4605730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317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800"/>
            </a:pPr>
            <a:endParaRPr lang="en-US"/>
          </a:p>
        </c:txPr>
        <c:crossAx val="460571920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460571920"/>
        <c:scaling>
          <c:orientation val="minMax"/>
          <c:max val="100"/>
        </c:scaling>
        <c:delete val="0"/>
        <c:axPos val="l"/>
        <c:majorGridlines>
          <c:spPr>
            <a:ln w="3172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2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600"/>
            </a:pPr>
            <a:endParaRPr lang="en-US"/>
          </a:p>
        </c:txPr>
        <c:crossAx val="460573096"/>
        <c:crosses val="autoZero"/>
        <c:crossBetween val="between"/>
        <c:majorUnit val="20"/>
      </c:valAx>
      <c:spPr>
        <a:noFill/>
        <a:ln w="25377">
          <a:noFill/>
        </a:ln>
      </c:spPr>
    </c:plotArea>
    <c:legend>
      <c:legendPos val="r"/>
      <c:layout>
        <c:manualLayout>
          <c:xMode val="edge"/>
          <c:yMode val="edge"/>
          <c:x val="0.79814539198452461"/>
          <c:y val="0.45971567180245299"/>
          <c:w val="0.15012406947890819"/>
          <c:h val="8.0568720379146919E-2"/>
        </c:manualLayout>
      </c:layout>
      <c:overlay val="0"/>
      <c:spPr>
        <a:noFill/>
        <a:ln w="3172">
          <a:solidFill>
            <a:srgbClr val="000000"/>
          </a:solidFill>
          <a:prstDash val="solid"/>
        </a:ln>
      </c:spPr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 b="1" i="0" u="none" strike="noStrike" baseline="0">
          <a:solidFill>
            <a:srgbClr val="000000"/>
          </a:solidFill>
          <a:latin typeface="Times New Roman"/>
          <a:ea typeface="Times New Roman"/>
          <a:cs typeface="Times New Roman"/>
        </a:defRPr>
      </a:pPr>
      <a:endParaRPr lang="en-US"/>
    </a:p>
  </c:txPr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81FE1-49FF-49A7-A7F1-7BA43AFF21B6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B333-660B-4C8D-ABAD-4F77470B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3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83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6CE2F-C41B-4D8B-95EE-5D8EFFB3B4CF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80250"/>
            <a:ext cx="5440680" cy="39111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434615"/>
            <a:ext cx="2947035" cy="4983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34173-98C6-48F6-BF0E-3F7CF8242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2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34173-98C6-48F6-BF0E-3F7CF82424B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69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15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64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75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74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46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80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FDBF44-FD94-4466-B621-9621BC9D237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3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7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7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3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9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9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89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82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2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268CC436-DB0C-4D40-95CD-0C678C839D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801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5401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6425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0477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066801"/>
            <a:ext cx="10363200" cy="3340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659286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486400" cy="4038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28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408238"/>
            <a:ext cx="5386917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276600"/>
            <a:ext cx="5386917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408238"/>
            <a:ext cx="5389033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3276600"/>
            <a:ext cx="5389033" cy="2743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9942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860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5001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83820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90601"/>
            <a:ext cx="6815667" cy="50292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3601"/>
            <a:ext cx="4011084" cy="3886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836281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0"/>
            <a:ext cx="10668000" cy="457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990600"/>
            <a:ext cx="10668000" cy="3736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Time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367338"/>
            <a:ext cx="10668000" cy="6524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67810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ocha-insarag-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914400"/>
            <a:ext cx="11082867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101600" y="0"/>
            <a:ext cx="12090400" cy="762000"/>
          </a:xfrm>
          <a:solidFill>
            <a:schemeClr val="bg1"/>
          </a:solidFill>
        </p:spPr>
        <p:txBody>
          <a:bodyPr/>
          <a:lstStyle>
            <a:lvl1pPr marL="39688" indent="0">
              <a:buNone/>
              <a:defRPr/>
            </a:lvl1pPr>
          </a:lstStyle>
          <a:p>
            <a:pPr lvl="0"/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5943600"/>
            <a:ext cx="12192000" cy="914400"/>
          </a:xfrm>
          <a:solidFill>
            <a:schemeClr val="bg1"/>
          </a:solidFill>
        </p:spPr>
        <p:txBody>
          <a:bodyPr/>
          <a:lstStyle>
            <a:lvl5pPr marL="1766888" indent="0">
              <a:buNone/>
              <a:defRPr/>
            </a:lvl5pPr>
          </a:lstStyle>
          <a:p>
            <a:pPr lvl="4"/>
            <a:endParaRPr lang="en-US" dirty="0"/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3"/>
          </p:nvPr>
        </p:nvSpPr>
        <p:spPr>
          <a:xfrm>
            <a:off x="9812867" y="6248400"/>
            <a:ext cx="389467" cy="330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8CC436-DB0C-4D40-95CD-0C678C839DC7}" type="slidenum"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200" smtClean="0">
              <a:solidFill>
                <a:srgbClr val="00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14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2D13-26C6-49E8-A6B9-CF97DB82E248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5261C-F097-45A2-87DD-04B5855E2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2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990600"/>
            <a:ext cx="11176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981200"/>
            <a:ext cx="11176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4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Times" panose="02020603050405020304" pitchFamily="18" charset="0"/>
              </a:rPr>
              <a:t>Click to edit Master text styles</a:t>
            </a:r>
          </a:p>
          <a:p>
            <a:pPr lvl="1"/>
            <a:r>
              <a:rPr lang="en-US" smtClean="0">
                <a:sym typeface="Times" panose="02020603050405020304" pitchFamily="18" charset="0"/>
              </a:rPr>
              <a:t>Second level</a:t>
            </a:r>
          </a:p>
          <a:p>
            <a:pPr lvl="2"/>
            <a:r>
              <a:rPr lang="en-US" smtClean="0">
                <a:sym typeface="Times" panose="02020603050405020304" pitchFamily="18" charset="0"/>
              </a:rPr>
              <a:t>Third level</a:t>
            </a:r>
          </a:p>
          <a:p>
            <a:pPr lvl="3"/>
            <a:r>
              <a:rPr lang="en-US" smtClean="0">
                <a:sym typeface="Times" panose="02020603050405020304" pitchFamily="18" charset="0"/>
              </a:rPr>
              <a:t>Fourth level</a:t>
            </a:r>
          </a:p>
          <a:p>
            <a:pPr lvl="4"/>
            <a:r>
              <a:rPr lang="en-US" smtClean="0">
                <a:sym typeface="Times" panose="02020603050405020304" pitchFamily="18" charset="0"/>
              </a:rPr>
              <a:t>Fifth level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2"/>
          <a:srcRect/>
          <a:stretch>
            <a:fillRect/>
          </a:stretch>
        </p:blipFill>
        <p:spPr bwMode="auto">
          <a:xfrm>
            <a:off x="203200" y="152400"/>
            <a:ext cx="35560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9" name="Picture 1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6248400"/>
            <a:ext cx="284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CC99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2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6065839"/>
            <a:ext cx="1490133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1" name="Straight Connector 2"/>
          <p:cNvCxnSpPr>
            <a:cxnSpLocks noChangeShapeType="1"/>
          </p:cNvCxnSpPr>
          <p:nvPr userDrawn="1"/>
        </p:nvCxnSpPr>
        <p:spPr bwMode="auto">
          <a:xfrm>
            <a:off x="3100917" y="6300788"/>
            <a:ext cx="7416800" cy="0"/>
          </a:xfrm>
          <a:prstGeom prst="line">
            <a:avLst/>
          </a:prstGeom>
          <a:noFill/>
          <a:ln w="20320">
            <a:solidFill>
              <a:srgbClr val="174C8E">
                <a:alpha val="9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84437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</p:sldLayoutIdLst>
  <p:transition/>
  <p:hf hdr="0" ftr="0" dt="0"/>
  <p:txStyles>
    <p:titleStyle>
      <a:lvl1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/>
          <a:ea typeface="+mj-ea"/>
          <a:cs typeface="Verdana"/>
          <a:sym typeface="Times" panose="02020603050405020304" pitchFamily="18" charset="0"/>
        </a:defRPr>
      </a:lvl1pPr>
      <a:lvl2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2pPr>
      <a:lvl3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3pPr>
      <a:lvl4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4pPr>
      <a:lvl5pPr marL="39688" indent="-39688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  <a:ea typeface="ヒラギノ明朝 ProN W3" charset="0"/>
          <a:cs typeface="Verdana" panose="020B0604030504040204" pitchFamily="34" charset="0"/>
          <a:sym typeface="Times" panose="02020603050405020304" pitchFamily="18" charset="0"/>
        </a:defRPr>
      </a:lvl5pPr>
      <a:lvl6pPr marL="4968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6pPr>
      <a:lvl7pPr marL="9540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7pPr>
      <a:lvl8pPr marL="14112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8pPr>
      <a:lvl9pPr marL="186848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" charset="0"/>
          <a:ea typeface="ヒラギノ明朝 ProN W3" charset="0"/>
          <a:cs typeface="ヒラギノ明朝 ProN W3" charset="0"/>
          <a:sym typeface="Times" charset="0"/>
        </a:defRPr>
      </a:lvl9pPr>
    </p:titleStyle>
    <p:bodyStyle>
      <a:lvl1pPr marL="382588" indent="-342900" algn="l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32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1pPr>
      <a:lvl2pPr marL="681038" indent="-285750" algn="l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8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2pPr>
      <a:lvl3pPr marL="1081088" indent="-228600" algn="l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•"/>
        <a:defRPr sz="24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3pPr>
      <a:lvl4pPr marL="15382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–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4pPr>
      <a:lvl5pPr marL="1995488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panose="02020603050405020304" pitchFamily="18" charset="0"/>
        <a:buChar char="»"/>
        <a:defRPr sz="2000">
          <a:solidFill>
            <a:schemeClr val="tx1"/>
          </a:solidFill>
          <a:latin typeface="Verdana"/>
          <a:ea typeface="+mn-ea"/>
          <a:cs typeface="Verdana"/>
          <a:sym typeface="Times" panose="02020603050405020304" pitchFamily="18" charset="0"/>
        </a:defRPr>
      </a:lvl5pPr>
      <a:lvl6pPr marL="24526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6pPr>
      <a:lvl7pPr marL="29098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7pPr>
      <a:lvl8pPr marL="33670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8pPr>
      <a:lvl9pPr marL="3824288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" charset="0"/>
        <a:buChar char="»"/>
        <a:defRPr sz="2000">
          <a:solidFill>
            <a:schemeClr val="tx1"/>
          </a:solidFill>
          <a:latin typeface="+mn-lt"/>
          <a:ea typeface="+mn-ea"/>
          <a:cs typeface="+mn-cs"/>
          <a:sym typeface="Time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පළමු ප්‍රතිචාර දැක්වීමේ පුහුණු වැඩසටහන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මොඩියුලර්	2</a:t>
            </a:r>
            <a:r>
              <a:rPr lang="si-LK" dirty="0" smtClean="0"/>
              <a:t>: ආපදා පරිසරය</a:t>
            </a:r>
            <a:endParaRPr lang="si-LK" dirty="0"/>
          </a:p>
          <a:p>
            <a:r>
              <a:rPr lang="si-LK" dirty="0" smtClean="0"/>
              <a:t>සැසිය 	2.1- පාඩම් සැලැස්ම</a:t>
            </a:r>
          </a:p>
          <a:p>
            <a:r>
              <a:rPr lang="si-LK" dirty="0" smtClean="0"/>
              <a:t>හදුන්වාදීම</a:t>
            </a:r>
            <a:endParaRPr lang="si-LK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81799" y="4681526"/>
            <a:ext cx="468085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පළමු ප්‍රතිචාර දැක්වීම් පුහුණු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 කණ්ඩායම මගින් සංවර්ධනය කරනු ලැබු අතර එමගින් විවිධ රටවලට ආපදාවකදි උදව් කිරිම සහ ප්‍රතිචාර දැක්වීමේ සංවිධාන වල ජිවිත ගලවා ගැනිමේ හැකියාවන් වැඩි දියුණු කිරිම සහ ජිවිත බේරාගැනිම මෙහි අරමුණයි.</a:t>
            </a:r>
          </a:p>
        </p:txBody>
      </p:sp>
    </p:spTree>
    <p:extLst>
      <p:ext uri="{BB962C8B-B14F-4D97-AF65-F5344CB8AC3E}">
        <p14:creationId xmlns:p14="http://schemas.microsoft.com/office/powerpoint/2010/main" val="76686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10243"/>
              </p:ext>
            </p:extLst>
          </p:nvPr>
        </p:nvGraphicFramePr>
        <p:xfrm>
          <a:off x="181074" y="111547"/>
          <a:ext cx="11825869" cy="1299810"/>
        </p:xfrm>
        <a:graphic>
          <a:graphicData uri="http://schemas.openxmlformats.org/drawingml/2006/table">
            <a:tbl>
              <a:tblPr firstRow="1" firstCol="1" bandRow="1"/>
              <a:tblGrid>
                <a:gridCol w="2072269"/>
                <a:gridCol w="4147457"/>
                <a:gridCol w="5606143"/>
              </a:tblGrid>
              <a:tr h="2182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Aims)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(Objectives)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ප්‍රතිඵල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(Learning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Outcomes)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08153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අරමුණ වන්නේ ආපද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ාවක් 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ිළිබඳ දළ විශ්ලේෂණයක් සහභාගිවන්නන්ට ලබා දීමයි.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තත්වයකදි තුවාල කරුවන් ඉවත් කිරිමේදි ඇති වු ආපදාව ඉදිකිරිම් වර්ග සහ ඒවායේ බලපෑම පිළීබදව තේරුම් ගැනිම.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ාගිවන්නාට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පහත හැකියාවන් ලැබෙනු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ඇත.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නාගරික පරිසරය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තුළ සිදුවන ව්‍යාසනයේ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ප්‍රතිවිපාක පිළිබද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ේරුම්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විවි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ධ ආකාරයට ගොඩනැගිලි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ිඳවැට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ීමේ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රටාව හදුනා ගැනිම සහ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එම බිඳ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වැටිමේ රටාව අනුව තුවාල කරුවන්ගේ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ජිවිත ආරක්ෂා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වන්නේ කුමන ව්‍යුහයක සිර වීමෙන්ද යන්න අවබෝධයක් ලබා ගත හැකි 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9986"/>
              </p:ext>
            </p:extLst>
          </p:nvPr>
        </p:nvGraphicFramePr>
        <p:xfrm>
          <a:off x="224204" y="1399836"/>
          <a:ext cx="11834459" cy="4385434"/>
        </p:xfrm>
        <a:graphic>
          <a:graphicData uri="http://schemas.openxmlformats.org/drawingml/2006/table">
            <a:tbl>
              <a:tblPr firstRow="1" firstCol="1" bandRow="1"/>
              <a:tblGrid>
                <a:gridCol w="1154363"/>
                <a:gridCol w="2640799"/>
                <a:gridCol w="6637951"/>
                <a:gridCol w="1401346"/>
              </a:tblGrid>
              <a:tr h="37789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Time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Content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ක්‍රියාකාරකම්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Activity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Resources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87613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යි.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සිදුවන පර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ිසරය පිළිබඳ හැඳින්වීම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නාගරික පරිසරය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ඉදිකිරීම් වර්ග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යටි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තල පහසුකම්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තනි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තට්ටුවේ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ගෘහස්ත සහ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තට්ටු කිහිපයක් සහිත න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ේවාසි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වාණිජ සහ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වෙළඳ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ොඩනැගිලි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හදුන්වා දීම සහ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ාලම්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වේලි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බලාගාර සහ සනීපාරක්ෂක පහසුකම් වැනි තීරණාත්මක යටිතල පහසුකම්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හඳුන්වාදීම සිදුකරයි.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කිරීම-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2.1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08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සහ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ඔවුන් සමග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 ක්‍රිය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ාකාරීත්වය.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3273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නාගරික පරිසරයට බලපාන ආපදා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ස්වාභාවික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අහඹුලෙස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සිදුවන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හිතාමතා කරන ක්‍රියා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රටවලට බලපෑ හැකි ආපදා වර්ග සහ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එමගින්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යට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ිතල පහසුකම්වලට ඇති විය හැකි බලපෑම පිළිබඳව සාකච්ඡා කරන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ලැබේ.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කිරීම-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2.1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9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සහ ඔවුන් සමග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 ක්‍රිය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ාකාරීත්වය.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851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15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සිදුවන ව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ිපත්වල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ප්‍රතිවිපාක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ගොඩනැගිලිවල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වැටීම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කඩා වැටිමේ ක්‍රමවේදය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උපද්‍රව -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දූවිලි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ුන්බුන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වැටීම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හානියට පත් උපයෝගිතා - ගෑස්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විදුලිය ආදිය.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විවිධ ඉදිකිරීම් වර්ගවල ගොඩනැගිලි ඇතුළු යටිතල පහසුකම්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ඇතුළත්වන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පරිදි පුළුල්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පර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සයකින්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විවිධ ආකාරයේ ආපදාවල ප්‍රතිවිපාක සාකච්ඡා කරනු ඇත. ගොඩනැගිලි බොහෝ විට හඳුනාගත හැකි ආකාරවලින් කඩා වැටෙන බවත්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එක් එක්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ගොඩනැගිලි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වැටීම් රට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</a:t>
                      </a:r>
                      <a:r>
                        <a:rPr lang="si-LK" sz="12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තුළ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හිස් තැන් ඇතිවීමේ සම්භාවිතාවට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ඇති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බවත්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ඒවා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ුරට ලක් වූවන්ගේ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ජිවිත ආරක්ෂාවට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බලප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ාන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පැහැදිලි කරන්න.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කඩා වැටිමේදි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 විය හැකි උපද්‍රව පිළිබඳ සාමාන්‍ය උදා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හරණ මගින් පහදා දීම 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ඒවා පළමුව ප්‍රතිචාර දක්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වන්නන්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විසින්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ගලවා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ගැනිමේ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මෙහෙයුම සිදු කිරිමට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බලප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ාන ආකා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රය පිළිබදව  කරුණු ල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ැයිස්තුගත කරන්න. විශේෂිත උවදුරුවලට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උදාහරණයක් 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PPE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ෙන්වන්න.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FR-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කිරීම-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2.1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කරන්නා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4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නන්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පරිදි සවන් 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සහ අන්තර් ක්‍රියාකාරීත්වය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යම් කිසි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ආපදා තත්වයක් ඇති වීම යම්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ක්‍රියාවක්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මගින් එනම්, භාවිතය අතහැර දැමිම, එම ප්‍රදේශයෙන් ඉවත්වීම වැනි ක්‍රම වලින් අවම කරගන්නේ කෙසේ දැයි 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PPE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මගින් 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විස්තර කරන්න. 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54889" marR="5488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387987"/>
              </p:ext>
            </p:extLst>
          </p:nvPr>
        </p:nvGraphicFramePr>
        <p:xfrm>
          <a:off x="271462" y="5800725"/>
          <a:ext cx="11729908" cy="841181"/>
        </p:xfrm>
        <a:graphic>
          <a:graphicData uri="http://schemas.openxmlformats.org/drawingml/2006/table">
            <a:tbl>
              <a:tblPr firstRow="1" firstCol="1" bandRow="1"/>
              <a:tblGrid>
                <a:gridCol w="1026385"/>
                <a:gridCol w="2645229"/>
                <a:gridCol w="6629400"/>
                <a:gridCol w="1428894"/>
              </a:tblGrid>
              <a:tr h="39701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 කිරීම සහ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 ඇසීම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උපදේශක: සැසියේ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ප්‍රධාන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කරුණු සාරාංශ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ඉගෙනීමේ කරුණු පැහැදිලි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කරගැනිමට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්‍රශ්න අසමින් අවශ්‍ය පරිදි සවන් දී අන්තර් ක්‍රියා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04" y="6321971"/>
            <a:ext cx="944962" cy="3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503953"/>
              </p:ext>
            </p:extLst>
          </p:nvPr>
        </p:nvGraphicFramePr>
        <p:xfrm>
          <a:off x="219477" y="444759"/>
          <a:ext cx="11823042" cy="3979354"/>
        </p:xfrm>
        <a:graphic>
          <a:graphicData uri="http://schemas.openxmlformats.org/drawingml/2006/table">
            <a:tbl>
              <a:tblPr firstRow="1" firstCol="1" bandRow="1"/>
              <a:tblGrid>
                <a:gridCol w="5911521"/>
                <a:gridCol w="5911521"/>
              </a:tblGrid>
              <a:tr h="26529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(Instructor</a:t>
                      </a:r>
                      <a:r>
                        <a:rPr lang="en-US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Note)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140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ප්‍රජාවට බලප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ාන විපත් පිළිබඳ උදාහරණ.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 සහ හදිසි අවස්ථා වර්ග ලැයිස්තුගත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කරන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ලෙස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ාගිවන්නන්ගෙන් ඉල්ලා සිටින්න - ඒවා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A1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කඩදාසි පත්‍රයේ සටහන් කරන්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විසින්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එක්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කණ්ඩායමට සෑම වර්ගයකටම අයත්වන පරිදි උද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ාහරණ ලබා දී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ම. 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්වභාවික (භූකම්පාව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ගිලා බැසීම්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ගංවතුර)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අනතුරු (ප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ිපිරීම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බලපෑම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ගින්න)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හිතාමතා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 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්‍රියා (ත්‍රස්තවාදී ප්‍රහාරය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බෝම්බ)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වැටෙන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ආකාර සහ රටාව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පිළිබදව 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ිදර්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ශන 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්‍රාදේශීය හෝ කලාපීය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වු 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්‍යසනවල පින්තූර භාවිතා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ඉදිරිපත් කරන්න.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සහභ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වන්නන්ට ගොඩනැගිලි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කඩ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වැටීමේ ආකා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රය /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රටාව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පිළිබදව හඳ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ුනා ගැනීමට උත්සාහ කරන්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න. එම අනතුරු සිදුව</a:t>
                      </a:r>
                      <a:r>
                        <a:rPr lang="si-LK" sz="130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 හ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ැකි ස්ථ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ාන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පිළිබද 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ාකච්ඡා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08473" y="879087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907354"/>
            <a:ext cx="4371278" cy="156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පළමුවන </a:t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 </a:t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473" y="2467781"/>
            <a:ext cx="11001784" cy="4694918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i-LK" sz="2200" dirty="0"/>
              <a:t>ඉදිරිපත් කිරිමේ මාතෘකා</a:t>
            </a:r>
            <a:r>
              <a:rPr lang="si-LK" sz="2200" dirty="0" smtClean="0"/>
              <a:t>ව	:-ආපදා පරිසරය</a:t>
            </a:r>
          </a:p>
          <a:p>
            <a:pPr marL="0" indent="0">
              <a:buNone/>
            </a:pPr>
            <a:r>
              <a:rPr lang="si-LK" sz="2200" dirty="0"/>
              <a:t>	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si-LK" sz="2200" dirty="0" smtClean="0"/>
              <a:t>	ම</a:t>
            </a:r>
            <a:r>
              <a:rPr lang="si-LK" sz="2200" dirty="0"/>
              <a:t>ොඩියුලර</a:t>
            </a:r>
            <a:r>
              <a:rPr lang="si-LK" sz="2200" dirty="0" smtClean="0"/>
              <a:t>්		: 2.1</a:t>
            </a:r>
          </a:p>
          <a:p>
            <a:pPr marL="0" indent="0">
              <a:buNone/>
            </a:pP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si-LK" sz="2200" dirty="0" smtClean="0"/>
              <a:t>ඉදිරිපත් කරන්නා/ උපදේශක	:-ඉදිරිපත් කරන්නාගේ නම මෙහි ඇතුළත් කරන්න.					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si-LK" dirty="0" smtClean="0"/>
          </a:p>
          <a:p>
            <a:pPr marL="0" indent="0">
              <a:buNone/>
            </a:pPr>
            <a:endParaRPr lang="si-LK" dirty="0" smtClean="0"/>
          </a:p>
          <a:p>
            <a:pPr marL="0" indent="0">
              <a:buNone/>
            </a:pPr>
            <a:r>
              <a:rPr lang="en-US" sz="1900" dirty="0" smtClean="0"/>
              <a:t>Coordination Saves Lives</a:t>
            </a:r>
            <a:r>
              <a:rPr lang="en-US" dirty="0" smtClean="0"/>
              <a:t>					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		</a:t>
            </a:r>
            <a:r>
              <a:rPr lang="si-LK" dirty="0" smtClean="0"/>
              <a:t>	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7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71" y="1042635"/>
            <a:ext cx="6281058" cy="4235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si-LK" sz="5400" b="1" dirty="0" smtClean="0"/>
              <a:t>ආපදා පරිසරය</a:t>
            </a:r>
          </a:p>
          <a:p>
            <a:pPr marL="0" indent="0" algn="ctr">
              <a:buNone/>
            </a:pPr>
            <a:endParaRPr lang="si-LK" sz="3600" b="1" dirty="0" smtClean="0"/>
          </a:p>
          <a:p>
            <a:pPr marL="0" indent="0" algn="ctr">
              <a:buNone/>
            </a:pPr>
            <a:endParaRPr lang="si-LK" sz="3600" b="1" dirty="0"/>
          </a:p>
          <a:p>
            <a:pPr marL="0" indent="0" algn="ctr">
              <a:buNone/>
            </a:pPr>
            <a:r>
              <a:rPr lang="si-LK" sz="3600" b="1" dirty="0" smtClean="0"/>
              <a:t>ආපදා පරිසරය හඳුන්වාදීම</a:t>
            </a:r>
            <a:endParaRPr lang="en-US" sz="3600" b="1" dirty="0" smtClean="0"/>
          </a:p>
          <a:p>
            <a:pPr marL="0" indent="0" algn="ctr">
              <a:buNone/>
            </a:pPr>
            <a:endParaRPr lang="en-US" sz="3600" b="1" dirty="0" smtClean="0"/>
          </a:p>
          <a:p>
            <a:pPr marL="0" indent="0" algn="ctr">
              <a:buNone/>
            </a:pPr>
            <a:endParaRPr lang="si-LK" sz="3600" b="1" dirty="0" smtClean="0"/>
          </a:p>
          <a:p>
            <a:endParaRPr lang="si-LK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668899" y="538325"/>
            <a:ext cx="265224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පළමුව </a:t>
            </a:r>
            <a:b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ප</a:t>
            </a:r>
            <a:r>
              <a:rPr lang="si-LK" sz="2400" b="1" dirty="0">
                <a:solidFill>
                  <a:prstClr val="black"/>
                </a:solidFill>
                <a:latin typeface="Calibri Light" panose="020F0302020204030204"/>
              </a:rPr>
              <a:t>්‍රතිචාර දක්වන්</a:t>
            </a:r>
            <a:r>
              <a:rPr lang="si-LK" sz="2400" b="1" dirty="0" smtClean="0">
                <a:solidFill>
                  <a:prstClr val="black"/>
                </a:solidFill>
                <a:latin typeface="Calibri Light" panose="020F0302020204030204"/>
              </a:rPr>
              <a:t>නන</a:t>
            </a:r>
            <a:r>
              <a:rPr lang="si-LK" sz="2400" b="1" dirty="0">
                <a:solidFill>
                  <a:prstClr val="black"/>
                </a:solidFill>
                <a:latin typeface="Calibri Light" panose="020F0302020204030204"/>
              </a:rPr>
              <a:t>්</a:t>
            </a:r>
            <a:endParaRPr lang="en-US" sz="24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225653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4914" y="1165686"/>
            <a:ext cx="11201399" cy="4867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ආපදා පරි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සරය පිළිබඳ ඉග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ෙ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නීමේ 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ප්‍රති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ඵලයන් හ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ැඳින්වී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</a:p>
          <a:p>
            <a:pPr>
              <a:lnSpc>
                <a:spcPct val="107000"/>
              </a:lnSpc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නාගරික පරිසරය මත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සිදුවන ව්‍යාසනයන්ගේ ප්‍රත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ිවිපාක තේරුම්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ගැනීම.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කඩා වැටීමට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ලක් වු ග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ොඩනැගිලි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වල වර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්ග සහ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එහි ලක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්ෂණ හඳුනා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ගැනීම.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ගොඩනැගිල්ලක් කඩා වැටෙන ආකාරය පිළිබදව (ම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ූලික වර්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ග) </a:t>
            </a:r>
            <a:r>
              <a:rPr lang="si-LK" sz="3200" dirty="0">
                <a:latin typeface="Calibri" panose="020F0502020204030204" pitchFamily="34" charset="0"/>
                <a:ea typeface="Calibri" panose="020F0502020204030204" pitchFamily="34" charset="0"/>
              </a:rPr>
              <a:t>හඳුනා </a:t>
            </a:r>
            <a:r>
              <a:rPr lang="si-LK" sz="32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ගැනීම.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62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0228" y="1250324"/>
            <a:ext cx="9546772" cy="447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ආපදා පරිසරය පිළිබඳ හැඳින්වීම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කෙට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ියෙන් විස්තර කිරිම.</a:t>
            </a:r>
          </a:p>
          <a:p>
            <a:pPr>
              <a:lnSpc>
                <a:spcPct val="107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නාගරික පරිසරය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සංවර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්ධනය වෙමින් පවතී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ලොව පුරා වැඩි පිරිසක් ජීවත් වන්නේ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නගරවලය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(Towns)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ආපදා තර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්ජන මට්ටම් වැඩි වෙමින් පවතී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ආපදා 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ිදුවීම් වළක්වා ගැනීමට හෝ අවම කිරීමට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හැකියාවක් නොමැත.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 ලැබූවන් විශාල සංඛ්‍යාවක් සහ වැඩි හානියක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සිදුවේ.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04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19200" y="1075473"/>
            <a:ext cx="10123714" cy="4406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නාගරික පරිසරයට බලපාන ආපදා </a:t>
            </a:r>
            <a:endParaRPr lang="si-LK" sz="40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උද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ාහරණ: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ස්වාභාවික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අහම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්බෙන්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</a:t>
            </a:r>
            <a:r>
              <a:rPr lang="si-LK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හ</a:t>
            </a:r>
            <a:r>
              <a:rPr lang="si-LK" sz="2400" b="1" dirty="0">
                <a:latin typeface="Calibri" panose="020F0502020204030204" pitchFamily="34" charset="0"/>
                <a:ea typeface="Calibri" panose="020F0502020204030204" pitchFamily="34" charset="0"/>
              </a:rPr>
              <a:t>ිතාමතා</a:t>
            </a:r>
            <a:r>
              <a:rPr lang="si-LK" sz="2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ම සිදුකරන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භූමි කම්පාව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ුම්රිය අනතු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රු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ිපිරීම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ගංවතුර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		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කඩ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ා වැටුණු ගොඩනැඟි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ි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්‍රස්තව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ාදී ක්‍රියා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සුනාමිය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ුවන් අනතු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රු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ගිනිගැනීම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	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	න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ාගරි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 ග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ිනි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ගැනිම්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නාය යෑම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		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රස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ායනික මුදා හැරී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ම්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ිනි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කඳු පිපිරීම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</a:t>
            </a:r>
          </a:p>
          <a:p>
            <a:pPr>
              <a:lnSpc>
                <a:spcPct val="107000"/>
              </a:lnSpc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සුළිසුළන්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හ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ෝ ස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ුළි කුණාටුව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96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9342" y="1019891"/>
            <a:ext cx="10461171" cy="4323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නාගරික පරිසරයට ආපදා </a:t>
            </a: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මගින් සිදුවන 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බලපෑම: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si-LK" sz="10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තුවාලකරුවන් - මිය ගිය සහ තුවාල ලැබූවන්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යටිතල පහසුකම්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වලට සිදුවන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හානි හා විනාශය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මහජන උපයෝගිතා කඩාකප්පල්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පරිසර හානිය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ආර්ථික හානිය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සමාජ විද්‍යාත්මක හානිය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සාමාන්‍ය ජන ජීවිතයට බාධා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54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6427" y="1079157"/>
            <a:ext cx="10123715" cy="4636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නාගරික පරිසරය යනු කුමක්ද: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ගොඩනැගිලි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පාලම්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උමං මාර්ග සහ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බෝක්කු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මහා ම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ාර්ග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දුම්රිය මාර්ග සහ ගුවන් තොටුපල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වේලි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ඇළ මාර්ග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ජල පිරිපහදු පහසුකම්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විදුලි රැහැන්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නල මාර්ග සහ භූ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ගත ජල මාර්ග ආශ්‍රිත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උපයෝගිතා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භූගත දුම්රිය මාර්ග සහ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දුම්රිය මාර්ග ආශ්‍රිත උපය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ෝගිතා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වරා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යන්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තොටුපල සහ තටාක පහසුකම්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1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3400" y="943075"/>
            <a:ext cx="11136086" cy="5229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නාගරික පරිසරය යනු කුමක්ද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ගොඩනැගිලි ඉදිකිරි</a:t>
            </a:r>
            <a:r>
              <a:rPr lang="si-LK" sz="32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endParaRPr lang="en-US" sz="32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ශක්තිමත්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නොවන ආකාරයට සහ මඩින් සාදන ලද ගඩොල් භාවිතා කිරිම 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ැහැල්ලු දැව හෝ උණ බම්බු රාම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ු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ශක්තිමත් පෙදරේර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ු කාර්යයන්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කොන්ක්රීට් රාමු </a:t>
            </a:r>
            <a:endParaRPr lang="si-LK" sz="24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400" dirty="0" smtClean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මොනොලිතික් (</a:t>
            </a:r>
            <a:r>
              <a:rPr lang="en-US" sz="2400" dirty="0" smtClean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Monolithic)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ොන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්ක්‍රීට් -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පෙර සවි කොන්ක්‍රීට්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කොටස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සෑම වර්ගයකම ඉදිකිරීම් බොහෝ විට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පෙර සදහන් කළ ආකාරයට බිඳ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වැටෙන අතර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එමගින් ඇතිවන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උපද්‍රව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හඳුනාගැනිම තුළින් ජිවිත රැක ගැනිම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සඳහා ඇති අවස්ථ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ාව උදාවේ.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63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0857" y="1413150"/>
            <a:ext cx="6096000" cy="371473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කඩා වැටිමේ ක්‍රමවේදය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ඇලවීම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බල්ක කඩා වැටීම (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Cantilever)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පෑන්කේක්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V-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වර්ගය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A-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රාමුව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542470" y="288925"/>
            <a:ext cx="2951843" cy="60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74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056" y="740229"/>
            <a:ext cx="9405257" cy="3919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ඇලව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ීම හෝ </a:t>
            </a:r>
            <a:r>
              <a:rPr lang="si-LK" sz="4000" b="1" dirty="0" smtClean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මුක්කු ගැසීම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r>
              <a:rPr lang="si-LK" sz="4000" dirty="0" smtClean="0">
                <a:solidFill>
                  <a:srgbClr val="174C8E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4000" dirty="0" smtClean="0">
              <a:solidFill>
                <a:srgbClr val="174C8E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බිත්තියේ / කොන්ක්‍රීට් තට්ටුව එක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 කෙ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ළවරක්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 ඇති අතර, අනෙක් කෙළවර හේතුවී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ඇලවී ඇති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ිත්ති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 මත සුන්බුන්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විශාල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්ථායී හිස් තැන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හිස් අවකාශයන් තුළ අනතුරට පත් පුද්ගලයින් හිර වී ඇත.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04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0484" y="1291720"/>
            <a:ext cx="10929259" cy="447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බාල්ක කඩා වැටීම  (</a:t>
            </a:r>
            <a:r>
              <a:rPr lang="en-AU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Cantilever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) හෝ එල්ලා වැටීම්(</a:t>
            </a:r>
            <a:r>
              <a:rPr lang="en-AU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hanging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)</a:t>
            </a:r>
            <a:r>
              <a:rPr lang="en-AU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බිත්තියේ / කොන්ක්‍රීට් තට්ටුවේ එක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 කෙ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ළවරක්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පමණක් ආධා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රකයක් ලෙස ක්‍රියාකරයි.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ිත්ත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ියේ ඉතිරි කොටස ශක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්තිමත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කො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ටසකට සම්බන්ධ වී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සුන්බුන් ඉතා අස්ථායී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තත්වයේ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වින්දිතයින් තුවාල නොලබන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නම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ුත්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ඔවුන්ට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ිමට බැසීමට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හැකියාවක් නොමැත.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3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6"/>
          <p:cNvSpPr>
            <a:spLocks noChangeArrowheads="1"/>
          </p:cNvSpPr>
          <p:nvPr/>
        </p:nvSpPr>
        <p:spPr bwMode="auto">
          <a:xfrm>
            <a:off x="1427357" y="16838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4" name="Rectangle 80"/>
          <p:cNvSpPr>
            <a:spLocks noChangeArrowheads="1"/>
          </p:cNvSpPr>
          <p:nvPr/>
        </p:nvSpPr>
        <p:spPr bwMode="auto">
          <a:xfrm>
            <a:off x="1427357" y="21410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5" name="Rectangle 85"/>
          <p:cNvSpPr>
            <a:spLocks noChangeArrowheads="1"/>
          </p:cNvSpPr>
          <p:nvPr/>
        </p:nvSpPr>
        <p:spPr bwMode="auto">
          <a:xfrm>
            <a:off x="1427357" y="21410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0" name="Picture 7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17033" y="1291720"/>
            <a:ext cx="9575181" cy="381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පෑන්කේක් හෝ සම්පූර්ණයෙන් කඩා වැටිම.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ගොඩනැගිල්ලේ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ිත්ත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 අතර සම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්බන්ධත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ාවය (දෙකොනොනින්) නොමැත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ඉහළ 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ුන්බුන්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යට තට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්ටු මතට කඩා වැටී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 නිසා සිදුවේ.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තරමක් ස්ථා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වරය.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හිස්තැන්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ති අතර යම් යම් ස්ථානවල කිහිපයක්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ොනැසී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ජිවත්වීමට අවස්ථාව අඩුය.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42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4285" y="1291720"/>
            <a:ext cx="10374085" cy="3813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AU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V-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අකුරු හැඩයේ කඩාවැටීම්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වහල හෝ කොන්ක්‍රීට් තට්ටුවේ මැදින් පහළට කඩාවැටී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තරමක් ස්ථා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වරවේ.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ආපදාවට ලක්වූවන්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ිමට පහළින්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ඇති 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ුඩා හිස් අවකාශයන් තුළ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සිරවී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ආපදාවට ලක්වූවන් කඩා වැටුණු කොන්ක්‍රීට් තට්ටුවේ ඉහළ කොටසේ සිරවී ඇත.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39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0069" y="1152353"/>
            <a:ext cx="9635673" cy="4933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AU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A-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අකුර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හැඩය ආකාරයට හෝ කුඩාරම් ආකාරයට බිඳ වැටීම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AU" sz="2800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කොන්ක්‍රීට් තට්ටුව හෝ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ිත්ති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ස්ථාන දෙකකින් කඩා වැටේ.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අභ්‍යන්තර බර දරණ බිත්තිය හෝ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girder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කොටස 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ොවෙනස්ව පවතී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තරමක් ස්ථා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වරවේ.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ආපදාවට ලක් වූවන්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ිමට පහළින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වු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කුඩා හිස් අවකාශයන් තුළ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සිර වී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2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90070" y="1086486"/>
            <a:ext cx="9820730" cy="2430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ගොඩනැගිල්ලක් බ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ිඳවැටීමේ යථාර්ථයන්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endParaRPr lang="en-US" sz="4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සාමාන්‍යයෙන් කඩ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 වැටීමේ රටාවන් එකකට වඩා තිබීම </a:t>
            </a:r>
            <a:endParaRPr lang="si-LK" sz="2800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ොහෝ විට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බිත්ති සහ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පොළව විනාශකාරී ලෙස කඩා වැටි ඇත.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බොහෝ විට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පාර්ශ්වීය සහ සිරස්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ආකාරයට කඩා වැටි ඇත.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38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1109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20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471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පළමු ප්‍රතිචාර පුහුණු වැඩසටහන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1910749"/>
            <a:ext cx="8218714" cy="1650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මොඩියු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	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ආපදා පරිසරය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සැසිය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		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2.2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-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පාඩම් සැලැස්ම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ග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ැනීමේ මෙහෙයුම් පිළිබඳ දළ විශ්ලේෂණය</a:t>
            </a:r>
            <a:endParaRPr lang="en-US" sz="2800" dirty="0"/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8706939" y="4759641"/>
            <a:ext cx="2973432" cy="1590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3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ආපදා සදහා </a:t>
            </a:r>
            <a:r>
              <a:rPr lang="si-LK" sz="13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පළම</a:t>
            </a:r>
            <a:r>
              <a:rPr lang="si-LK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ු ප්‍රතිචාර දැක්වීමේ පුහුණු වැඩසටහන </a:t>
            </a:r>
            <a:r>
              <a:rPr lang="en-US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INSARAG </a:t>
            </a:r>
            <a:r>
              <a:rPr lang="si-LK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පුහුණු ක්‍රියාකරී කණ්ඩායම විසින් සංවර්ධනය කරන ලද අතර ගලවා ගැනිමේ හැකියාව වර්ධනය කිරිමට සහ ජිවිත බේරා ගැනිමට සියලුම රටවලට සහ ප්‍රතිචාර දක්වන සංවිධාන වලට උපකාර කිරිමට අදහස් කෙරේ.</a:t>
            </a:r>
            <a:endParaRPr lang="en-US" sz="13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9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74507"/>
              </p:ext>
            </p:extLst>
          </p:nvPr>
        </p:nvGraphicFramePr>
        <p:xfrm>
          <a:off x="286202" y="258351"/>
          <a:ext cx="11470368" cy="2331593"/>
        </p:xfrm>
        <a:graphic>
          <a:graphicData uri="http://schemas.openxmlformats.org/drawingml/2006/table">
            <a:tbl>
              <a:tblPr firstRow="1" firstCol="1" bandRow="1"/>
              <a:tblGrid>
                <a:gridCol w="3822638"/>
                <a:gridCol w="3823865"/>
                <a:gridCol w="3823865"/>
              </a:tblGrid>
              <a:tr h="1884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(Aims)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(Objectives)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ප්‍රතිඵල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(Learning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Outcome)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316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ගොඩනැගිල්ලක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ව්‍යු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ාත්මක බිඳවැටීමකට ප්‍රතිචාර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දැක්වීම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කළමන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ාකරණය කළ හැකි මෙවලම් සහභාගිවන්නන්ට සැපයීමට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ිදුවීමක් අතරතුර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වෙන්වුණු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/ ව්‍යාක්ත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අවධ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ීන් ඇති බවත්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අවශ්‍යතාවය මත පදනම්ව ඒවා අනුක්‍රමිකව හෝ සමාන්තරව හෝ ඕනෑම අනුපිළිවෙලකට සිදු කළ හැකි බවත් තේරුම්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ගැනීම. 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සහභාගිවන්නාට 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පහත දැනුම ලබා ගැනිමට හ</a:t>
                      </a: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ැකි වනු ඇත: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අවශ්‍යතා තක්සේරු කිරී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මත්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ජීවිත බේරා ගැනීමට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දේපළවලට සිදුවන හානිය අවම කිරීමට සහ බලපෑමට ලක් වූ ප්‍රජාව යථා තත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්වයට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පත් කිරීමට සහාය වී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සදහා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ප්‍රධාන කාර්යයන් පිළිබඳ අවබෝධයක්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ගැනිමට හැකිවීම. 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ගලව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ගැනීමේ මෙහෙයුමක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විවිධ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වෙන්වු අවස්ථාවන්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පිළිබදව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ැයිස්තුගත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844758"/>
              </p:ext>
            </p:extLst>
          </p:nvPr>
        </p:nvGraphicFramePr>
        <p:xfrm>
          <a:off x="286202" y="2741568"/>
          <a:ext cx="11533110" cy="3503158"/>
        </p:xfrm>
        <a:graphic>
          <a:graphicData uri="http://schemas.openxmlformats.org/drawingml/2006/table">
            <a:tbl>
              <a:tblPr firstRow="1" firstCol="1" bandRow="1"/>
              <a:tblGrid>
                <a:gridCol w="919538"/>
                <a:gridCol w="2928257"/>
                <a:gridCol w="6052457"/>
                <a:gridCol w="1632858"/>
              </a:tblGrid>
              <a:tr h="290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ලය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(Time)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(Content) </a:t>
                      </a: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ක්‍රියාකාරීත්වය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(Activity)</a:t>
                      </a: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සම්පත්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(Resources)</a:t>
                      </a: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29089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25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ගලවා ගැනීමේ මෙහෙයුම් පිළිබඳ දළ විශ්ලේෂණය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ඔත්තු බැලීම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ගැනිම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ගලවා ගැනීමේ මෙහෙයුම් පිළිබඳ දළ විශ්ලේෂණයක්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ලබාදෙන්න.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එකිනෙකින් වෙන් වු (</a:t>
                      </a:r>
                      <a:r>
                        <a:rPr lang="en-US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Discrete)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අධියරයන් ඇති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බවත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අවශ්‍යතාවය මත පදනම්ව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අනුපිළිවෙලින් හෝ සමාන්තරව හෝ ඕනෑම අනුපිළිවෙලකට ඒවා සිදු කළ හැකි බවත් පැහැදිලි කරන්න. අවශ්‍යතාවය කෙරෙහි අවධානය යොමු කරන්න - ඔත්තු බැලී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,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පරීක්ෂාකිරිම,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ුදාගැන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අවශ්‍යතාවයක් පිළිබදව අවධානය යොමු කරන්න.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එක් එක් මෙහෙයුම් අදියරවල අරමුණු සහ ගත යුතු සාමාන්‍ය ක්‍රියාමාර්ග පැහැදිලි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FR 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2.2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1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සහ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 ක්‍රියා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කරන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5134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 කිරීම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උපදේශකවරයා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සැසියේ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සියලු කර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සාරාංශ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ගත කිරිම. 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2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 අන්තර් ක්‍රිය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ාකාරීත්වය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තබා ගන්න.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විෂය කර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පැහැදිලි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කරගැනිමට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්‍රශ්න අසන්න.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1000" marR="610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6202" y="6231170"/>
            <a:ext cx="941019" cy="292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විනාඩි</a:t>
            </a: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30 </a:t>
            </a:r>
            <a:r>
              <a:rPr lang="si-LK" sz="13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යි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0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065528"/>
              </p:ext>
            </p:extLst>
          </p:nvPr>
        </p:nvGraphicFramePr>
        <p:xfrm>
          <a:off x="271603" y="129493"/>
          <a:ext cx="11517624" cy="15012589"/>
        </p:xfrm>
        <a:graphic>
          <a:graphicData uri="http://schemas.openxmlformats.org/drawingml/2006/table">
            <a:tbl>
              <a:tblPr firstRow="1" firstCol="1" bandRow="1"/>
              <a:tblGrid>
                <a:gridCol w="2199453"/>
                <a:gridCol w="9318171"/>
              </a:tblGrid>
              <a:tr h="0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 සටහන්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29516" marR="295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32210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මෙහෙයුම් පිළිබඳ දළ විශ්ලේෂණය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i-LK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ම</a:t>
                      </a:r>
                      <a:r>
                        <a:rPr lang="si-LK" sz="13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ෙහෙයුමේ</a:t>
                      </a:r>
                      <a:r>
                        <a:rPr lang="si-LK" sz="13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si-LK" sz="13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විමර්ශනය 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කිර</a:t>
                      </a:r>
                      <a:r>
                        <a:rPr lang="si-LK" sz="13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ිමේ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අදියර</a:t>
                      </a:r>
                      <a:endParaRPr lang="en-US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මෙහෙය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ුමේ</a:t>
                      </a:r>
                      <a:r>
                        <a:rPr lang="si-LK" sz="13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සෙ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විමේ</a:t>
                      </a:r>
                      <a:r>
                        <a:rPr lang="si-LK" sz="13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අදියර</a:t>
                      </a:r>
                      <a:endParaRPr lang="en-US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  <a:endParaRPr lang="si-LK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i-LK" sz="1300" b="1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ම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ෙහෙය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ුමේ</a:t>
                      </a:r>
                      <a:r>
                        <a:rPr lang="si-LK" sz="13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මුදවා 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ග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ැනීමේ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අදියර</a:t>
                      </a:r>
                      <a:endParaRPr lang="en-US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29516" marR="295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උපදේශකයා විසින් සංකල්පවල වැදගත්කම අවධාරණය කිරීම අත්‍යවශ්‍ය වේ: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අ)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පිළිවෙළට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මෙහෙයුම් සිදු කිරීම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ආරම්භක අදි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යරවල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වේ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ගය අවශ්‍යවේ.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ඇ) උපරිම පුද්ගලයින් සංඛ්‍යා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වක් මගින් 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කිරිමේදි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උපරි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සංඛ්‍යාවක් වෙත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ප්‍රතිලා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ලබාදීම.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යම් අ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පද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ාවකට ලක්වු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ලක් තුළ ආපදාවට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ලක් වු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ුද්ගලයන් දස දෙනෙකු පහසුවෙන් බේරා ගැනීමට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හැකිි විට හෝ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ඔවුන්ගේ ජි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ිත ආරක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්ෂ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කිරිමට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ැකි විට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වෙනත්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ගොඩනැගිල්ලක සිරවි සිටින පුද්ගලයින් ගලවා ගැනිම සදහා දුෂ්කර මෙහෙයුමක යෙදිමට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ාලය නාස්ති නොකරන්න.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ඈ) ජීවිතය බේරා ගැනීම සඳහා පමණක්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රු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වලට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මුහුණ දීමට සුදානම් වන්න.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මෙහෙයුමේ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ේගයේ අවශ්‍යතාවය අවධාරණය කර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 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්‍රියාවන්ගේ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ක්‍රියාපිළිවෙතෙහි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ුපිළිවෙල පැහැදිලි කරන්න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උදාහරණ : තත්වය පිළිබද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ාර්තා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අවශ්‍ය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උපකරණ ලබා ගැනි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්මනින් ප්‍රදේශය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වෙත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ගමන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ලක් වු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ින්දිතයන්/තත්වයන් නොසලකා හැරීමට උත්සාහ කරන්න - වින්දිතයන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  <a:r>
                        <a:rPr lang="si-LK" sz="13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පිළීබදව,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වු 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‍යසනය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හාන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පිළිබඳ තොරතුරු රැස් කරන්න - සටහන්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පින්තූර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සිතියම් සහ වීඩ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ියෝ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මගින්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ොරතුරු වාර්තා කරන්න - හැකි ඉක්මනින් නැවත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තත්වය 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ාර්තා කරන්න 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වි ඇති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්‍යාසනය පිළිබද සමස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්ත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අදහසක්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ගැනීමට තොරතුරු බෙදා ගන්න.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මූලික විමර්ශනය කිරිම අවසන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වූ පස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ු,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ෙවීම ආරම්භ වන බව අවධාරණය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 පිළීවෙතේ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ුපිළිවෙල පැහැදිලි කරන්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න.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උදාහරණ :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සැලසුම් කළ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පිරිදි අන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ුපිළිවෙලකින්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වු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්‍රදේශය හරහා ගමන් කරන්න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පහසුවෙන් ප්‍රවේශ විය හැකි ප්‍රදේ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ශවල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සිටින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ින්දිතයින් ඉවත් කරන්න - වින්දිතයින් ගෙනයාමට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කටයුතු 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ංවිධානය කරන්න 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වි ඇති ස්ථානයට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වට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ආරක්ෂාව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යො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දාන්න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බාධක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ස්ථානගත කර 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්‍රදේ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ශයට ඇතුලුවීම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පාලනය කරන්න.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සදහා පොලිස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ියේ සහයෝගය ය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ොදාගත හැකිය.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මූලික විමර්ශනය කිරිම සහ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සෙවීම අවසන් වන තුරු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ග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ැනීම ආරම්භ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නොකරන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 අවධාරණය කරන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න.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තවද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ක්‍රියාපිළීවෙතෙහි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අනුපිළීවෙළ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ිස්තර කරන්න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එනම් සෙවීමේදී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ලක් වු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ින්දිතයින් රැඳී සිටින ප්‍රදේශ හඳුන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ාගන්න. එම 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්‍රදේශ හරහා විශාල කණ්ඩායම් වශයෙන් සැලසුම්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සහගතව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අනුපිළිවෙලකින් ගමන් කළ යුතුය-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ඔබගේ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මුදවා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ගැනීමේ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උපකරණ ලබා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ගන්න 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තුවාලකරුවන්ට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්‍රතිකාර කිරීම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වින්දිතයන්ගේ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තත්වය අනුව (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ැකේජය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ව) අන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ුපිළිවෙලින් ඉවත් කරන්න 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අතර ස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ිරවී සිටින අයව අවසන්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අදියර වන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තුරු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තබාගන්න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අවසානයේ එම සිරවී සිටින වින්දිතයන් මුදා හැරීම සඳහා සුන්බුන්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ඉවත් කිරිමට හ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බිද හෙලිමට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කටයුතු 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කරන්න - වින්දිතයින්ට ප්‍රතිකාර කිරීම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ආරක්ෂිත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ස්ථා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නයන් වෙත ගෙන යාම සහ ඔවුන් එම ස්ථානයෙන්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ඉවත් කිරීම අනුපිළිවෙලි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අනුපිළිවෙ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ලින් සිදුකරන ක්‍රියාවලිය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අවසන් වූ පසු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ඇති ප්‍රදේශ කෙරෙහි වැඩි සැලකිල්ලක් සහ අවධානයක්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යොමුකර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ප්‍රදේශවල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නැවත නැවතත් 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ඉතා ආරක්ෂාකාර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 ලෙස 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සුන්බුන් ඉවත් කිරිම කළ යුතු බව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පැහ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ැදිලි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පළමු ප්‍රතිචාර දක්වන්නන්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විමර්ශනය සි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දු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කිරිමේදි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ර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ැස් කරන ලද තොරතුරු මත පදනම්ව ක්‍රියාකාරී සැලැස්මක් සකස් කර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ගත යුතු බව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අවධාරණය කරන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්න -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ආපදාවකට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්‍රතිචාර දක්වන්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නන්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සියල්ලම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එකම සැලැස්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මක්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අනුගමනය කරන පරිදි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සැලැස්ම සෑම දෙනා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අතර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ෙදා ගත යුතුය.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අවසාන වශයෙන්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අදියර තුනේදීම රැස් කරගත් තොරතුරු අදාළ බලධාරීන් වෙත ලබා දීමේ වැදගත්කම සහ ඒ සඳහා යාන්ත්‍රණයක් තිබීමේ අවශ්‍යතාව පැහැදිලි කරන්න. මෙම තොරතුරු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්වය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පිළිබඳ තක්සේරුවක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කිරිම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අවශ්‍යතාවය අනුව අවශ්‍ය සම්පත්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 ගැනිම සඳහ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බලධාරීන්ගෙන් ඉල්ලීමක්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සිදුකිරි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මද යන කරුණ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ඇත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ුළත් විය යුතුය.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29516" marR="295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2210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29516" marR="295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29516" marR="2951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812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72141" y="700246"/>
            <a:ext cx="3374573" cy="5555570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893504"/>
            <a:ext cx="4371278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පළම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ු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 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1114" y="2186130"/>
            <a:ext cx="1111431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 </a:t>
            </a:r>
            <a:endParaRPr lang="en-US" sz="2400" dirty="0"/>
          </a:p>
          <a:p>
            <a:pPr algn="just"/>
            <a:r>
              <a:rPr lang="si-LK" sz="2400" dirty="0"/>
              <a:t>ඉදිරිපත් කිරීමේ මාතෘකා</a:t>
            </a:r>
            <a:r>
              <a:rPr lang="si-LK" sz="2400" dirty="0" smtClean="0"/>
              <a:t>ව</a:t>
            </a:r>
            <a:r>
              <a:rPr lang="en-US" sz="2400" dirty="0" smtClean="0"/>
              <a:t>	</a:t>
            </a:r>
            <a:r>
              <a:rPr lang="si-LK" sz="2400" dirty="0" smtClean="0"/>
              <a:t>: </a:t>
            </a:r>
            <a:r>
              <a:rPr lang="si-LK" sz="2400" dirty="0"/>
              <a:t>ගලවා ගැනීමේ මෙහෙයුම් පිළිබඳ දළ විශ්ලේෂණය.</a:t>
            </a:r>
            <a:endParaRPr lang="en-US" sz="2400" dirty="0"/>
          </a:p>
          <a:p>
            <a:pPr algn="just"/>
            <a:r>
              <a:rPr lang="si-LK" sz="2400" dirty="0"/>
              <a:t>මොඩියු</a:t>
            </a:r>
            <a:r>
              <a:rPr lang="si-LK" sz="2400" dirty="0" smtClean="0"/>
              <a:t>ලය</a:t>
            </a:r>
            <a:r>
              <a:rPr lang="en-US" sz="2400" dirty="0" smtClean="0"/>
              <a:t>	</a:t>
            </a:r>
            <a:r>
              <a:rPr lang="en-US" sz="2400" dirty="0"/>
              <a:t>	</a:t>
            </a:r>
            <a:r>
              <a:rPr lang="en-US" sz="2400" dirty="0" smtClean="0"/>
              <a:t>	</a:t>
            </a:r>
            <a:r>
              <a:rPr lang="si-LK" sz="2400" dirty="0" smtClean="0"/>
              <a:t>: </a:t>
            </a:r>
            <a:r>
              <a:rPr lang="en-US" sz="2400" dirty="0"/>
              <a:t>2.2</a:t>
            </a:r>
          </a:p>
          <a:p>
            <a:pPr algn="just"/>
            <a:r>
              <a:rPr lang="si-LK" sz="2400" dirty="0"/>
              <a:t>ඉදිරිපත් කරන්නා / උපදේශක: ඉදිරිපත් කරන්නන්ගේ නම මෙහි එක් කරන්න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64028" y="5152274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1299" y="54307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</p:spTree>
    <p:extLst>
      <p:ext uri="{BB962C8B-B14F-4D97-AF65-F5344CB8AC3E}">
        <p14:creationId xmlns:p14="http://schemas.microsoft.com/office/powerpoint/2010/main" val="262836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242023" y="104589"/>
            <a:ext cx="3245784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</a:t>
            </a: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ර දක්වන්නා 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Coordination Saves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705" y="1938794"/>
            <a:ext cx="579197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ගලවා ගැනීමේ මෙහෙයුම් </a:t>
            </a:r>
            <a:endParaRPr lang="en-US" sz="44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si-LK" sz="4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ිළිබඳ දළ විශ්ලේෂණය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7493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9857" y="1283897"/>
            <a:ext cx="10080172" cy="4373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ගලවා ගැනීමේ මෙහෙයුම් පිළිබඳ දළ විශ්ලේෂණය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ඉග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ෙ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නිමේ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ප්‍රතිඵල</a:t>
            </a:r>
          </a:p>
          <a:p>
            <a:pPr>
              <a:lnSpc>
                <a:spcPct val="107000"/>
              </a:lnSpc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71450" indent="-1714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ජ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ීවිත බේරා ගැනීම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දේපළ හානි අවම කිරීම සහ පීඩාවට පත් ප්‍රජාව යථා තත්ත්වයට පත් කිරීම සඳහා අවශ්‍ය ප්‍රධාන කාර්යයන්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අවබෝධ කර ගැනිම සහ අවශ්‍ය තත්වයන් තක්සේරු කිරිම හා අවබ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ෝධ කර ගැනී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71450" indent="-17145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ව්‍යා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සනයක් හෝ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ිදුවීමක් අතරතුර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ව්‍යුක්ත අවධ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ීන් ඇති බවත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්, ඒව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 අනුපිළිවෙලින්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ඉටු කළ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යුතු බවත් තේරුම්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ගැනිම.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86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0486" y="1141007"/>
            <a:ext cx="10189028" cy="483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ගලවා ගැනීමේ මෙහෙයු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ම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පිළිබඳ දළ විශ්ලේෂණය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algn="just"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අරමුණු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</a:p>
          <a:p>
            <a:pPr algn="just">
              <a:lnSpc>
                <a:spcPct val="107000"/>
              </a:lnSpc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ජ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ීවි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තය ආරක්ෂා කිරිම.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පීඩාවට පත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්වීම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 විපත්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සිදුවීම අඩ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කිරිම.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ේපල වලට සිදුවන හාන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ිය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හා විනාශයන් අවම කිරීම සහ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මැඩපැවැත්වීම.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තත්වය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ස්ථාවර කිරීමට උදව්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කිරීම.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්‍රජා ප්‍රතිසාධනය සඳහා සූදානම්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වීම.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510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0742" y="740229"/>
            <a:ext cx="11593286" cy="114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32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ජිවිත රැක ගැන</a:t>
            </a:r>
            <a:r>
              <a:rPr lang="si-LK" sz="32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ීමේ </a:t>
            </a:r>
            <a:r>
              <a:rPr lang="si-LK" sz="32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්‍රධාන සාධකයක් වන්නේ විපතේ සිට ගලවා ගැන</a:t>
            </a:r>
            <a:r>
              <a:rPr lang="si-LK" sz="32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ී</a:t>
            </a: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r>
              <a:rPr lang="si-LK" sz="32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32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දක්වා වු </a:t>
            </a:r>
            <a:r>
              <a:rPr lang="si-LK" sz="3200" b="1" dirty="0">
                <a:latin typeface="Calibri" panose="020F0502020204030204" pitchFamily="34" charset="0"/>
                <a:ea typeface="Calibri" panose="020F0502020204030204" pitchFamily="34" charset="0"/>
              </a:rPr>
              <a:t>කාලයයි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graphicFrame>
        <p:nvGraphicFramePr>
          <p:cNvPr id="9" name="Char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17656"/>
              </p:ext>
            </p:extLst>
          </p:nvPr>
        </p:nvGraphicFramePr>
        <p:xfrm>
          <a:off x="-1" y="1550216"/>
          <a:ext cx="11146971" cy="4601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7359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68333"/>
              </p:ext>
            </p:extLst>
          </p:nvPr>
        </p:nvGraphicFramePr>
        <p:xfrm>
          <a:off x="551443" y="1716383"/>
          <a:ext cx="11183356" cy="4047600"/>
        </p:xfrm>
        <a:graphic>
          <a:graphicData uri="http://schemas.openxmlformats.org/drawingml/2006/table">
            <a:tbl>
              <a:tblPr firstRow="1" firstCol="1" bandRow="1"/>
              <a:tblGrid>
                <a:gridCol w="3726988"/>
                <a:gridCol w="3728184"/>
                <a:gridCol w="3728184"/>
              </a:tblGrid>
              <a:tr h="2553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සෙවීම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</a:t>
                      </a:r>
                      <a:r>
                        <a:rPr lang="si-LK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ගැනිම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59317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dirty="0">
                          <a:solidFill>
                            <a:srgbClr val="FF0000"/>
                          </a:solidFill>
                        </a:rPr>
                        <a:t>අරමුණ</a:t>
                      </a:r>
                      <a:r>
                        <a:rPr lang="si-LK" dirty="0"/>
                        <a:t>: අදාළ ප්‍රදේ</a:t>
                      </a:r>
                      <a:r>
                        <a:rPr lang="si-LK" dirty="0" smtClean="0"/>
                        <a:t>ශය පිළිබද </a:t>
                      </a:r>
                      <a:r>
                        <a:rPr lang="si-LK" dirty="0" smtClean="0"/>
                        <a:t>තොරතුරු</a:t>
                      </a:r>
                      <a:r>
                        <a:rPr lang="si-LK" baseline="0" dirty="0" smtClean="0"/>
                        <a:t> </a:t>
                      </a:r>
                      <a:r>
                        <a:rPr lang="si-LK" dirty="0" smtClean="0"/>
                        <a:t>තක</a:t>
                      </a:r>
                      <a:r>
                        <a:rPr lang="si-LK" dirty="0"/>
                        <a:t>්සේරු කිරීම සඳහා</a:t>
                      </a:r>
                      <a:r>
                        <a:rPr lang="en-US" dirty="0"/>
                        <a:t>, </a:t>
                      </a:r>
                      <a:r>
                        <a:rPr lang="si-LK" dirty="0" smtClean="0"/>
                        <a:t>හානියට පත් පුද්ගලයින් </a:t>
                      </a:r>
                      <a:r>
                        <a:rPr lang="si-LK" dirty="0"/>
                        <a:t>සහ හානියට පත් යටිතල පහසුකම් යන </a:t>
                      </a:r>
                      <a:r>
                        <a:rPr lang="si-LK" dirty="0" smtClean="0"/>
                        <a:t>කරුණු</a:t>
                      </a:r>
                      <a:r>
                        <a:rPr lang="si-LK" baseline="0" dirty="0" smtClean="0"/>
                        <a:t> </a:t>
                      </a:r>
                      <a:r>
                        <a:rPr lang="si-LK" dirty="0" smtClean="0"/>
                        <a:t>ද</a:t>
                      </a:r>
                      <a:r>
                        <a:rPr lang="si-LK" dirty="0"/>
                        <a:t>ෙකම පිළිබඳ තොරතුරු රැස් කරන්න</a:t>
                      </a:r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dirty="0">
                          <a:solidFill>
                            <a:srgbClr val="FF0000"/>
                          </a:solidFill>
                        </a:rPr>
                        <a:t>අරමුණ</a:t>
                      </a:r>
                      <a:r>
                        <a:rPr lang="si-LK" dirty="0"/>
                        <a:t>: </a:t>
                      </a:r>
                      <a:r>
                        <a:rPr lang="si-LK" dirty="0" smtClean="0"/>
                        <a:t>හැකිතාක් ඉක</a:t>
                      </a:r>
                      <a:r>
                        <a:rPr lang="si-LK" dirty="0"/>
                        <a:t>්මනින් </a:t>
                      </a:r>
                      <a:r>
                        <a:rPr lang="si-LK" dirty="0" smtClean="0"/>
                        <a:t>ආපදාවට ලක්වූවන් ස</a:t>
                      </a:r>
                      <a:r>
                        <a:rPr lang="si-LK" dirty="0"/>
                        <a:t>ොයා </a:t>
                      </a:r>
                      <a:r>
                        <a:rPr lang="si-LK" dirty="0" smtClean="0"/>
                        <a:t>ගන්න. ක</a:t>
                      </a:r>
                      <a:r>
                        <a:rPr lang="si-LK" dirty="0"/>
                        <a:t>්ෂණි</a:t>
                      </a:r>
                      <a:r>
                        <a:rPr lang="si-LK" dirty="0" smtClean="0"/>
                        <a:t>කව</a:t>
                      </a:r>
                      <a:r>
                        <a:rPr lang="si-LK" baseline="0" dirty="0" smtClean="0"/>
                        <a:t> </a:t>
                      </a:r>
                      <a:r>
                        <a:rPr lang="si-LK" dirty="0" smtClean="0"/>
                        <a:t>අනත</a:t>
                      </a:r>
                      <a:r>
                        <a:rPr lang="si-LK" dirty="0"/>
                        <a:t>ු</a:t>
                      </a:r>
                      <a:r>
                        <a:rPr lang="si-LK" dirty="0" smtClean="0"/>
                        <a:t>රට</a:t>
                      </a:r>
                      <a:r>
                        <a:rPr lang="si-LK" baseline="0" dirty="0" smtClean="0"/>
                        <a:t> පත් පුද්ගලයින්</a:t>
                      </a:r>
                      <a:r>
                        <a:rPr lang="si-LK" dirty="0" smtClean="0"/>
                        <a:t> </a:t>
                      </a:r>
                      <a:r>
                        <a:rPr lang="si-LK" dirty="0"/>
                        <a:t>ඉවත් </a:t>
                      </a:r>
                      <a:r>
                        <a:rPr lang="si-LK" dirty="0" smtClean="0"/>
                        <a:t>කිරිමට හ</a:t>
                      </a:r>
                      <a:r>
                        <a:rPr lang="si-LK" dirty="0"/>
                        <a:t>ැක</a:t>
                      </a:r>
                      <a:r>
                        <a:rPr lang="si-LK" dirty="0" smtClean="0"/>
                        <a:t>ියාව ඇති</a:t>
                      </a:r>
                      <a:r>
                        <a:rPr lang="si-LK" baseline="0" dirty="0" smtClean="0"/>
                        <a:t> නම් ඔවුන්</a:t>
                      </a:r>
                      <a:r>
                        <a:rPr lang="si-LK" dirty="0" smtClean="0"/>
                        <a:t> </a:t>
                      </a:r>
                      <a:r>
                        <a:rPr lang="si-LK" dirty="0"/>
                        <a:t>ඉවත් </a:t>
                      </a:r>
                      <a:r>
                        <a:rPr lang="si-LK" dirty="0" smtClean="0"/>
                        <a:t>කරන්න.</a:t>
                      </a:r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dirty="0">
                          <a:solidFill>
                            <a:srgbClr val="FF0000"/>
                          </a:solidFill>
                        </a:rPr>
                        <a:t>අරමුණ</a:t>
                      </a:r>
                      <a:r>
                        <a:rPr lang="si-LK" dirty="0"/>
                        <a:t>: ඉතිරි </a:t>
                      </a:r>
                      <a:r>
                        <a:rPr lang="si-LK" dirty="0" smtClean="0"/>
                        <a:t>වු ව</a:t>
                      </a:r>
                      <a:r>
                        <a:rPr lang="si-LK" dirty="0"/>
                        <a:t>ින්දිතයින්ට ප්‍රතිකාර කිරීම</a:t>
                      </a:r>
                      <a:r>
                        <a:rPr lang="en-US" dirty="0"/>
                        <a:t>, </a:t>
                      </a:r>
                      <a:r>
                        <a:rPr lang="si-LK" dirty="0"/>
                        <a:t>ඔවුන් බේරා ගැනීම</a:t>
                      </a:r>
                      <a:r>
                        <a:rPr lang="en-US" dirty="0"/>
                        <a:t>, </a:t>
                      </a:r>
                      <a:r>
                        <a:rPr lang="si-LK" dirty="0"/>
                        <a:t>ඔවුන් වෛද්‍ය ප්‍රතිකාර </a:t>
                      </a:r>
                      <a:r>
                        <a:rPr lang="si-LK" dirty="0" smtClean="0"/>
                        <a:t>සදහා රෝහල් ව</a:t>
                      </a:r>
                      <a:r>
                        <a:rPr lang="si-LK" dirty="0"/>
                        <a:t>ෙත </a:t>
                      </a:r>
                      <a:r>
                        <a:rPr lang="si-LK" dirty="0" smtClean="0"/>
                        <a:t>රැගෙන ය</a:t>
                      </a:r>
                      <a:r>
                        <a:rPr lang="si-LK" dirty="0"/>
                        <a:t>ා</a:t>
                      </a:r>
                      <a:r>
                        <a:rPr lang="si-LK" dirty="0" smtClean="0"/>
                        <a:t>ම.</a:t>
                      </a:r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12829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</a:t>
                      </a: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</a:t>
                      </a:r>
                      <a:r>
                        <a:rPr lang="si-LK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ආපදාවට</a:t>
                      </a:r>
                      <a:r>
                        <a:rPr lang="si-LK" sz="20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ලක් වු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්‍රදේශය හරහා ඉක්මනින් ගමන් කරන්න</a:t>
                      </a: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දත්තයන් සටහන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කරගන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්න</a:t>
                      </a: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 ගන්න</a:t>
                      </a: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සිතියම් අඳින්න</a:t>
                      </a: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හානියට ලක්</a:t>
                      </a:r>
                      <a:r>
                        <a:rPr lang="si-LK" sz="20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වු පුද්ගලයින්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උපද්‍රව ඇති ප්‍රදේශ සලකුණු කරන්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න.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</a:t>
                      </a: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</a:t>
                      </a:r>
                      <a:r>
                        <a:rPr lang="si-LK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චලනය වන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හෝ</a:t>
                      </a:r>
                      <a:r>
                        <a:rPr lang="si-LK" sz="20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ගමන්කරන තුවාල කරුවන්නන්ට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ාය වීම</a:t>
                      </a: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පහසුවෙන්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ස්ථානයට ප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්‍රවේශ විය හැකි ප්‍රදේ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 තුළ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සිදු කිරිම</a:t>
                      </a:r>
                      <a:r>
                        <a:rPr lang="en-US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ප්‍රදේශයේ පාලනය ලබා ගැනී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ම.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</a:t>
                      </a: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</a:t>
                      </a:r>
                      <a:r>
                        <a:rPr lang="si-LK" sz="20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ප්‍රථමාධාර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ලබාදීම</a:t>
                      </a:r>
                      <a:r>
                        <a:rPr lang="en-US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තුවාලකරුවන්</a:t>
                      </a:r>
                      <a:r>
                        <a:rPr lang="si-LK" sz="20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ෙනයාම</a:t>
                      </a:r>
                      <a:r>
                        <a:rPr lang="en-US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තුවාලකරුවන්</a:t>
                      </a:r>
                      <a:r>
                        <a:rPr lang="si-LK" sz="20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සිටින ස්ථානයට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20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්‍රවේශ වීමට සුන්බුන් </a:t>
                      </a:r>
                      <a:r>
                        <a:rPr lang="si-LK" sz="20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ඉවත්</a:t>
                      </a:r>
                      <a:r>
                        <a:rPr lang="si-LK" sz="20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කිරිම.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51443" y="803540"/>
            <a:ext cx="8063426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ගලවා ගැනීමේ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මෙහෙය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ු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මේ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අන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ුපිළිවෙල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54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3142" y="1208550"/>
            <a:ext cx="11440886" cy="4735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ගලවා ගැනීමේ මෙහෙය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ුමේ අන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ුපිළිවෙල: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අනුපිළිවෙ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ලට සියලු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කාර්යන් සිදුකරන්න. - විමර්ශනය කිරිම -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සෙවීම -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ගැනීම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වේගය ඉතා වැදගත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වන අතර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එය වඩ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ාත්ම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ැදගත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වේ.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සැලැස්මක් සා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දාගන්න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- සැලැස්ම බෙදාගන්න - සැලැස්මට අනුව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කටයුතු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ස්ථානයට ඇතුළුවීම 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ාලනය කරන්න සහ අනතුරු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ඇති ස්ථාන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සලක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ුණු කරන්න -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සිදුවීම නරක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අතට හැරීම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වළක්වන්න.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28575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අනුපිළිවෙ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ලට සිදුකරන කාර්යයන් 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සම්පූර්ණ වූ පසු -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එම කාර්යයන්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නැවත නැවතත්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සෙමෙන් හ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 වඩාත් විස්තරාත්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මකව සිදුකරන්න.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5722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32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8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</a:t>
            </a:r>
            <a:r>
              <a:rPr lang="si-LK" dirty="0" smtClean="0"/>
              <a:t>ු </a:t>
            </a:r>
            <a:r>
              <a:rPr lang="si-LK" dirty="0" smtClean="0"/>
              <a:t>ප්‍රතිචාර පුහුණු වැඩසටහන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මොඩියුලර්	</a:t>
            </a:r>
            <a:r>
              <a:rPr lang="si-LK" dirty="0" smtClean="0"/>
              <a:t>2:ආපද</a:t>
            </a:r>
            <a:r>
              <a:rPr lang="si-LK" dirty="0"/>
              <a:t>ා පරි</a:t>
            </a:r>
            <a:r>
              <a:rPr lang="si-LK" dirty="0" smtClean="0"/>
              <a:t>සරය</a:t>
            </a:r>
          </a:p>
          <a:p>
            <a:endParaRPr lang="si-LK" dirty="0"/>
          </a:p>
          <a:p>
            <a:r>
              <a:rPr lang="si-LK" dirty="0" smtClean="0"/>
              <a:t>සැසිය 	2.3- පාඩම් සැලැස්ම</a:t>
            </a:r>
          </a:p>
          <a:p>
            <a:r>
              <a:rPr lang="si-LK" dirty="0" smtClean="0"/>
              <a:t>විමර්ශනය කිරිම සහ </a:t>
            </a:r>
            <a:r>
              <a:rPr lang="si-LK" dirty="0"/>
              <a:t>සමීක්ෂණය</a:t>
            </a:r>
            <a:endParaRPr lang="en-US" dirty="0"/>
          </a:p>
          <a:p>
            <a:endParaRPr lang="si-LK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40364" y="4607954"/>
            <a:ext cx="468085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පළමුව ප්‍රතිචාර දැක්වීම් පුහුණු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 කණ්ඩායම මගින් සංවර්ධනය කරනු ලැබු අතර එමගින් විවිධ රටවලට ආපදාවකදි උදව් කිරිම සහ ප්‍රතිචාර දැක්වීමේ සංවිධාන වල ජිවිත ගලවා ගැනිමේ හැකියාවන් වැඩි දියුණු කිරිම සහ ජිවිත බේරාගැනිම මෙහි අරමුණයි.</a:t>
            </a:r>
          </a:p>
        </p:txBody>
      </p:sp>
    </p:spTree>
    <p:extLst>
      <p:ext uri="{BB962C8B-B14F-4D97-AF65-F5344CB8AC3E}">
        <p14:creationId xmlns:p14="http://schemas.microsoft.com/office/powerpoint/2010/main" val="260050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093385"/>
              </p:ext>
            </p:extLst>
          </p:nvPr>
        </p:nvGraphicFramePr>
        <p:xfrm>
          <a:off x="307975" y="209691"/>
          <a:ext cx="11720739" cy="1939418"/>
        </p:xfrm>
        <a:graphic>
          <a:graphicData uri="http://schemas.openxmlformats.org/drawingml/2006/table">
            <a:tbl>
              <a:tblPr firstRow="1" firstCol="1" bandRow="1"/>
              <a:tblGrid>
                <a:gridCol w="2460908"/>
                <a:gridCol w="5403410"/>
                <a:gridCol w="3856421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ඉලක්කය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Aims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Objective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ඉගෙනිමේ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ප්‍රතිඵල (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Learning Outcomes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ග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ැනීමේ මෙහෙයු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මක්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අතරත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ුර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විවිධ 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ොරතුරු අවශ්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‍ය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 සහභාගිවන්නන්ට අවබෝධ කර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වීම සහ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එවැනි තොරතුරු රැස්කර ඉදිරිපත් කරන ආකාරය පෙන්වී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ග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ැනීමේ මෙහෙයුම් වලදී පැහැදිලි සහ නිශ්චිත තොරතුරු අවශ්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‍ය බව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තේරුම්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බලපෑමට ලක් වූ ප්‍රදේ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කලාප වලට බෙදා ගැනිමේ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අවශ්‍යතාවය පිළිබඳව දැනුවත්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වු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්ථානයේ තොරතුරු රැස් කිරීමේ විවිධ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ක්‍රම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ිළිබඳව දැනුවත්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වු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්ථානයේ රැස් කරන ලද තොරතුරු ඉදිරිපත් කිරීමේ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ක්‍රමවේදය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ිළිබඳව දැනුවත්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නන්ට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පහත දැනුම ලබා ගැනිමට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හැකි වනු ඇත: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ග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ැනීමේ මෙහෙයුම් අතරතුර තොරතුරු අවශ්‍යතා පිළිබඳ අවබෝධයක්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ගැනිමට හැකිවීම.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කලාප වලට බෙදා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වෙන් කර ගැනිම පිළිබදව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ැනුවත්භාවය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 ගැනිමට හැකිවීම.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ප්‍රය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ෝජනවත් තොරතුරු වර්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 කර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ලැයිස්තුගත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ොරතුරු රැස්කිරීමේ සහ තොරතුරු ඉදිරිපත් කිරීමේ ක්‍රම පිළිබඳව දැනුවත්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995836"/>
              </p:ext>
            </p:extLst>
          </p:nvPr>
        </p:nvGraphicFramePr>
        <p:xfrm>
          <a:off x="239580" y="2296619"/>
          <a:ext cx="11702143" cy="3951359"/>
        </p:xfrm>
        <a:graphic>
          <a:graphicData uri="http://schemas.openxmlformats.org/drawingml/2006/table">
            <a:tbl>
              <a:tblPr firstRow="1" firstCol="1" bandRow="1"/>
              <a:tblGrid>
                <a:gridCol w="937183"/>
                <a:gridCol w="1522988"/>
                <a:gridCol w="6945085"/>
                <a:gridCol w="2296887"/>
              </a:tblGrid>
              <a:tr h="876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ලය (</a:t>
                      </a:r>
                      <a:r>
                        <a:rPr lang="en-US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Time)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r>
                        <a:rPr lang="en-US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(Content)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ක්‍රියාකාරකම්</a:t>
                      </a:r>
                      <a:r>
                        <a:rPr lang="si-LK" sz="12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</a:t>
                      </a:r>
                      <a:r>
                        <a:rPr lang="en-US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Activity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සම්පත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(</a:t>
                      </a:r>
                      <a:r>
                        <a:rPr lang="en-US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Resources</a:t>
                      </a:r>
                      <a:r>
                        <a:rPr lang="si-LK" sz="12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78899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10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 අවශ්‍යතාවය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ැනීමේ මෙහෙයුම් වලදී අවශ්‍ය තොරතුරු වර්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ත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ොරතුරු අවශ්‍ය වන්නේ කාටද සහ ඇයිද යන්න පිළිබඳ දළ විශ්ලේෂණයක්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සිදුකරන්න. මෙම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තොරතුරු මගින් මෙහෙයුමට අවශ්‍ය මාර්ගෝපදේශනය ලබා දෙන්නේ කෙසේදැයි විස්තර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PPT</a:t>
                      </a:r>
                      <a:r>
                        <a:rPr lang="en-US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ිරිපත් කිරීම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මරය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පහසුකම්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 ක්‍රිය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ාකාරීත්වය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9404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ආපදාවට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ලක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වූ ප්‍රදේශය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වර්ගීකරණය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: ආපදාවට ලක් වූ ප්‍රදේශයක් </a:t>
                      </a:r>
                      <a:r>
                        <a:rPr lang="si-LK" sz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කලාප</a:t>
                      </a:r>
                      <a:r>
                        <a:rPr lang="si-LK" sz="1200" baseline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 ලෙස </a:t>
                      </a:r>
                      <a:r>
                        <a:rPr lang="si-LK" sz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බ</a:t>
                      </a:r>
                      <a:r>
                        <a:rPr lang="si-LK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ෙදිය යුත්තේ ඇය</a:t>
                      </a:r>
                      <a:r>
                        <a:rPr lang="si-LK" sz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ි? </a:t>
                      </a:r>
                      <a:r>
                        <a:rPr lang="si-LK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සහ කෙසේද යන්න </a:t>
                      </a:r>
                      <a:r>
                        <a:rPr lang="si-LK" sz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විස්තර </a:t>
                      </a:r>
                      <a:r>
                        <a:rPr lang="si-LK" sz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නගරයක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සිතියමක් පෙන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්වීම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සහ 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නගරය බෙදා ඇති ආකාරය ප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ෙන්වන්න.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්තිකාමර සහ පහසුකම්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සහ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 ක්‍රිය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ාකාරකම්.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050280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25 </a:t>
                      </a:r>
                      <a:r>
                        <a:rPr lang="si-LK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 රැස් කිරීම සහ ඉදිරිපත් කිරීම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තොරතුරු රැස් කිරීමේ ක්‍රම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(විමර්ශනය කිරිම)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නිරීක්ෂණ මගින් රැස් කළ හැකි තොරතුරු සහ සම්මුඛ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සාකච්ඡා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මගින්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ගත හැකි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ිළිබඳ දළ විශ්ලේෂණයක් සපයන්න. භූගෝ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ලීය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සහ භූ විෂමතාවය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මත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පදනම් වූ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තත්වය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ිළිබඳ දැන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ුම වර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්ධනය කිරීමේ වැදගත්කම පිළිබඳව දැනුවත් කිරීමක්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කිරිම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සහ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සිතියම්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සැලසුම්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 සහ චිත්‍ර මගින්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ආපදා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්වය ප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ිළිබඳ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අවබෝධයක්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ලබා ගත හැකි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ාරය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දැනුවත්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PPT</a:t>
                      </a:r>
                      <a:r>
                        <a:rPr lang="en-US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ිරිපත් කිරීම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පන්තිකාමර සහ පහසුකම්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උදාහරණ ලෙස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කිරිමේදි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උපයෝගී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කරගන්නා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ිතියම්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සැලසුම්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 සහ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සැලසුම්)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29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 සහ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 ක්‍රිය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ාකාරකම්.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75332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 කිරීම සහ ප්‍රශ්න ඇසිම.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පුහුණු ස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ැසියේ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ප්‍රධාන</a:t>
                      </a:r>
                      <a:r>
                        <a:rPr lang="si-LK" sz="12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සාරාංශ 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5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  <a:endParaRPr lang="en-US" sz="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සහභාගිවන්නා: ඉගෙ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නගත්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කරුණු පැහැදිලි කිරීමට ප්‍රශ්න අසමින් අවශ්‍ය පරිදි සවන් දී අන්තර් ක්‍රිය</a:t>
                      </a:r>
                      <a:r>
                        <a:rPr lang="si-LK" sz="12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ාකාරකම් සිදු </a:t>
                      </a:r>
                      <a:r>
                        <a:rPr lang="si-LK" sz="1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කරන්න.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6869" marR="3686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39580" y="6554795"/>
            <a:ext cx="920445" cy="2802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1200" dirty="0">
                <a:latin typeface="Calibri" panose="020F0502020204030204" pitchFamily="34" charset="0"/>
                <a:ea typeface="Calibri" panose="020F0502020204030204" pitchFamily="34" charset="0"/>
              </a:rPr>
              <a:t>විනාඩි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30 </a:t>
            </a:r>
            <a:r>
              <a:rPr lang="si-LK" sz="1200" dirty="0">
                <a:latin typeface="Calibri" panose="020F0502020204030204" pitchFamily="34" charset="0"/>
                <a:ea typeface="Calibri" panose="020F0502020204030204" pitchFamily="34" charset="0"/>
              </a:rPr>
              <a:t>යි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06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5291"/>
              </p:ext>
            </p:extLst>
          </p:nvPr>
        </p:nvGraphicFramePr>
        <p:xfrm>
          <a:off x="362403" y="390067"/>
          <a:ext cx="11089368" cy="6238367"/>
        </p:xfrm>
        <a:graphic>
          <a:graphicData uri="http://schemas.openxmlformats.org/drawingml/2006/table">
            <a:tbl>
              <a:tblPr firstRow="1" firstCol="1" bandRow="1"/>
              <a:tblGrid>
                <a:gridCol w="5544684"/>
                <a:gridCol w="5544684"/>
              </a:tblGrid>
              <a:tr h="206061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600" b="1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සටහන (</a:t>
                      </a:r>
                      <a:r>
                        <a:rPr lang="en-US" sz="1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Instructor Note</a:t>
                      </a:r>
                      <a:r>
                        <a:rPr lang="si-LK" sz="1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r>
                        <a:rPr lang="en-US" sz="16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151529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්‍රමවේදය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si-LK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කල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ාප වලට වෙන්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කිරිම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පහත සදහන් කරුණුවල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වැදගත්කම උපදේශකවරයා විසින් අවධාරණය කිරීම අත්‍යවශ්‍ය වේ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අ) තොරතුරු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එය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වැදගත් වන්නේ ඇය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ි?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එය පළමු ප්‍රතිචාර දක්වන්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නා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සිදුකරන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අනාගත ක්‍රිය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ාවන්ට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සියලු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ගැනීමේ ක්‍රියාවන්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කිරිමට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අවස්ථාව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ලබා දේ.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අතින් අඳින ලද සිතියම්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මුදවාගන්නන්ට  ආපදා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්වය ප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ිළිබඳ දැනුවත් කිරීමක් ලබා දෙයි - සිදුවන්නේ කුමක්ද යන්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පිළීබද අවබෝධයක් ලබාගත හැක.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ඇ) ගොඩනැගිලි සැලසුම් -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ගොඩනැගිලි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තුළ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ිරවී සිටින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පුද්ගලයින් ගලවා ගැනිම් සැලසුම් ක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ිරීමට උපකාර විය හැකි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ොරතුර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ඈ</a:t>
                      </a:r>
                      <a:r>
                        <a:rPr lang="en-US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 -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මගින්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ිස්තර කිරී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ඉත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ඵලදායී ක්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‍රමවේ.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- "පින්තූරයක්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 වචන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දහසක්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පවසයි"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එක්රැස් කරන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ලද තොරතුරු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සටහන්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ිරීමේ වැදගත්කම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එය කාල රේඛාවලට අදා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ළව සිදු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කිරීම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 ඉදිරිපත් කළ යුතු ආකාරය සහ අනාගත මෙහෙයුම් සඳහා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තොරතුරු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භාවිතා කරන ආකාරය තීරණය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බලපෑමට ලක් වූ ප්‍රදේශය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කලාප හ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කොටස්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ෙදා ඒවා හඳුනා ගැනීම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ැදගත් වන්නේ මන්දැයි උපදේශකවරය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විසින් 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පැහැදිලි කළ යුතුය.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ගැටළු එක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ින් එක විසඳීමට පහසු වන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පරිදි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ග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ැටළු කුඩා ගැටළු වලට බ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ෙදා එමග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ින් සහභ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ාගීවන්නන්ට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අවබෝධයක්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ලබා දි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සදහ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ේශීය උදාහරණ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යොදගෙන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අවබෝධයක්</a:t>
                      </a:r>
                      <a:r>
                        <a:rPr lang="si-LK" sz="16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</a:t>
                      </a:r>
                      <a:r>
                        <a:rPr lang="si-LK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 දීමට උත්සාහ </a:t>
                      </a:r>
                      <a:r>
                        <a:rPr lang="si-LK" sz="16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304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72141" y="700246"/>
            <a:ext cx="3374573" cy="5555570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893504"/>
            <a:ext cx="4371278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පළම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ු 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 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75" y="5606473"/>
            <a:ext cx="2578832" cy="4999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06322" y="2332907"/>
            <a:ext cx="9712049" cy="12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කිරීමේ මාතෘකා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විමර්ශනය කිරිම සහ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සමීක්ෂණය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මොඩියු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ලය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	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2.3</a:t>
            </a:r>
          </a:p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කරන්නා / උපදේ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ශක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කරන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්නාග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ේ නම මෙහි 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ඇතුළත් කරන්න.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01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668899" y="372126"/>
            <a:ext cx="26522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ප්‍රතිචාරකයා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Coordination Saves Lives</a:t>
            </a:r>
          </a:p>
        </p:txBody>
      </p:sp>
      <p:sp>
        <p:nvSpPr>
          <p:cNvPr id="2" name="Rectangle 1"/>
          <p:cNvSpPr/>
          <p:nvPr/>
        </p:nvSpPr>
        <p:spPr>
          <a:xfrm>
            <a:off x="837982" y="2005670"/>
            <a:ext cx="4969630" cy="2023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si-LK" sz="6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</a:t>
            </a:r>
            <a:endParaRPr lang="en-US" sz="6000" b="1" dirty="0" smtClean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</a:pPr>
            <a:r>
              <a:rPr lang="si-LK" sz="6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සහ </a:t>
            </a:r>
            <a:r>
              <a:rPr lang="si-LK" sz="6000" b="1" dirty="0">
                <a:latin typeface="Calibri" panose="020F0502020204030204" pitchFamily="34" charset="0"/>
                <a:ea typeface="Calibri" panose="020F0502020204030204" pitchFamily="34" charset="0"/>
              </a:rPr>
              <a:t>සමීක්ෂණය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0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0070" y="1331147"/>
            <a:ext cx="10582730" cy="4011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 සහ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සමීක්ෂණය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ඉගෙන ගැනිමේ ප්‍රතිඵල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ආපදා තත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්වයකද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ී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ආපදාව පිළිබද 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්ෂණික තොරතුරු අවශ්‍යතා තේරුම්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ගැනීම.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ප්‍රයෝ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ජනවත් 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ොරතුරු වර්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 කර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ලැයිස්තුගත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තොරතුරු රැස්කිරී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මේ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 ඉදිරිපත් කිරීමේ ක්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‍රම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වේදය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ිළිබඳ දැනුවත්භාවයක්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ලබා ගැනීම.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854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213" y="1006668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i-LK" sz="4400" b="1" dirty="0" smtClean="0"/>
              <a:t>විමර්ශනය කිරිම සහ </a:t>
            </a:r>
            <a:r>
              <a:rPr lang="si-LK" sz="4400" b="1" dirty="0"/>
              <a:t>සමීක්</a:t>
            </a:r>
            <a:r>
              <a:rPr lang="si-LK" sz="4400" b="1" dirty="0" smtClean="0"/>
              <a:t>ෂණය කිරිම</a:t>
            </a:r>
            <a:endParaRPr lang="en-US" sz="4400" dirty="0"/>
          </a:p>
          <a:p>
            <a:pPr marL="0" indent="0">
              <a:buNone/>
            </a:pPr>
            <a:r>
              <a:rPr lang="si-LK" sz="4400" b="1" dirty="0"/>
              <a:t>අරමුණු</a:t>
            </a:r>
            <a:r>
              <a:rPr lang="si-LK" sz="4400" b="1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lvl="0"/>
            <a:r>
              <a:rPr lang="si-LK" dirty="0" smtClean="0"/>
              <a:t>ආපදාවට ලක්වූවන්ට සිදු වු</a:t>
            </a:r>
            <a:r>
              <a:rPr lang="en-US" dirty="0" smtClean="0"/>
              <a:t>, </a:t>
            </a:r>
            <a:r>
              <a:rPr lang="si-LK" dirty="0"/>
              <a:t>හානි සහ අනතුරු පිළිබඳ තොරතුරු </a:t>
            </a:r>
            <a:r>
              <a:rPr lang="si-LK" dirty="0" smtClean="0"/>
              <a:t>එක් ර</a:t>
            </a:r>
            <a:r>
              <a:rPr lang="si-LK" dirty="0"/>
              <a:t>ැස් කරන්</a:t>
            </a:r>
            <a:r>
              <a:rPr lang="si-LK" dirty="0" smtClean="0"/>
              <a:t>න.</a:t>
            </a:r>
            <a:endParaRPr lang="en-US" dirty="0"/>
          </a:p>
          <a:p>
            <a:pPr lvl="0"/>
            <a:r>
              <a:rPr lang="si-LK" dirty="0"/>
              <a:t>බලපෑමට ලක් වූ </a:t>
            </a:r>
            <a:r>
              <a:rPr lang="si-LK" dirty="0" smtClean="0"/>
              <a:t>ප්‍රදේශය කළමන</a:t>
            </a:r>
            <a:r>
              <a:rPr lang="si-LK" dirty="0"/>
              <a:t>ාකරණය කළ හැකි </a:t>
            </a:r>
            <a:r>
              <a:rPr lang="si-LK" dirty="0" smtClean="0"/>
              <a:t>කලාප වලට බ</a:t>
            </a:r>
            <a:r>
              <a:rPr lang="si-LK" dirty="0"/>
              <a:t>ෙදන්</a:t>
            </a:r>
            <a:r>
              <a:rPr lang="si-LK" dirty="0" smtClean="0"/>
              <a:t>න.</a:t>
            </a:r>
            <a:endParaRPr lang="en-US" dirty="0"/>
          </a:p>
          <a:p>
            <a:pPr lvl="0"/>
            <a:r>
              <a:rPr lang="si-LK" dirty="0" smtClean="0"/>
              <a:t>ආපදාව පිළිබදව ත</a:t>
            </a:r>
            <a:r>
              <a:rPr lang="si-LK" dirty="0"/>
              <a:t>ොරතුරු වාර්තා කිරීම සහ </a:t>
            </a:r>
            <a:r>
              <a:rPr lang="si-LK" dirty="0" smtClean="0"/>
              <a:t>තොරතුර එකත</a:t>
            </a:r>
            <a:r>
              <a:rPr lang="si-LK" dirty="0"/>
              <a:t>ු කිරී</a:t>
            </a:r>
            <a:r>
              <a:rPr lang="si-LK" dirty="0" smtClean="0"/>
              <a:t>ම.</a:t>
            </a:r>
            <a:endParaRPr lang="en-US" dirty="0"/>
          </a:p>
          <a:p>
            <a:pPr lvl="0"/>
            <a:r>
              <a:rPr lang="si-LK" dirty="0" smtClean="0"/>
              <a:t>ක්‍රියාකාරී ස</a:t>
            </a:r>
            <a:r>
              <a:rPr lang="si-LK" dirty="0"/>
              <a:t>ැලැස්මක් සැකසීමට තොරතුරු </a:t>
            </a:r>
            <a:r>
              <a:rPr lang="si-LK" dirty="0" smtClean="0"/>
              <a:t>භාවිතා කරන්න.</a:t>
            </a:r>
            <a:endParaRPr lang="en-US" dirty="0"/>
          </a:p>
          <a:p>
            <a:pPr lvl="0"/>
            <a:r>
              <a:rPr lang="si-LK" dirty="0"/>
              <a:t>බලධාරීන් සමඟ </a:t>
            </a:r>
            <a:r>
              <a:rPr lang="si-LK" dirty="0" smtClean="0"/>
              <a:t>අවශ්‍ය ත</a:t>
            </a:r>
            <a:r>
              <a:rPr lang="si-LK" dirty="0"/>
              <a:t>ොරතුරු බෙදා ගන්</a:t>
            </a:r>
            <a:r>
              <a:rPr lang="si-LK" dirty="0" smtClean="0"/>
              <a:t>න.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47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452138"/>
              </p:ext>
            </p:extLst>
          </p:nvPr>
        </p:nvGraphicFramePr>
        <p:xfrm>
          <a:off x="373286" y="1499785"/>
          <a:ext cx="11405056" cy="4400272"/>
        </p:xfrm>
        <a:graphic>
          <a:graphicData uri="http://schemas.openxmlformats.org/drawingml/2006/table">
            <a:tbl>
              <a:tblPr firstRow="1" firstCol="1" bandRow="1"/>
              <a:tblGrid>
                <a:gridCol w="3800872"/>
                <a:gridCol w="3802092"/>
                <a:gridCol w="3802092"/>
              </a:tblGrid>
              <a:tr h="4400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අනතුරට පත්වූවන් (</a:t>
                      </a:r>
                      <a:r>
                        <a:rPr lang="en-US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Victims</a:t>
                      </a:r>
                      <a:r>
                        <a:rPr lang="si-LK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හානිය (</a:t>
                      </a:r>
                      <a:r>
                        <a:rPr lang="en-US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Damage</a:t>
                      </a:r>
                      <a:r>
                        <a:rPr lang="si-LK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අනතුර (</a:t>
                      </a:r>
                      <a:r>
                        <a:rPr lang="en-US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Hazards</a:t>
                      </a:r>
                      <a:r>
                        <a:rPr lang="si-LK" sz="18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01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තොරතුරු: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කී දෙනෙක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 කොහේ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 කොටු වී / තුවාල වී තිබේ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ප්‍රදේ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ශයට ඇතුළුවීම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කොතරම් පහසු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/ අපහසු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තොරතුරු: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හානිය සිදු වි ඇත්තේ</a:t>
                      </a:r>
                      <a:r>
                        <a:rPr lang="si-LK" sz="18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කුමන දේ</a:t>
                      </a:r>
                      <a:r>
                        <a:rPr lang="si-LK" sz="18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පළකටද?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තත්වය ක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ෙතරම්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නරක අතර හැරි ඇත්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තත්වය ස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්ථාවර හෝ අස්ථ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ාවරද?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මාර්ග සහ පාලම් භාවිතා කළ හැක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උපයෝගිත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ාවයන්ට සිදු ව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 හානිය?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තොරතුරු: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අනතුරුදායක තත්වය ක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ොතනද?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කුමන ප්‍රදේශයක්</a:t>
                      </a:r>
                      <a:r>
                        <a:rPr lang="si-LK" sz="18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ආරක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්ෂි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තද? , ස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ුන්බුන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  <a:r>
                        <a:rPr lang="si-LK" sz="18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කොටස් ආරක්ෂිතද?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ාන්දුවීම් හෝ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ගලායෑම්</a:t>
                      </a:r>
                      <a:r>
                        <a:rPr lang="si-LK" sz="18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ගිනි හෝ දුම්?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010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ක්‍රමය: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නිරීක්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ෂණය කිරිම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සටහන් කිරිම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දිවි ගලවා ගත් අයගෙන්</a:t>
                      </a:r>
                      <a:r>
                        <a:rPr lang="si-LK" sz="18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විස්තර ලබා ගැනිම,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ුන්බුන් හෝ ගොඩනැගිලි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පිළීබද සලක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ක්‍රියාව: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නිරීක්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ෂණය කිරිම,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සවන්දීම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සටහන්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ිරීම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සිතියම් ඇඳීම හෝ සලකුණු කිරීම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වීඩියෝ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 සහ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 ගැනීම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2000" b="1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ක්‍රියාව:</a:t>
                      </a:r>
                      <a:endParaRPr lang="en-US" sz="20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නිරීක්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ෂණය</a:t>
                      </a:r>
                      <a:r>
                        <a:rPr lang="en-US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සටහන්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කිරිම 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සිතියම් ඇඳීම හෝ සලකුණු කිරීම</a:t>
                      </a:r>
                      <a:r>
                        <a:rPr lang="en-US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8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ආරක්ෂිත කලා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 වලට </a:t>
                      </a:r>
                      <a:r>
                        <a:rPr lang="si-LK" sz="1800" b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බෙදා</a:t>
                      </a:r>
                      <a:r>
                        <a:rPr lang="si-LK" sz="1800" b="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වෙන් කිරිම.</a:t>
                      </a:r>
                      <a:endParaRPr lang="en-US" sz="18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74181" y="650910"/>
            <a:ext cx="872424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i-LK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විමර්ශනය කිරිම 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- </a:t>
            </a:r>
            <a:r>
              <a:rPr kumimoji="0" lang="si-LK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තොරතුරු අවශ්‍යතාවය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: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470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5542" y="740229"/>
            <a:ext cx="10689771" cy="5723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තොරතුරු </a:t>
            </a:r>
            <a:r>
              <a:rPr lang="si-LK" sz="4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සටහන් ක</a:t>
            </a:r>
            <a:r>
              <a:rPr lang="si-LK" sz="4400" b="1" dirty="0">
                <a:latin typeface="Calibri" panose="020F0502020204030204" pitchFamily="34" charset="0"/>
                <a:ea typeface="Calibri" panose="020F0502020204030204" pitchFamily="34" charset="0"/>
              </a:rPr>
              <a:t>ිරීම සහ එකතු කිරීම: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තොරතුරු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ලබා ගැනිම මගින්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ගැනීමේ මෙහෙයුම්වල සාර්ථකත්වය වැඩි දියුණු කරයි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කිරිමේදි තොරතුරු සටහන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කරගන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්න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පින්තූර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ගැනිම සහ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වීඩියෝ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කිරිම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සිතියම් සහ සැලසුම්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ඇඳගැනිම.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හැකි ඉක්මනින්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ියලු තොරතුරු කේන්ද්‍රීය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මධ්‍යස්ථානයකට යොමු කර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එම තොරතුරු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එකතු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කරගන්න.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දැඩි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බලපෑමට ලක් ව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ූ ප්‍රදේශ 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ීරණය කිරීම සඳහා රැස් කරගත් තොරතුරු භාවිතා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සියලුම පළමු ප්‍රතිචාර දක්වන්නන් සමඟ තොරතුරු බෙදාගෙන ක්‍රියාකාරී සැලැස්මක් සෑදීමට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භ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ාවිතා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881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0742" y="1568184"/>
            <a:ext cx="11364687" cy="3319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බලපෑමට ලක් වූ ප්‍රදේශය විශාල නම්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එය කුඩා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වඩාත් කළමනාකරණය කළ හැකි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 වලට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ෙ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ගන්න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විශේෂයෙන් සම්පත් ප්‍රමාණවත් නොවේ නම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මෙසේ කල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ාප වලට බෙදාගැනිම අනිවාර්යෙන් කළ යුතුය.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ප්‍රදේශය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 වලට බ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ෙද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ීම සදහා ර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ැස් කරගත් තොරතුරු භාවිතා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මාර්ග හෝ ගංගා වැනි භූගෝලීය මායිම් ඔස්සේ බෙදීම් කළ යුතුය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සිති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යම මත කලාප සහ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මායිම් සලකුණු කරන්න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එක් එක්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 සදහා ඉංග්‍රීසි අක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ුරු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දෙන්න -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A, B, C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ලෙස.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998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8159" y="961098"/>
            <a:ext cx="481413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 සඳහ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ා උදා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හරණ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endParaRPr lang="en-US" sz="4000" dirty="0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081" y="490211"/>
            <a:ext cx="5611860" cy="2645228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7" name="Pictur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00" y="1992086"/>
            <a:ext cx="6427289" cy="3940628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34490830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20487" y="677988"/>
            <a:ext cx="11059886" cy="511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>
              <a:lnSpc>
                <a:spcPct val="107000"/>
              </a:lnSpc>
              <a:spcAft>
                <a:spcPts val="800"/>
              </a:spcAft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 භ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ාවිතා කරමින් මෙහෙයුම් කළමනා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කරණය කිරිම: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එක් එක්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පය සදහා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පළම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ු ප්‍රතිචා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දැක්වීමට අවශ්‍ය සම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්පත් භාවිතා කිරීමට සැලසු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මක්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සකස්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කරන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්න.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උදාහරණ වශයෙන්: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1.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B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කලාපයේ සෙවීම සහ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ගැනීම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2.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C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කලාපය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ේ සෙවීම සහ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ගැනීම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3.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සහ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D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 වල සෙවීම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	4.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A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කලාපයන්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ගැනිම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	5.	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D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කලාපයන්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මුදවා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ගැනීම</a:t>
            </a:r>
            <a:endParaRPr lang="si-LK" sz="20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1196975" lvl="2" indent="-282575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දරුණූම බලප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ෑමට ලක් වූ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කලාපයට - ප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්‍රමුඛත්වය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ලබාදීම - විමර්ශනය කිරිම මග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ින් තීරණය 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කිරිම = </a:t>
            </a:r>
            <a:r>
              <a:rPr lang="si-LK" sz="2000" dirty="0">
                <a:latin typeface="Calibri" panose="020F0502020204030204" pitchFamily="34" charset="0"/>
                <a:ea typeface="Calibri" panose="020F0502020204030204" pitchFamily="34" charset="0"/>
              </a:rPr>
              <a:t>ක්‍රියාකාරී සැලැස්</a:t>
            </a:r>
            <a:r>
              <a:rPr lang="si-LK" sz="2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 සකස් කිරිම.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745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0228" y="1293866"/>
            <a:ext cx="10983686" cy="4373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 සහ </a:t>
            </a: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සමීක්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ෂණය කිරිම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indent="457200"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සාරාං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ශය</a:t>
            </a:r>
          </a:p>
          <a:p>
            <a:pPr indent="457200" algn="just">
              <a:lnSpc>
                <a:spcPct val="107000"/>
              </a:lnSpc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පළමුව ප්‍රතිචාර දක්වන්නන්ගේ පළමු කාර්ය වනුයේ විමර්ශනය කිරීමයි.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හැකි ඉක්මනින් ප්‍රයෝජනවත් තොරතුරු රැස් කරන්න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තොරතුරු බෙදා හදා ගන්න</a:t>
            </a:r>
            <a:endParaRPr lang="en-US" sz="2800" dirty="0" smtClean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ගැටළුව කළමනාකරණය කළ හැකි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පරිදි තොරතුරු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කුඩා කොටස්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වලට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බෙදී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සහ ඔබේ ප්‍රතිචා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ර දැක්වීමට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සැලසුම් කිරී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ම.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2121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337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47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388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2416"/>
            <a:ext cx="10515600" cy="1325563"/>
          </a:xfrm>
        </p:spPr>
        <p:txBody>
          <a:bodyPr/>
          <a:lstStyle/>
          <a:p>
            <a:r>
              <a:rPr lang="si-LK" dirty="0" smtClean="0"/>
              <a:t>පළමු ප්‍රතිචාර </a:t>
            </a:r>
            <a:r>
              <a:rPr lang="si-LK" dirty="0" smtClean="0"/>
              <a:t>දැක්වීමේ ප</a:t>
            </a:r>
            <a:r>
              <a:rPr lang="si-LK" dirty="0" smtClean="0"/>
              <a:t>ුහුණු වැඩසටහන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i-LK" dirty="0"/>
              <a:t>මොඩියු</a:t>
            </a:r>
            <a:r>
              <a:rPr lang="si-LK" dirty="0" smtClean="0"/>
              <a:t>ලය</a:t>
            </a:r>
            <a:r>
              <a:rPr lang="si-LK" dirty="0"/>
              <a:t>	</a:t>
            </a:r>
            <a:r>
              <a:rPr lang="si-LK" dirty="0" smtClean="0"/>
              <a:t>2:ආපද</a:t>
            </a:r>
            <a:r>
              <a:rPr lang="si-LK" dirty="0"/>
              <a:t>ා පරි</a:t>
            </a:r>
            <a:r>
              <a:rPr lang="si-LK" dirty="0" smtClean="0"/>
              <a:t>සරය</a:t>
            </a:r>
          </a:p>
          <a:p>
            <a:pPr marL="0" indent="0">
              <a:buNone/>
            </a:pPr>
            <a:endParaRPr lang="si-LK" dirty="0" smtClean="0"/>
          </a:p>
          <a:p>
            <a:r>
              <a:rPr lang="si-LK" dirty="0" smtClean="0"/>
              <a:t>සැසිය 	2.4 - පාඩම් සැලැස්ම</a:t>
            </a:r>
          </a:p>
          <a:p>
            <a:pPr marL="0" indent="0">
              <a:buNone/>
            </a:pPr>
            <a:r>
              <a:rPr lang="si-LK" dirty="0" smtClean="0"/>
              <a:t>  විමර්ශනය කිරිමේ අභ</a:t>
            </a:r>
            <a:r>
              <a:rPr lang="si-LK" dirty="0"/>
              <a:t>්‍යා</a:t>
            </a:r>
            <a:r>
              <a:rPr lang="si-LK" dirty="0" smtClean="0"/>
              <a:t>සය </a:t>
            </a:r>
            <a:endParaRPr lang="si-LK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4"/>
            <a:ext cx="3115130" cy="6810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78461" t="79333" r="13981" b="13852"/>
          <a:stretch/>
        </p:blipFill>
        <p:spPr>
          <a:xfrm>
            <a:off x="10451005" y="136525"/>
            <a:ext cx="1577709" cy="6810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1257" y="4368007"/>
            <a:ext cx="11669486" cy="24272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981" t="79333" r="56370" b="13852"/>
          <a:stretch/>
        </p:blipFill>
        <p:spPr>
          <a:xfrm>
            <a:off x="675666" y="5338764"/>
            <a:ext cx="3058134" cy="681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81799" y="4681526"/>
            <a:ext cx="4680857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si-LK" dirty="0" smtClean="0"/>
              <a:t>පළමුව ප්‍රතිචාර දැක්වීම් පුහුණු වැඩසටහන </a:t>
            </a:r>
            <a:r>
              <a:rPr lang="en-US" dirty="0" smtClean="0"/>
              <a:t>INSARAG </a:t>
            </a:r>
            <a:r>
              <a:rPr lang="si-LK" dirty="0" smtClean="0"/>
              <a:t>පුහුණු කණ්ඩායම මගින් සංවර්ධනය කරනු ලැබු අතර එමගින් විවිධ රටවලට ආපදාවකදි උදව් කිරිම සහ ප්‍රතිචාර දැක්වීමේ සංවිධාන වල ජිවිත ගලවා ගැනිමේ හැකියාවන් වැඩි දියුණු කිරිම සහ ජිවිත බේරාගැනිම මෙහි අරමුණයි.</a:t>
            </a:r>
          </a:p>
        </p:txBody>
      </p:sp>
    </p:spTree>
    <p:extLst>
      <p:ext uri="{BB962C8B-B14F-4D97-AF65-F5344CB8AC3E}">
        <p14:creationId xmlns:p14="http://schemas.microsoft.com/office/powerpoint/2010/main" val="368992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230487"/>
              </p:ext>
            </p:extLst>
          </p:nvPr>
        </p:nvGraphicFramePr>
        <p:xfrm>
          <a:off x="220889" y="239258"/>
          <a:ext cx="11764283" cy="1888681"/>
        </p:xfrm>
        <a:graphic>
          <a:graphicData uri="http://schemas.openxmlformats.org/drawingml/2006/table">
            <a:tbl>
              <a:tblPr firstRow="1" firstCol="1" bandRow="1"/>
              <a:tblGrid>
                <a:gridCol w="3920589"/>
                <a:gridCol w="3921847"/>
                <a:gridCol w="3921847"/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ඉලක්කය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(Aim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අරමුණු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(Objective)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ඉගෙනුම්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ප්‍රති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ඵල (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Learning Outcome)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වන්නන්ට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අනුකරණය කරන ලද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ෙහෙයු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ම් අභ්‍යාසයකට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 වි , ත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ොරතුරු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එක්ර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ැස් කිරීමේ කුසලත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ාවය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පුහුණු කිරීමට සහ රැස් කරගත් තොරතුරු මත පදනම්ව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මෙහෙයුමේ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්‍රමුඛත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ාවය දිය යුතු ආකරය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පිළිබදව කරුණූ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යෝජනා කිරී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ෙහෙයුම් සඳහා සහභාගිවන්නන්ට කුසලත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ාවය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 දැනුම ලබා දීම.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වන්නන්ට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යථාර්ථවාදී වාතාවරණයක් තුළ තොරතුරු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එක් ර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ැස් කිර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ීමේ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පුහු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ණුව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ිරීමට ඉඩ දීම.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රැස් කරන ලද ඕනෑම තොරතුරක් තීරණ ගැනීමේ ක්‍රියාවලියේදී භාවිතා කරන ආකාරය පිළිබඳ අවබෝධයක් ලබා දී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 සැසියේ ප්‍රතිඵලයක් ලෙස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සහභාගිවන්නාට හැකි වනු ඇත: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ෙහෙයුමකට සහභාගී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සෙවීම්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මුදවා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ගැනීමේ මෙහෙයුම්වලට අදාළ තොරතුරු හඳුනා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ගැනීම.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342900" marR="0" lvl="0" indent="-34290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විවිධ මෙවලම් සහ ශිල්පීය ක්‍රම භාව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ිතා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කර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අවශ්‍ය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 රැස්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කරගන්න.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57160" y="6474279"/>
            <a:ext cx="1290639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si-LK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විනාඩි 65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289780"/>
              </p:ext>
            </p:extLst>
          </p:nvPr>
        </p:nvGraphicFramePr>
        <p:xfrm>
          <a:off x="162346" y="2258420"/>
          <a:ext cx="11801054" cy="4229466"/>
        </p:xfrm>
        <a:graphic>
          <a:graphicData uri="http://schemas.openxmlformats.org/drawingml/2006/table">
            <a:tbl>
              <a:tblPr firstRow="1" firstCol="1" bandRow="1"/>
              <a:tblGrid>
                <a:gridCol w="1318111"/>
                <a:gridCol w="2569029"/>
                <a:gridCol w="4966172"/>
                <a:gridCol w="2947742"/>
              </a:tblGrid>
              <a:tr h="2830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කාලය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(Time)</a:t>
                      </a: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අන්තර්ගතය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(Content)</a:t>
                      </a: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ක්‍රියාකාරීත්වය 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(Activity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</a:t>
                      </a: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Resources</a:t>
                      </a: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680074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5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විස්තර කිරිම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අභ්‍යා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එහි අරම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ක්‍රමවේදය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ැහැදිලි කරනු ඇත. උපදේශකයා විසින් එක් එක් අභ්‍යාස සඳහා කණ්ඩායම් නායකයෙකු පත් කරනු ඇත.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PPT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මගින්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ඉද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ිරිපත් කිරීම</a:t>
                      </a:r>
                      <a:endParaRPr lang="en-US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පන්තිකාමර සහ පහසුකම්</a:t>
                      </a:r>
                      <a:endParaRPr lang="en-US" sz="13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27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 අන්තර් ක්‍රියා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3382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40 </a:t>
                      </a:r>
                      <a:r>
                        <a:rPr lang="si-LK" sz="13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යි</a:t>
                      </a:r>
                      <a:endParaRPr lang="en-US" sz="13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අභ්‍යා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ඉගෙ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නගත්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කරුණු සටහන් කරමින්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අනුගමනය කරන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ආරක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ෂිත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ක්‍රමවේදයන්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නිරීක්ෂණය කිරීම සහ අධීක්ෂණය කිරීම.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ගොඩනැගිල්ලක්</a:t>
                      </a:r>
                      <a:r>
                        <a:rPr lang="si-LK" sz="13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</a:t>
                      </a:r>
                      <a:r>
                        <a:rPr lang="si-LK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 ගොඩනැගිලි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කිහිපයක්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නගරයක් </a:t>
                      </a:r>
                      <a:r>
                        <a:rPr lang="si-LK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හෝ ගම්මානයේ කුඩා ප්‍රදේශයක්</a:t>
                      </a:r>
                      <a:r>
                        <a:rPr lang="en-US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තුළ ගොඩනැගිල්ලකට</a:t>
                      </a:r>
                      <a:r>
                        <a:rPr lang="si-LK" sz="13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සිදුවු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්‍යුහාත්මක හානි අනුකරණය කර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</a:t>
                      </a:r>
                      <a:r>
                        <a:rPr lang="si-LK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ැලැස්ම සකස්කර ඇති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ආකරය</a:t>
                      </a:r>
                      <a:r>
                        <a:rPr lang="si-LK" sz="13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</a:t>
                      </a:r>
                      <a:r>
                        <a:rPr lang="si-LK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ායාරූප භාවිතා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 සහ ත</a:t>
                      </a:r>
                      <a:r>
                        <a:rPr lang="si-LK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 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රචනය මගින් </a:t>
                      </a:r>
                      <a:r>
                        <a:rPr lang="si-LK" sz="13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භූමිකා</a:t>
                      </a:r>
                      <a:r>
                        <a:rPr lang="si-LK" sz="130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300" baseline="0" dirty="0" smtClea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නිරූපනය කරන්න.</a:t>
                      </a:r>
                      <a:endParaRPr lang="en-US" sz="13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13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</a:t>
                      </a:r>
                      <a:r>
                        <a:rPr lang="si-LK" sz="13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නන්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වෙන් කරන ලද කණ්ඩායම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විසින් ව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ිමර්ශනය කිරිමේ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්‍යාසයක් සිදු කිරීම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සැලසුම් කිරීම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ොඩනැගිලි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පිළිබදව තක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්සේරු කිරීම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ප්‍රදේශය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කලාප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වලට බෙදීම,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ිවි ගලවා ගත් අයගෙන්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තොරතුරු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එක්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ැස්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 ගැනිම, ත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ොරතුරු පටිගත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කරගැනිම,</a:t>
                      </a:r>
                      <a:r>
                        <a:rPr lang="en-US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සිතියම් සහ සැලසුම් ඇඳීම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අවශ්‍ය 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ඡායාරූප ගැනී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 සහ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එම තොරතුරු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ඉදිරිපත් කිරීම සඳහා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රැස්කර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ගැනිම. 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06765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විනාඩි 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20</a:t>
                      </a: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සාරාංශ කිරීම සහ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ප්‍රශ්න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උපදේශක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එක් එක් කණ්ඩායමෙන් රැස් කරගත් තොරතුරු සමාලෝචනය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අභ්‍යාසයේ</a:t>
                      </a:r>
                      <a:r>
                        <a:rPr lang="si-LK" sz="13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ඉගෙනගත්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්‍රධාන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විෂය කර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ුණු සාරාංශ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ගත කරන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්න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ඉගෙ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නගත් 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කරුණු නිදර්ශනය කිරීම සඳහා නිශ්චිත උදාහරණ සිහිපත් කරන්න.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5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3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සහභාගිවන්නා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: අවශ්‍ය පරිදි සවන් දී අන්තර් ක්‍රියා කරන්න</a:t>
                      </a: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3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විෂය කරුණු ප</a:t>
                      </a:r>
                      <a:r>
                        <a:rPr lang="si-LK" sz="13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ැහැදිලි කිරීමට ප්‍රශ්න අසන්න.</a:t>
                      </a:r>
                      <a:endParaRPr lang="en-US" sz="13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33949" marR="3394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5418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416876"/>
              </p:ext>
            </p:extLst>
          </p:nvPr>
        </p:nvGraphicFramePr>
        <p:xfrm>
          <a:off x="326574" y="728387"/>
          <a:ext cx="11615054" cy="5159823"/>
        </p:xfrm>
        <a:graphic>
          <a:graphicData uri="http://schemas.openxmlformats.org/drawingml/2006/table">
            <a:tbl>
              <a:tblPr firstRow="1" firstCol="1" bandRow="1"/>
              <a:tblGrid>
                <a:gridCol w="3537855"/>
                <a:gridCol w="8077199"/>
              </a:tblGrid>
              <a:tr h="338413"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උපදේශාත්මක සටහන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7529" marR="475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21410">
                <a:tc>
                  <a:txBody>
                    <a:bodyPr/>
                    <a:lstStyle/>
                    <a:p>
                      <a:pPr marL="45720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අභ්‍යාස 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7529" marR="475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දැනුවත් කර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කුඩා කණ්ඩායම්වලට බෙදා පසුව අවශ්‍ය ප්‍රදේ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ශය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වලට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විමර්ශනය කිරිම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සදහා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යැවිය යුතුය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 සිදුකරන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ප්‍රදේශයේ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ොඩනැගිලි හෝ ගොඩනැගිලි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කිහිප ගණනකින්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සමන්විත විය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යුතුය. අභ්‍යා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සිදුකරන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්‍රදේශයේ සීමාවන් සහභාගිවන්නන්ට පැහැදිලි කළ යුතුය. මෙම අවස්ථාවේදී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එක්රැස්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කරගන්නා තොරතුරු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්‍රමාණයට වඩා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ගුණාත්මක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තොරතුරු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ව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ැදගත් වන බැවින් ගොඩනැගිලි කිහිපයක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පමණක් ත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ෝරා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ගත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යුතුය.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සය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සිදුකරන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ොඩනැගිල්ල ඉදිරිපිට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ගොඩනැගිල්ලකට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හානිවු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ඡ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ායාරූපයක් ප්‍රදර්ශනය කිරීමෙන්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ගොඩනැගිල්ලට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එම හානිය සිදු වි ඇති බව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ුකරණය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කරන්න. සහභ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ාගිවන්නන්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ගොඩනැගිල්ලේ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ිහිටීම සටහන් කර එය සිතියම්ගත කළ යුතුය (සැබෑ ගොඩනැගිල්ලක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ලෙස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නමුත් පින්තූරයට අනුව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 වි ඇති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ානිය වාර්තා කරන්න.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මෙම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්‍යාසයේදී දිවි ගලවා ගත්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පුද්ගලයින් (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Role Players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) කැදවා ප්‍රශ්නකර තොරතුරු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ලබාගත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ුතු අතර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එම අවස්ථාවේ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ග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ොඩනැගිල්ලේ සිටියේ කවුරුන්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 සිටියේ කොහේ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ද?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ඔවුන් දිවි ගලවා ගත්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බවට සාක්ෂි තිබෙනවාද? යන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ාද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කරුණු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පිළිබඳ අමතර තොරතුරු ලබා ගැනී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ම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සිදු කරන්න.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භූම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ියෙදි </a:t>
                      </a:r>
                      <a:r>
                        <a:rPr lang="en-US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Role Players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විසින් ඔවුන්ට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සපයා ඇති විස්තර සටහන්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ක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ියවිය යුතුය.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සහභාගිවන්නන් සටහන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් ලිවීමට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ප්‍රදේශයේ සිතියම් ඇඳීමට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,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පින්තූර ගැනීමට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ද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ිරිමත් කරන්න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අභ්‍යාසය අතරතුර සෑම කණ්ඩායමකටම නිරීක්ෂකයෙකු/පුහුණුකරුවෙකු සිටී නම් එය වඩා හොඳ ඉගෙනුම් අවස්ථ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ාක්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ලබා දෙනු ඇත. මෙම පුහුණුකරුවන්ට කණ්ඩායම්වලට මඟ පෙන්ව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ිමට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හැක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ියාව  අතර  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පසුව 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සිදුකරන පසු කථනයේදි</a:t>
                      </a:r>
                      <a:r>
                        <a:rPr lang="si-LK" sz="1400" baseline="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 අවශ්‍ය දැනුවත් කිරිම් සිදු කළ හැකි</a:t>
                      </a:r>
                      <a:r>
                        <a:rPr lang="si-LK" sz="14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ය</a:t>
                      </a:r>
                      <a:r>
                        <a:rPr lang="si-LK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Iskoola Pota" panose="02010503010101010104" pitchFamily="2" charset="0"/>
                        </a:rPr>
                        <a:t>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Iskoola Pota" panose="02010503010101010104" pitchFamily="2" charset="0"/>
                      </a:endParaRPr>
                    </a:p>
                  </a:txBody>
                  <a:tcPr marL="47529" marR="475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9295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Overlay-2ColumnTex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72141" y="700246"/>
            <a:ext cx="3374573" cy="5555570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490653" y="893504"/>
            <a:ext cx="4371278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පළම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ු </a:t>
            </a: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2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 දක්වන්නා </a:t>
            </a:r>
            <a: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  <a:t/>
            </a:r>
            <a:br>
              <a:rPr lang="si-LK" sz="3100" b="1" dirty="0" smtClean="0">
                <a:solidFill>
                  <a:prstClr val="black"/>
                </a:solidFill>
                <a:latin typeface="Calibri Light" panose="020F0302020204030204"/>
              </a:rPr>
            </a:br>
            <a:endParaRPr lang="en-US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75" y="5606473"/>
            <a:ext cx="2578832" cy="4999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06322" y="2332907"/>
            <a:ext cx="9712049" cy="1277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කිරීමේ මාතෘකා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si-LK" sz="2400" dirty="0" smtClean="0"/>
              <a:t>විමර්ශනය කිරිමේ අභ</a:t>
            </a:r>
            <a:r>
              <a:rPr lang="si-LK" sz="2400" dirty="0"/>
              <a:t>්‍යා</a:t>
            </a:r>
            <a:r>
              <a:rPr lang="si-LK" sz="2400" dirty="0" smtClean="0"/>
              <a:t>සය </a:t>
            </a:r>
            <a:r>
              <a:rPr lang="si-LK" sz="2400" dirty="0"/>
              <a:t>- කෙටියෙන්</a:t>
            </a:r>
            <a:endParaRPr lang="en-US" sz="2400" dirty="0"/>
          </a:p>
          <a:p>
            <a:pPr>
              <a:lnSpc>
                <a:spcPct val="107000"/>
              </a:lnSpc>
            </a:pP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ොඩියු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ලය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	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2.4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කරන්නා / උපදේ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ශක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	</a:t>
            </a:r>
            <a:r>
              <a:rPr lang="si-LK" sz="2400" dirty="0" smtClean="0">
                <a:latin typeface="Calibri" panose="020F0502020204030204" pitchFamily="34" charset="0"/>
                <a:ea typeface="Calibri" panose="020F0502020204030204" pitchFamily="34" charset="0"/>
              </a:rPr>
              <a:t>: </a:t>
            </a:r>
            <a:r>
              <a:rPr lang="si-LK" sz="2400" dirty="0">
                <a:latin typeface="Calibri" panose="020F0502020204030204" pitchFamily="34" charset="0"/>
                <a:ea typeface="Calibri" panose="020F0502020204030204" pitchFamily="34" charset="0"/>
              </a:rPr>
              <a:t>ඉදිරිපත් කරන්නන්ගේ නම මෙහි එක් කරන්න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12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1" y="136525"/>
            <a:ext cx="2463800" cy="457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186871" y="6176963"/>
            <a:ext cx="11907157" cy="681037"/>
          </a:xfrm>
          <a:prstGeom prst="rect">
            <a:avLst/>
          </a:prstGeom>
        </p:spPr>
      </p:pic>
      <p:pic>
        <p:nvPicPr>
          <p:cNvPr id="11" name="Picture 10" descr="Overlay-2ColumnText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8244158" y="223365"/>
            <a:ext cx="3340100" cy="5688981"/>
          </a:xfrm>
          <a:prstGeom prst="round2DiagRect">
            <a:avLst/>
          </a:prstGeom>
          <a:gradFill flip="none" rotWithShape="1">
            <a:gsLst>
              <a:gs pos="0">
                <a:srgbClr val="38ABED"/>
              </a:gs>
              <a:gs pos="100000">
                <a:srgbClr val="1B3861"/>
              </a:gs>
            </a:gsLst>
            <a:lin ang="5400000" scaled="0"/>
            <a:tileRect/>
          </a:gradFill>
        </p:spPr>
      </p:pic>
      <p:sp>
        <p:nvSpPr>
          <p:cNvPr id="12" name="Title 3"/>
          <p:cNvSpPr txBox="1">
            <a:spLocks noGrp="1"/>
          </p:cNvSpPr>
          <p:nvPr>
            <p:ph type="title"/>
          </p:nvPr>
        </p:nvSpPr>
        <p:spPr>
          <a:xfrm>
            <a:off x="8668899" y="372126"/>
            <a:ext cx="26522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පළමු </a:t>
            </a:r>
            <a:b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</a:br>
            <a:r>
              <a:rPr lang="si-LK" sz="3600" b="1" dirty="0" smtClean="0">
                <a:solidFill>
                  <a:prstClr val="black"/>
                </a:solidFill>
                <a:latin typeface="Calibri Light" panose="020F0302020204030204"/>
              </a:rPr>
              <a:t>ප්‍රතිචාරකයා</a:t>
            </a:r>
            <a:endParaRPr lang="en-US" sz="3600" b="1" dirty="0"/>
          </a:p>
        </p:txBody>
      </p:sp>
      <p:sp>
        <p:nvSpPr>
          <p:cNvPr id="13" name="Rectangle 12"/>
          <p:cNvSpPr/>
          <p:nvPr/>
        </p:nvSpPr>
        <p:spPr>
          <a:xfrm>
            <a:off x="8668899" y="5278398"/>
            <a:ext cx="2490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Coordination Saves Lives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37594" y="2132535"/>
            <a:ext cx="4908716" cy="1870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si-LK" sz="5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කිරිමේ</a:t>
            </a:r>
          </a:p>
          <a:p>
            <a:pPr algn="ctr">
              <a:lnSpc>
                <a:spcPct val="107000"/>
              </a:lnSpc>
            </a:pPr>
            <a:r>
              <a:rPr lang="si-LK" sz="5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අභ්‍යා</a:t>
            </a:r>
            <a:r>
              <a:rPr lang="si-LK" sz="54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සය</a:t>
            </a:r>
            <a:endParaRPr lang="en-US" sz="5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28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0069" y="1367618"/>
            <a:ext cx="11290302" cy="3846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කිරිමේ අභ්‍යා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අභ්‍යාස </a:t>
            </a:r>
            <a:r>
              <a:rPr lang="si-LK" sz="4000" dirty="0">
                <a:latin typeface="Calibri" panose="020F0502020204030204" pitchFamily="34" charset="0"/>
                <a:ea typeface="Calibri" panose="020F0502020204030204" pitchFamily="34" charset="0"/>
              </a:rPr>
              <a:t>අරමුණු: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අභ්‍යාස සදහා සහභ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ාගී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වන්නන්ට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යථාර්ථවාදී පරිසරයක් තුළ තොරතුරු රැස් කිරීම පුහුණු කිරීමට ඉඩ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සලසන්න.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සටහන්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ඡායාරූප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වීඩියෝ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,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සිතියම් සහ සැලසුම් එකතු කිරීම පුහුණු කිරී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රැස් කරගත් තොරතුරු මත පදනම්ව ක්‍රියාකාරී සැලැස්මක් සැකසීමට පුරුදු වී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4579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85800" y="1056525"/>
            <a:ext cx="11266714" cy="5394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කිරිමේ අභ්‍යා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ව්‍යායාම කෙටි: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කු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ඩ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 කණ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්ඩායම 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වලට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බෙදා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ායකයින් පත්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 සඳහ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 ප්‍රදේශ වෙන්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ිරිම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සහ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සීමාවන් සහ අභ්‍යාස සිදු කිරිමට ඇති කාල සීමාව 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ැහැදිලි කිරී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ම.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අභ්‍යාසය සිදුකළ යුතු ක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්‍රමවේදය සහ </a:t>
            </a:r>
            <a:r>
              <a:rPr 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Role Players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ගේ කාර්යය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ැහැදිලි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ආරක්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ෂ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ාව පිළිබද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තොරතුර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ු ඉදිරිපත් කරන්න.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සෑම කණ්ඩායමක්ම ඔවුන්ගේ තොරතුරු එකතු කර ඒවා විවාදයේදී ඉදිරිපත් කළ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කරන්න.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255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796" t="18296" r="53241" b="76370"/>
          <a:stretch/>
        </p:blipFill>
        <p:spPr>
          <a:xfrm>
            <a:off x="390070" y="136525"/>
            <a:ext cx="2951843" cy="603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981" t="79333" r="13981" b="13852"/>
          <a:stretch/>
        </p:blipFill>
        <p:spPr>
          <a:xfrm>
            <a:off x="45357" y="6255816"/>
            <a:ext cx="11907157" cy="6810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2258" y="1254542"/>
            <a:ext cx="11310256" cy="4933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විමර්ශනය කිරිමේ අභ්‍යා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සය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si-LK" sz="4000" b="1" dirty="0">
                <a:latin typeface="Calibri" panose="020F0502020204030204" pitchFamily="34" charset="0"/>
                <a:ea typeface="Calibri" panose="020F0502020204030204" pitchFamily="34" charset="0"/>
              </a:rPr>
              <a:t>අභ්‍යා</a:t>
            </a:r>
            <a:r>
              <a:rPr lang="si-LK" sz="4000" b="1" dirty="0" smtClean="0">
                <a:latin typeface="Calibri" panose="020F0502020204030204" pitchFamily="34" charset="0"/>
                <a:ea typeface="Calibri" panose="020F0502020204030204" pitchFamily="34" charset="0"/>
              </a:rPr>
              <a:t>සය පසු කථනය කිරිම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Iskoola Pota" panose="02010503010101010104" pitchFamily="2" charset="0"/>
              </a:rPr>
              <a:t> 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ඔබේ උපදේ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ශකයා /ප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ුහුණුකරු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විසින් අභ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්‍යාසය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පිළිබදව පසු කථනය සිදුකරනු ලබයි.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සෑම කණ්ඩායමක්ම ඔවුන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්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එකතු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කරගන්නා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ලද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ොරතුරු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එකතුකර ඉද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ිරිපත් කරය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ි.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කණ්ඩායම් එම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ත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ොරතුරු මත පදනම්ව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ගත යුතු ප්‍රමුඛතා ක්‍රියාමාර්ග පිළිබදව ස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ාකච්ඡා 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කිරිම.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ඉගෙ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නගත යුතු කරුණු </a:t>
            </a:r>
            <a:r>
              <a:rPr lang="si-LK" sz="2800" dirty="0">
                <a:latin typeface="Calibri" panose="020F0502020204030204" pitchFamily="34" charset="0"/>
                <a:ea typeface="Calibri" panose="020F0502020204030204" pitchFamily="34" charset="0"/>
              </a:rPr>
              <a:t>පැහැදිලි කරන්</a:t>
            </a:r>
            <a:r>
              <a:rPr lang="si-LK" sz="2800" dirty="0" smtClean="0">
                <a:latin typeface="Calibri" panose="020F0502020204030204" pitchFamily="34" charset="0"/>
                <a:ea typeface="Calibri" panose="020F0502020204030204" pitchFamily="34" charset="0"/>
              </a:rPr>
              <a:t>න.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105030101010101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3040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1981200" y="3048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 marL="382588" indent="-3429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fontAlgn="base">
              <a:spcBef>
                <a:spcPts val="800"/>
              </a:spcBef>
              <a:spcAft>
                <a:spcPct val="0"/>
              </a:spcAft>
              <a:buClr>
                <a:srgbClr val="FFFFFF"/>
              </a:buClr>
              <a:buSzPct val="100000"/>
            </a:pPr>
            <a:endParaRPr lang="en-US" sz="4000">
              <a:solidFill>
                <a:srgbClr val="056CB6"/>
              </a:solidFill>
              <a:latin typeface="Arial" panose="020B0604020202020204" pitchFamily="34" charset="0"/>
              <a:sym typeface="Times" panose="02020603050405020304" pitchFamily="18" charset="0"/>
            </a:endParaRPr>
          </a:p>
        </p:txBody>
      </p:sp>
      <p:sp>
        <p:nvSpPr>
          <p:cNvPr id="13315" name="TextBox 1"/>
          <p:cNvSpPr txBox="1">
            <a:spLocks noChangeArrowheads="1"/>
          </p:cNvSpPr>
          <p:nvPr/>
        </p:nvSpPr>
        <p:spPr bwMode="auto">
          <a:xfrm>
            <a:off x="2133600" y="609601"/>
            <a:ext cx="822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13316" name="Picture 1" descr="backgroun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8763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TextBox 2"/>
          <p:cNvSpPr txBox="1">
            <a:spLocks noChangeArrowheads="1"/>
          </p:cNvSpPr>
          <p:nvPr/>
        </p:nvSpPr>
        <p:spPr bwMode="auto">
          <a:xfrm>
            <a:off x="3276600" y="2592388"/>
            <a:ext cx="2819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4400">
                <a:solidFill>
                  <a:srgbClr val="FFFFFF"/>
                </a:solidFill>
                <a:latin typeface="Avenir Medium" charset="0"/>
              </a:rPr>
              <a:t>Questions</a:t>
            </a:r>
          </a:p>
        </p:txBody>
      </p:sp>
      <p:sp>
        <p:nvSpPr>
          <p:cNvPr id="13318" name="TextBox 4"/>
          <p:cNvSpPr txBox="1">
            <a:spLocks noChangeArrowheads="1"/>
          </p:cNvSpPr>
          <p:nvPr/>
        </p:nvSpPr>
        <p:spPr bwMode="auto">
          <a:xfrm rot="-5400000">
            <a:off x="5450682" y="3358357"/>
            <a:ext cx="1752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Cuestión</a:t>
            </a: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7086600" y="1676401"/>
            <a:ext cx="1798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La question</a:t>
            </a: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7086600" y="2582864"/>
            <a:ext cx="13756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ar-SA" sz="4400">
                <a:solidFill>
                  <a:srgbClr val="FFFFFF"/>
                </a:solidFill>
              </a:rPr>
              <a:t>الأسئلة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905001" y="3200401"/>
            <a:ext cx="1801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bg-BG" sz="3600">
                <a:solidFill>
                  <a:srgbClr val="FFFFFF"/>
                </a:solidFill>
              </a:rPr>
              <a:t>въпроси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2" name="Rectangle 9"/>
          <p:cNvSpPr>
            <a:spLocks noChangeArrowheads="1"/>
          </p:cNvSpPr>
          <p:nvPr/>
        </p:nvSpPr>
        <p:spPr bwMode="auto">
          <a:xfrm>
            <a:off x="5334001" y="1676401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TW" altLang="en-US" sz="3600">
                <a:solidFill>
                  <a:srgbClr val="FFFFFF"/>
                </a:solidFill>
              </a:rPr>
              <a:t>问题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5029201" y="3429001"/>
            <a:ext cx="1096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otázky</a:t>
            </a: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826250" y="3886201"/>
            <a:ext cx="1860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spørgsmål</a:t>
            </a:r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 rot="-5400000">
            <a:off x="2151856" y="2267744"/>
            <a:ext cx="1462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vragen</a:t>
            </a:r>
          </a:p>
        </p:txBody>
      </p:sp>
      <p:sp>
        <p:nvSpPr>
          <p:cNvPr id="13326" name="Rectangle 13"/>
          <p:cNvSpPr>
            <a:spLocks noChangeArrowheads="1"/>
          </p:cNvSpPr>
          <p:nvPr/>
        </p:nvSpPr>
        <p:spPr bwMode="auto">
          <a:xfrm>
            <a:off x="4267201" y="3962401"/>
            <a:ext cx="1655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küsimused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7086600" y="2209801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kysymykset</a:t>
            </a:r>
          </a:p>
        </p:txBody>
      </p:sp>
      <p:sp>
        <p:nvSpPr>
          <p:cNvPr id="13328" name="Rectangle 15"/>
          <p:cNvSpPr>
            <a:spLocks noChangeArrowheads="1"/>
          </p:cNvSpPr>
          <p:nvPr/>
        </p:nvSpPr>
        <p:spPr bwMode="auto">
          <a:xfrm rot="-5400000">
            <a:off x="1476376" y="2201863"/>
            <a:ext cx="16557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600">
                <a:solidFill>
                  <a:srgbClr val="FFFFFF"/>
                </a:solidFill>
                <a:latin typeface="Avenir Medium" charset="0"/>
              </a:rPr>
              <a:t>Fragen</a:t>
            </a:r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5410200" y="26670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276601" y="2133601"/>
            <a:ext cx="20617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</a:rPr>
              <a:t>सवालों के जवाब</a:t>
            </a:r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1752600" y="3886200"/>
            <a:ext cx="2266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FFFFFF"/>
                </a:solidFill>
                <a:latin typeface="Avenir Medium" charset="0"/>
              </a:rPr>
              <a:t>pertanyaan</a:t>
            </a:r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 rot="-5400000">
            <a:off x="5919788" y="2279651"/>
            <a:ext cx="17287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FFFFFF"/>
                </a:solidFill>
                <a:latin typeface="Avenir Medium" charset="0"/>
              </a:rPr>
              <a:t>domande</a:t>
            </a:r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3886200" y="3352800"/>
            <a:ext cx="10048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ja-JP" altLang="en-US" sz="3200">
                <a:solidFill>
                  <a:srgbClr val="FFFFFF"/>
                </a:solidFill>
              </a:rPr>
              <a:t>質問</a:t>
            </a:r>
            <a:endParaRPr lang="en-US" sz="3200">
              <a:solidFill>
                <a:srgbClr val="FFFFFF"/>
              </a:solidFill>
            </a:endParaRPr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105401" y="2286001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perguntas</a:t>
            </a:r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3654426" y="1600201"/>
            <a:ext cx="13989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Times" panose="02020603050405020304" pitchFamily="18" charset="0"/>
              </a:rPr>
              <a:t>вопросов</a:t>
            </a:r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7162800" y="3360738"/>
            <a:ext cx="1136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rgbClr val="FFFFFF"/>
                </a:solidFill>
                <a:latin typeface="Avenir Medium" charset="0"/>
              </a:rPr>
              <a:t>sorular</a:t>
            </a:r>
          </a:p>
        </p:txBody>
      </p:sp>
      <p:sp>
        <p:nvSpPr>
          <p:cNvPr id="13337" name="TextBox 25"/>
          <p:cNvSpPr txBox="1">
            <a:spLocks noChangeArrowheads="1"/>
          </p:cNvSpPr>
          <p:nvPr/>
        </p:nvSpPr>
        <p:spPr bwMode="auto">
          <a:xfrm>
            <a:off x="8991600" y="1371601"/>
            <a:ext cx="1524000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9900">
                <a:solidFill>
                  <a:srgbClr val="FFFFFF"/>
                </a:solidFill>
                <a:latin typeface="Avenir Medium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9204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1"/>
          <p:cNvSpPr>
            <a:spLocks noGrp="1"/>
          </p:cNvSpPr>
          <p:nvPr>
            <p:ph type="sldNum" sz="quarter" idx="1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明朝 ProN W3" charset="-128"/>
                <a:sym typeface="Times New Roman" panose="02020603050405020304" pitchFamily="18" charset="0"/>
              </a:defRPr>
            </a:lvl9pPr>
          </a:lstStyle>
          <a:p>
            <a:pPr eaLnBrk="1" hangingPunct="1"/>
            <a:fld id="{207FAFF6-E146-4F48-809E-3DA26EEA4871}" type="slidenum">
              <a:rPr lang="en-US" sz="1400">
                <a:latin typeface="Times" panose="02020603050405020304" pitchFamily="18" charset="0"/>
                <a:sym typeface="Times" panose="02020603050405020304" pitchFamily="18" charset="0"/>
              </a:rPr>
              <a:pPr eaLnBrk="1" hangingPunct="1"/>
              <a:t>57</a:t>
            </a:fld>
            <a:endParaRPr lang="en-US" sz="1400">
              <a:latin typeface="Times" panose="02020603050405020304" pitchFamily="18" charset="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181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Times"/>
        <a:ea typeface="ヒラギノ明朝 ProN W3"/>
        <a:cs typeface="ヒラギノ明朝 ProN W3"/>
      </a:majorFont>
      <a:minorFont>
        <a:latin typeface="Times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solidFill>
          <a:srgbClr val="00CC99"/>
        </a:solidFill>
        <a:ln w="19050" cap="flat" cmpd="sng" algn="ctr">
          <a:solidFill>
            <a:srgbClr val="174C8E">
              <a:alpha val="84000"/>
            </a:srgb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2039</TotalTime>
  <Words>10877</Words>
  <Application>Microsoft Office PowerPoint</Application>
  <PresentationFormat>Widescreen</PresentationFormat>
  <Paragraphs>644</Paragraphs>
  <Slides>57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Arial</vt:lpstr>
      <vt:lpstr>Avenir Medium</vt:lpstr>
      <vt:lpstr>Calibri</vt:lpstr>
      <vt:lpstr>Calibri Light</vt:lpstr>
      <vt:lpstr>Iskoola Pota</vt:lpstr>
      <vt:lpstr>Symbol</vt:lpstr>
      <vt:lpstr>Times</vt:lpstr>
      <vt:lpstr>Times New Roman</vt:lpstr>
      <vt:lpstr>Verdana</vt:lpstr>
      <vt:lpstr>ヒラギノ明朝 ProN W3</vt:lpstr>
      <vt:lpstr>Office Theme</vt:lpstr>
      <vt:lpstr>1_Title &amp; Bullets</vt:lpstr>
      <vt:lpstr>පළමු ප්‍රතිචාර දැක්වීමේ පුහුණු වැඩසටහන</vt:lpstr>
      <vt:lpstr>PowerPoint Presentation</vt:lpstr>
      <vt:lpstr>PowerPoint Presentation</vt:lpstr>
      <vt:lpstr>පළමුවන  ප්‍රතිචාර දක්වන්නා  </vt:lpstr>
      <vt:lpstr>පළමුව  ප්‍රතිචාර දක්වන්නන්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පළමු ප්‍රතිචාර පුහුණු වැඩසටහන</vt:lpstr>
      <vt:lpstr>PowerPoint Presentation</vt:lpstr>
      <vt:lpstr>PowerPoint Presentation</vt:lpstr>
      <vt:lpstr>පළමු ප්‍රතිචාර දක්වන්නා  </vt:lpstr>
      <vt:lpstr>පළමු  ප්‍රතිචාර දක්වන්නා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පළමු ප්‍රතිචාර පුහුණු වැඩසටහන</vt:lpstr>
      <vt:lpstr>PowerPoint Presentation</vt:lpstr>
      <vt:lpstr>PowerPoint Presentation</vt:lpstr>
      <vt:lpstr>පළමු  ප්‍රතිචාර දක්වන්නා  </vt:lpstr>
      <vt:lpstr>පළමු  ප්‍රතිචාරකයා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පළමු ප්‍රතිචාර දැක්වීමේ පුහුණු වැඩසටහන</vt:lpstr>
      <vt:lpstr>PowerPoint Presentation</vt:lpstr>
      <vt:lpstr>PowerPoint Presentation</vt:lpstr>
      <vt:lpstr>පළමු  ප්‍රතිචාර දක්වන්නා  </vt:lpstr>
      <vt:lpstr>පළමු  ප්‍රතිචාරකයා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Military PC</dc:creator>
  <cp:lastModifiedBy>IT-Admin</cp:lastModifiedBy>
  <cp:revision>624</cp:revision>
  <cp:lastPrinted>2022-08-16T06:16:25Z</cp:lastPrinted>
  <dcterms:created xsi:type="dcterms:W3CDTF">2022-07-11T05:41:01Z</dcterms:created>
  <dcterms:modified xsi:type="dcterms:W3CDTF">2023-05-02T07:12:15Z</dcterms:modified>
</cp:coreProperties>
</file>