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  <p:sldMasterId id="2147483816" r:id="rId2"/>
  </p:sldMasterIdLst>
  <p:notesMasterIdLst>
    <p:notesMasterId r:id="rId36"/>
  </p:notesMasterIdLst>
  <p:handoutMasterIdLst>
    <p:handoutMasterId r:id="rId37"/>
  </p:handoutMasterIdLst>
  <p:sldIdLst>
    <p:sldId id="269" r:id="rId3"/>
    <p:sldId id="268" r:id="rId4"/>
    <p:sldId id="320" r:id="rId5"/>
    <p:sldId id="267" r:id="rId6"/>
    <p:sldId id="266" r:id="rId7"/>
    <p:sldId id="262" r:id="rId8"/>
    <p:sldId id="264" r:id="rId9"/>
    <p:sldId id="261" r:id="rId10"/>
    <p:sldId id="270" r:id="rId11"/>
    <p:sldId id="271" r:id="rId12"/>
    <p:sldId id="272" r:id="rId13"/>
    <p:sldId id="273" r:id="rId14"/>
    <p:sldId id="277" r:id="rId15"/>
    <p:sldId id="278" r:id="rId16"/>
    <p:sldId id="279" r:id="rId17"/>
    <p:sldId id="309" r:id="rId18"/>
    <p:sldId id="314" r:id="rId19"/>
    <p:sldId id="315" r:id="rId20"/>
    <p:sldId id="291" r:id="rId21"/>
    <p:sldId id="292" r:id="rId22"/>
    <p:sldId id="293" r:id="rId23"/>
    <p:sldId id="305" r:id="rId24"/>
    <p:sldId id="306" r:id="rId25"/>
    <p:sldId id="317" r:id="rId26"/>
    <p:sldId id="319" r:id="rId27"/>
    <p:sldId id="298" r:id="rId28"/>
    <p:sldId id="299" r:id="rId29"/>
    <p:sldId id="300" r:id="rId30"/>
    <p:sldId id="301" r:id="rId31"/>
    <p:sldId id="302" r:id="rId32"/>
    <p:sldId id="303" r:id="rId33"/>
    <p:sldId id="321" r:id="rId34"/>
    <p:sldId id="322" r:id="rId35"/>
  </p:sldIdLst>
  <p:sldSz cx="12192000" cy="6858000"/>
  <p:notesSz cx="6800850" cy="9932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6" d="100"/>
          <a:sy n="86" d="100"/>
        </p:scale>
        <p:origin x="102" y="-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2241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81FE1-49FF-49A7-A7F1-7BA43AFF21B6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2241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D6B333-660B-4C8D-ABAD-4F77470B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3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6CE2F-C41B-4D8B-95EE-5D8EFFB3B4CF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80250"/>
            <a:ext cx="5440680" cy="39111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34173-98C6-48F6-BF0E-3F7CF8242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3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534173-98C6-48F6-BF0E-3F7CF82424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7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534173-98C6-48F6-BF0E-3F7CF82424B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169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715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64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78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33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78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61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69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6912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854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757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6745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467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805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393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18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70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7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32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9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34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9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89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82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25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09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21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ocha-insarag-log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914400"/>
            <a:ext cx="11082867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101600" y="0"/>
            <a:ext cx="12090400" cy="762000"/>
          </a:xfrm>
          <a:solidFill>
            <a:schemeClr val="bg1"/>
          </a:solidFill>
        </p:spPr>
        <p:txBody>
          <a:bodyPr/>
          <a:lstStyle>
            <a:lvl1pPr marL="39688" indent="0">
              <a:buNone/>
              <a:defRPr/>
            </a:lvl1pPr>
          </a:lstStyle>
          <a:p>
            <a:pPr lvl="0"/>
            <a:endParaRPr lang="en-GB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0" y="5943600"/>
            <a:ext cx="12192000" cy="914400"/>
          </a:xfrm>
          <a:solidFill>
            <a:schemeClr val="bg1"/>
          </a:solidFill>
        </p:spPr>
        <p:txBody>
          <a:bodyPr/>
          <a:lstStyle>
            <a:lvl5pPr marL="1766888" indent="0">
              <a:buNone/>
              <a:defRPr/>
            </a:lvl5pPr>
          </a:lstStyle>
          <a:p>
            <a:pPr lvl="4"/>
            <a:endParaRPr lang="en-US" dirty="0"/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3"/>
          </p:nvPr>
        </p:nvSpPr>
        <p:spPr>
          <a:xfrm>
            <a:off x="9812867" y="6248400"/>
            <a:ext cx="389467" cy="330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268CC436-DB0C-4D40-95CD-0C678C839DC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1801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295401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276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86425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0477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1066801"/>
            <a:ext cx="10363200" cy="33401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659286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981200"/>
            <a:ext cx="54864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4864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889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66800"/>
            <a:ext cx="10972800" cy="11430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408238"/>
            <a:ext cx="5386917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276600"/>
            <a:ext cx="5386917" cy="2743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2408238"/>
            <a:ext cx="5389033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3276600"/>
            <a:ext cx="5389033" cy="2743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199420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9860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75001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838200"/>
            <a:ext cx="4011084" cy="1162050"/>
          </a:xfrm>
        </p:spPr>
        <p:txBody>
          <a:bodyPr anchor="b"/>
          <a:lstStyle>
            <a:lvl1pPr algn="l">
              <a:defRPr sz="2000" b="1" i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990601"/>
            <a:ext cx="6815667" cy="50292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3601"/>
            <a:ext cx="4011084" cy="38862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836281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00600"/>
            <a:ext cx="10668000" cy="457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4400" y="990600"/>
            <a:ext cx="10668000" cy="37369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>
              <a:sym typeface="Time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367338"/>
            <a:ext cx="10668000" cy="6524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067810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ocha-insarag-log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914400"/>
            <a:ext cx="11082867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101600" y="0"/>
            <a:ext cx="12090400" cy="762000"/>
          </a:xfrm>
          <a:solidFill>
            <a:schemeClr val="bg1"/>
          </a:solidFill>
        </p:spPr>
        <p:txBody>
          <a:bodyPr/>
          <a:lstStyle>
            <a:lvl1pPr marL="39688" indent="0">
              <a:buNone/>
              <a:defRPr/>
            </a:lvl1pPr>
          </a:lstStyle>
          <a:p>
            <a:pPr lvl="0"/>
            <a:endParaRPr lang="en-GB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0" y="5943600"/>
            <a:ext cx="12192000" cy="914400"/>
          </a:xfrm>
          <a:solidFill>
            <a:schemeClr val="bg1"/>
          </a:solidFill>
        </p:spPr>
        <p:txBody>
          <a:bodyPr/>
          <a:lstStyle>
            <a:lvl5pPr marL="1766888" indent="0">
              <a:buNone/>
              <a:defRPr/>
            </a:lvl5pPr>
          </a:lstStyle>
          <a:p>
            <a:pPr lvl="4"/>
            <a:endParaRPr lang="en-US" dirty="0"/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3"/>
          </p:nvPr>
        </p:nvSpPr>
        <p:spPr>
          <a:xfrm>
            <a:off x="9812867" y="6248400"/>
            <a:ext cx="389467" cy="330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68CC436-DB0C-4D40-95CD-0C678C839DC7}" type="slidenum">
              <a:rPr lang="en-US" sz="1200" smtClean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smtClean="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1140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62D13-26C6-49E8-A6B9-CF97DB82E248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4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2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990600"/>
            <a:ext cx="11176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9144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Times" panose="02020603050405020304" pitchFamily="18" charset="0"/>
              </a:rPr>
              <a:t>Click to edit Master title style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981200"/>
            <a:ext cx="11176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9144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Times" panose="02020603050405020304" pitchFamily="18" charset="0"/>
              </a:rPr>
              <a:t>Click to edit Master text styles</a:t>
            </a:r>
          </a:p>
          <a:p>
            <a:pPr lvl="1"/>
            <a:r>
              <a:rPr lang="en-US" smtClean="0">
                <a:sym typeface="Times" panose="02020603050405020304" pitchFamily="18" charset="0"/>
              </a:rPr>
              <a:t>Second level</a:t>
            </a:r>
          </a:p>
          <a:p>
            <a:pPr lvl="2"/>
            <a:r>
              <a:rPr lang="en-US" smtClean="0">
                <a:sym typeface="Times" panose="02020603050405020304" pitchFamily="18" charset="0"/>
              </a:rPr>
              <a:t>Third level</a:t>
            </a:r>
          </a:p>
          <a:p>
            <a:pPr lvl="3"/>
            <a:r>
              <a:rPr lang="en-US" smtClean="0">
                <a:sym typeface="Times" panose="02020603050405020304" pitchFamily="18" charset="0"/>
              </a:rPr>
              <a:t>Fourth level</a:t>
            </a:r>
          </a:p>
          <a:p>
            <a:pPr lvl="4"/>
            <a:r>
              <a:rPr lang="en-US" smtClean="0">
                <a:sym typeface="Times" panose="02020603050405020304" pitchFamily="18" charset="0"/>
              </a:rPr>
              <a:t>Fifth level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2"/>
          <a:srcRect/>
          <a:stretch>
            <a:fillRect/>
          </a:stretch>
        </p:blipFill>
        <p:spPr bwMode="auto">
          <a:xfrm>
            <a:off x="203200" y="152400"/>
            <a:ext cx="3556000" cy="38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029" name="Picture 18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6248400"/>
            <a:ext cx="2844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2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0" y="6065839"/>
            <a:ext cx="1490133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31" name="Straight Connector 2"/>
          <p:cNvCxnSpPr>
            <a:cxnSpLocks noChangeShapeType="1"/>
          </p:cNvCxnSpPr>
          <p:nvPr userDrawn="1"/>
        </p:nvCxnSpPr>
        <p:spPr bwMode="auto">
          <a:xfrm>
            <a:off x="3100917" y="6300788"/>
            <a:ext cx="7416800" cy="0"/>
          </a:xfrm>
          <a:prstGeom prst="line">
            <a:avLst/>
          </a:prstGeom>
          <a:noFill/>
          <a:ln w="20320">
            <a:solidFill>
              <a:srgbClr val="174C8E">
                <a:alpha val="90195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84437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</p:sldLayoutIdLst>
  <p:transition/>
  <p:hf hdr="0" ftr="0" dt="0"/>
  <p:txStyles>
    <p:titleStyle>
      <a:lvl1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/>
          <a:ea typeface="+mj-ea"/>
          <a:cs typeface="Verdana"/>
          <a:sym typeface="Times" panose="02020603050405020304" pitchFamily="18" charset="0"/>
        </a:defRPr>
      </a:lvl1pPr>
      <a:lvl2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2pPr>
      <a:lvl3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3pPr>
      <a:lvl4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4pPr>
      <a:lvl5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5pPr>
      <a:lvl6pPr marL="4968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6pPr>
      <a:lvl7pPr marL="9540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7pPr>
      <a:lvl8pPr marL="14112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8pPr>
      <a:lvl9pPr marL="18684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9pPr>
    </p:titleStyle>
    <p:bodyStyle>
      <a:lvl1pPr marL="382588" indent="-342900" algn="l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•"/>
        <a:defRPr sz="32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1pPr>
      <a:lvl2pPr marL="681038" indent="-285750" algn="l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–"/>
        <a:defRPr sz="28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2pPr>
      <a:lvl3pPr marL="1081088" indent="-228600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•"/>
        <a:defRPr sz="24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3pPr>
      <a:lvl4pPr marL="1538288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–"/>
        <a:defRPr sz="20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4pPr>
      <a:lvl5pPr marL="1995488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»"/>
        <a:defRPr sz="20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5pPr>
      <a:lvl6pPr marL="24526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6pPr>
      <a:lvl7pPr marL="29098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7pPr>
      <a:lvl8pPr marL="33670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8pPr>
      <a:lvl9pPr marL="38242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62416"/>
            <a:ext cx="10515600" cy="1325563"/>
          </a:xfrm>
        </p:spPr>
        <p:txBody>
          <a:bodyPr/>
          <a:lstStyle/>
          <a:p>
            <a:r>
              <a:rPr lang="si-LK" dirty="0" smtClean="0"/>
              <a:t>පළමුව ප්‍රතිචාර දැක්වීමේ පුහුණු වැඩසටහන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i-LK" dirty="0"/>
              <a:t>මොඩියුලර්	</a:t>
            </a:r>
            <a:r>
              <a:rPr lang="si-LK" dirty="0" smtClean="0"/>
              <a:t>1: පළමුව ප්‍රතිචාර දැක්වීම හැඳින්වීම</a:t>
            </a:r>
          </a:p>
          <a:p>
            <a:endParaRPr lang="si-LK" dirty="0"/>
          </a:p>
          <a:p>
            <a:r>
              <a:rPr lang="si-LK" dirty="0" smtClean="0"/>
              <a:t>සැසිය 	1.1- පාඩම් සැලැස්ම</a:t>
            </a:r>
          </a:p>
          <a:p>
            <a:endParaRPr lang="si-LK" dirty="0"/>
          </a:p>
          <a:p>
            <a:r>
              <a:rPr lang="si-LK" dirty="0" smtClean="0"/>
              <a:t>පළමුව ප්‍රතිචාර දැක්වීම යනු කුමක්ද?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4"/>
            <a:ext cx="3115130" cy="6810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78461" t="79333" r="13981" b="13852"/>
          <a:stretch/>
        </p:blipFill>
        <p:spPr>
          <a:xfrm>
            <a:off x="10451005" y="136525"/>
            <a:ext cx="1577709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61257" y="4368007"/>
            <a:ext cx="11669486" cy="24272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981" t="79333" r="56370" b="13852"/>
          <a:stretch/>
        </p:blipFill>
        <p:spPr>
          <a:xfrm>
            <a:off x="675666" y="5338764"/>
            <a:ext cx="3058134" cy="6810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81799" y="4681526"/>
            <a:ext cx="4680857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si-LK" dirty="0" smtClean="0"/>
              <a:t>පළමුව ප්‍රතිචාර දැක්වීම් පුහුණු වැඩසටහන </a:t>
            </a:r>
            <a:r>
              <a:rPr lang="en-US" dirty="0" smtClean="0"/>
              <a:t>INSARAG </a:t>
            </a:r>
            <a:r>
              <a:rPr lang="si-LK" dirty="0" smtClean="0"/>
              <a:t>පුහුණු කණ්ඩායම මගින් සංවර්ධනය කරනු ලැබු අතර එමගින් විවිධ රටවලට ආපදාවකදි උදව් කිරිම සහ ප්‍රතිචාර දැක්වීමේ සංවිධාන වල ජිවිත ගලවා ගැනිමේ හැකියාවන් වැඩි දියුණු කිරිම සහ ජිවිත බේරාගැනිම මෙහි අරමුණයි.</a:t>
            </a:r>
          </a:p>
        </p:txBody>
      </p:sp>
    </p:spTree>
    <p:extLst>
      <p:ext uri="{BB962C8B-B14F-4D97-AF65-F5344CB8AC3E}">
        <p14:creationId xmlns:p14="http://schemas.microsoft.com/office/powerpoint/2010/main" val="76686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2592560"/>
              </p:ext>
            </p:extLst>
          </p:nvPr>
        </p:nvGraphicFramePr>
        <p:xfrm>
          <a:off x="251958" y="128340"/>
          <a:ext cx="11711441" cy="2388493"/>
        </p:xfrm>
        <a:graphic>
          <a:graphicData uri="http://schemas.openxmlformats.org/drawingml/2006/table">
            <a:tbl>
              <a:tblPr firstRow="1" firstCol="1" bandRow="1"/>
              <a:tblGrid>
                <a:gridCol w="3960813"/>
                <a:gridCol w="2884715"/>
                <a:gridCol w="4865913"/>
              </a:tblGrid>
              <a:tr h="3565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ඉලක්කය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(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Aims)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අරමුන (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Objective)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ඉගෙන ගැනිමේ ප්‍රතිඵල (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Learning outcome)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997079"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නාගරික ප්‍රදේ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ශය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තුළ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පරීක්ෂා කිරිම (සෙවිම්) සහ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මුදවා ගැනිමේ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ස්වභාවය සහ ජිවිත බේරාගැනිමේද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ි, එම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ස්ථා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නයට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පළමුව ආපදාවට ප්‍රත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ිචාර දැක්විමට පැමිණෙන පුද්ගලයින්ගේ වැදගත්කම අවබෝධ කරගැනිමට මෙම පුහුණු සැසියට සහභාගිවන්නන් හට අවස්ථාවක්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ලැබෙනු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ඇත.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ආපදාවට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ලක් වු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ග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ොඩනැගිලි වල ව්‍යුහාත්මක සැලැස්ම බිඳවැටි දින කිහිපයකට පසුව වුවද එයට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යටවු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පුද්ගලයින්ගේ ජිවිතය නොනැසි පවතින බව මෙම පුහුණුවට සහභාගිවන්නන්ට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අවබෝධයක්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ලබා ගත හැකිය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නාගරික </a:t>
                      </a:r>
                      <a:r>
                        <a:rPr lang="si-LK" sz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ප්‍රදේශය</a:t>
                      </a:r>
                      <a:r>
                        <a:rPr lang="si-LK" sz="12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තුළ සිදුකරන සෙවිම් </a:t>
                      </a:r>
                      <a:r>
                        <a:rPr lang="si-LK" sz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සහ </a:t>
                      </a:r>
                      <a:r>
                        <a:rPr lang="si-LK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පරීක්ෂා කිරිම නිර්වචනය කිරිම.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ග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ොඩනැගිලි බිඳවැටිමේදි එයට ගොදුරුවන පුද්ගලයින්ට ජිවිතය ආරක්ෂාකර ගැනිමට අවස්ථාව ලැබෙන බව අවබෝධ කරගැනිම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අනතුරකදි ජ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ිවිත බේරාගැනිම සදහා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එම අනතුරට පළම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ුව ප්‍රතිචාර දක්වන්නන්ගේ වැදගත්කම ඇගයීම.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මෙම පුහුණු සැසියේ ප්‍රතිඵලයක් ලෙස පාඨමාලාවට සහභාගි වන්නන්හට පහත හැකියාවන් / දැනුම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ලබා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ගත හැක.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ාරිභාෂිත වචන මාලාව මගින් නාගරික සෙවිම් සහ පරීක්ෂා කිරිම පිළිබදව අර්ථ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කථනයක්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ලබාදිම.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අනතුර සිදුවු ම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ුලික අධියරේදිම පළමුව ප්‍රතිචාර දක්වන්නන් විසින්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අනතුරට පත්වූවන්ගේ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ජ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ිවිත බේරා ගැනිමේ වැදගත්කම විස්තර කිරිම.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684396"/>
              </p:ext>
            </p:extLst>
          </p:nvPr>
        </p:nvGraphicFramePr>
        <p:xfrm>
          <a:off x="289403" y="2775858"/>
          <a:ext cx="11617552" cy="3747854"/>
        </p:xfrm>
        <a:graphic>
          <a:graphicData uri="http://schemas.openxmlformats.org/drawingml/2006/table">
            <a:tbl>
              <a:tblPr firstRow="1" firstCol="1" bandRow="1"/>
              <a:tblGrid>
                <a:gridCol w="2125209"/>
                <a:gridCol w="3897086"/>
                <a:gridCol w="5595257"/>
              </a:tblGrid>
              <a:tr h="2030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වේලාව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Time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අන්තර්ගතය (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Content)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ක්‍රියාකාරකම්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135923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15 යි.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පළම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ු ප්‍රතිචාර දක්වන්නන්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පිළීබදව අර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්ථ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කථනය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කිරිම.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අප මෙම ස්ථානයට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පැමිණියේ ඇයි?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ජිවිතය රැකගැනිමේ අවස්ථා.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පළමු ප්‍රතිචාර දක්වන්නන් ගේ කාර්යභාර්ය.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උපදේ</a:t>
                      </a:r>
                      <a:r>
                        <a:rPr lang="si-LK" sz="1200" b="1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ශක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පළමු ප්‍රතිචාර දක්වන්නන්ගේ අරමුණ පහදා දෙන්න. ගොඩනැගිලි කඩා වැටිමේදි එයට හසුවන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සමහර ප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ුද්ගලයින්ගේ ජිවිත ආරක්ෂා වන බව සහ මෙවැනි අනතුරුවලට ගොදුරුවන පුද්ගලයින් මූලික අවස්ථාවේදි පළමු ප්‍රතිචාර දක්වන්නන් විසින් බේරාගත හැකිබව විස්තර කරන්න. ගැලවිමේ හා බේරාගැනිමේ කාලරාමුව විස්තර කරන්න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. ම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ෙවැනි සිදුවීමකදි පළමු ප්‍රතිචාර දක්වන්නන්ගේ වැදගත්කම විස්තර කරන්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න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-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ම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ේ සදහා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ංඛ්‍යා ලේඛන භාවිතා කරන්න.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8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සහභාගිවන්නන්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: ඇහුම්කම්දිම සහ අවශ්‍ය පරිදි අන්තර් සම්බන්ධතාවය තබා ගැනිම.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076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10 යි.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සිද්ධි අධ්‍යයනය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: පවර් පොයින්ට් හෝ කෙටි චිත්‍රපටියක් මගින් ජිවිත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බේරා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ගැනිමේ සිද්ධියක්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නිරීක්ෂණය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කිරිම සහ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අධ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්‍යයනය කිරිමට ඉඩසලස්වන්න.එහි අඩංගු කරුණු පිළිබඳව සාකච්ඡා කරන්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න.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ජිවිතය රැකගැනිම් ස්වභාවය /අවස්ථාව පිළිබදව විස්තර කරන්න.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0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සහභාගිවන්නන්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: ඇහුම්කම්දීම සහ අවශ්‍ය පරිදි අන්තර් සම්බන්ධතාවය පවත්වා ගැනිම.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085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05 යි.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සාරාං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ශ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ගත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ක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ිරිම සහ ප්‍රශ්න ඇසිම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: සැසියේ සියලු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විෂය කරුණු ස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ාරාංශ ගත කිරිම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0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සහභාගීවන්</a:t>
                      </a:r>
                      <a:r>
                        <a:rPr lang="si-LK" sz="1200" b="1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නන්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ඇහුම්කම්දීම සහ අවශ්‍ය පරිදි සම්බන්ධතාවය පවත්වා ගැනිම. ප්‍රශ්න ඇසීම මගින් අවශ්‍ය විෂය කරුණු පැහැදිලිව අවබෝධ කරගැනිම.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89403" y="6604084"/>
            <a:ext cx="76014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i-LK" sz="1050" dirty="0"/>
              <a:t>විනාඩි </a:t>
            </a:r>
            <a:r>
              <a:rPr lang="si-LK" sz="1050" dirty="0" smtClean="0"/>
              <a:t>30ය</a:t>
            </a:r>
            <a:r>
              <a:rPr lang="si-LK" sz="1050" dirty="0"/>
              <a:t>ි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21744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422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0113730"/>
              </p:ext>
            </p:extLst>
          </p:nvPr>
        </p:nvGraphicFramePr>
        <p:xfrm>
          <a:off x="354240" y="883415"/>
          <a:ext cx="11478532" cy="5073800"/>
        </p:xfrm>
        <a:graphic>
          <a:graphicData uri="http://schemas.openxmlformats.org/drawingml/2006/table">
            <a:tbl>
              <a:tblPr firstRow="1" firstCol="1" bandRow="1"/>
              <a:tblGrid>
                <a:gridCol w="4308690"/>
                <a:gridCol w="7169842"/>
              </a:tblGrid>
              <a:tr h="39772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උපදේශන සටහන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61581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ආපදාවකට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පළම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ු ප්‍රතිචාර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දැක්වීම අර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්ථ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දැක්වීම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ඉදිරිපත් කිරි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+mn-cs"/>
                        </a:rPr>
                        <a:t>ම් (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Presentation</a:t>
                      </a:r>
                      <a:r>
                        <a:rPr lang="en-GB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s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) 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මග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ින් 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ආපදාවකට</a:t>
                      </a:r>
                      <a:r>
                        <a:rPr lang="si-LK" sz="14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පළම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ු ප්‍රතිචාර දක්වන්නන්ගේ සංකල්පය සහ කාර්යභාර්ය 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පිළීබද දැනුම වර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්ධනය 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කිරිම.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  <a:tab pos="5309235" algn="l"/>
                        </a:tabLst>
                      </a:pP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ඕනෑම ව්‍යවසනයකින් ජිවිතය බේරාගතහැක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ි බව 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අවධාරනය කරන්න. 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ජිවිත බේරා</a:t>
                      </a:r>
                      <a:r>
                        <a:rPr lang="si-LK" sz="14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ගැනිම රඳා පවතින්නේ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, ව්‍යවසනය සිදුවීමෙන් පසු පැය කිහිපයක් තුළ එම ප්‍රඡාව තුළ සිටින පුද්ගලයින්ගේ ක්‍රියාකාරකම් මත</a:t>
                      </a:r>
                      <a:r>
                        <a:rPr lang="si-LK" sz="14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බව.</a:t>
                      </a:r>
                    </a:p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  <a:tab pos="5309235" algn="l"/>
                        </a:tabLst>
                      </a:pP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්‍රඡාවට නායකත්වය අවශ්‍ය 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බවද, 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නියමිත මග පෙන්වීමක් සහ සාමාන්‍ය ජනතාවට යම් උපකරණ ප්‍රමාණයක් සහ පුහුණුවක් ලබාදිම මගින් 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ආපදා</a:t>
                      </a:r>
                      <a:r>
                        <a:rPr lang="si-LK" sz="14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අවස්ථාවකදි එයට ගොදුරු වූවන්ගේ 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ජ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ිවි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තය 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බේරාගැනිමට අවස්ථාව උදාවන බව අවධාරණය කරන්න.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73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ආපදා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ිද්ධි අධ්‍යයනය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ඉදිරිපත් කිරිමක් මගින් (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Slide show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)</a:t>
                      </a:r>
                      <a:r>
                        <a:rPr lang="si-LK" sz="14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(ප්‍රවෘත්ති දර්ශක උදාහරණ ලෙස ගෙන) 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තම 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ප්‍රදේශයේ මෑත කාලයේ සිදු වු ව්‍යවසනයක් පිළිබදව 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විස්තර ප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ෙන්වි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ම / විස්තර</a:t>
                      </a:r>
                      <a:r>
                        <a:rPr lang="si-LK" sz="14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ක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ිරි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මක් 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සිද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ුකරන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්න.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පර්යේෂණ වලින් සොයාගන්නා ලද 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තොරතුරු</a:t>
                      </a:r>
                      <a:r>
                        <a:rPr lang="si-LK" sz="14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අනුව යම් 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ව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්‍යවසනයකින් ජිවිත බේරාගත් පුද්ගලයින් පිළි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බදව</a:t>
                      </a:r>
                      <a:r>
                        <a:rPr lang="si-LK" sz="14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විස්තර කරන්න.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ප්‍රදේශයේ සිටින ජනතාව ස්වේච්ඡාවෙන් ඉදිරිපත් ව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ි, 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ව්‍යසනයකදි සිදු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කරන /</a:t>
                      </a:r>
                      <a:r>
                        <a:rPr lang="si-LK" sz="14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සිදුකළ හැකි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ක්‍රියාවන් හෝ ඔවුන්ගේ කාර්ය භාර්ය විස්තර කරන්න.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51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2ColumnText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308473" y="879087"/>
            <a:ext cx="3340100" cy="5688981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490653" y="1212052"/>
            <a:ext cx="4371278" cy="95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  <a:t>පළමුව </a:t>
            </a:r>
            <a:b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  <a:t>ප</a:t>
            </a:r>
            <a:r>
              <a:rPr lang="si-LK" sz="3100" b="1" dirty="0">
                <a:solidFill>
                  <a:prstClr val="black"/>
                </a:solidFill>
                <a:latin typeface="Calibri Light" panose="020F0302020204030204"/>
              </a:rPr>
              <a:t>්‍රතිචාර දක්වන්</a:t>
            </a:r>
            <a: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  <a:t>නන</a:t>
            </a:r>
            <a:r>
              <a:rPr lang="si-LK" sz="3100" b="1" dirty="0">
                <a:solidFill>
                  <a:prstClr val="black"/>
                </a:solidFill>
                <a:latin typeface="Calibri Light" panose="020F0302020204030204"/>
              </a:rPr>
              <a:t>්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653" y="2318934"/>
            <a:ext cx="8563384" cy="4694918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si-LK" dirty="0"/>
              <a:t>ඉදිරිපත් කිරිමේ මාතෘකා</a:t>
            </a:r>
            <a:r>
              <a:rPr lang="si-LK" dirty="0" smtClean="0"/>
              <a:t>ව		:-</a:t>
            </a:r>
            <a:r>
              <a:rPr lang="si-LK" dirty="0"/>
              <a:t>	පළම</a:t>
            </a:r>
            <a:r>
              <a:rPr lang="si-LK" dirty="0" smtClean="0"/>
              <a:t>ුව </a:t>
            </a:r>
            <a:r>
              <a:rPr lang="si-LK" dirty="0"/>
              <a:t>ප්‍රතිචාර දැක්වීම හදුන්වාදී</a:t>
            </a:r>
            <a:r>
              <a:rPr lang="si-LK" dirty="0" smtClean="0"/>
              <a:t>ම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si-LK" dirty="0" smtClean="0"/>
              <a:t>		ම</a:t>
            </a:r>
            <a:r>
              <a:rPr lang="si-LK" dirty="0"/>
              <a:t>ොඩියුලර</a:t>
            </a:r>
            <a:r>
              <a:rPr lang="si-LK" dirty="0" smtClean="0"/>
              <a:t>්	: 	1:1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si-LK" dirty="0"/>
              <a:t>ඉදිරිපත් කරන්</a:t>
            </a:r>
            <a:r>
              <a:rPr lang="si-LK" dirty="0" smtClean="0"/>
              <a:t>නා/ </a:t>
            </a:r>
            <a:r>
              <a:rPr lang="si-LK" dirty="0"/>
              <a:t>උපදේ</a:t>
            </a:r>
            <a:r>
              <a:rPr lang="si-LK" dirty="0" smtClean="0"/>
              <a:t>ශක	:-	ඉද</a:t>
            </a:r>
            <a:r>
              <a:rPr lang="si-LK" dirty="0"/>
              <a:t>ිරිපත් කරන්</a:t>
            </a:r>
            <a:r>
              <a:rPr lang="si-LK" dirty="0" smtClean="0"/>
              <a:t>නාගේ </a:t>
            </a:r>
            <a:r>
              <a:rPr lang="si-LK" dirty="0"/>
              <a:t>නම ඇතුළත් </a:t>
            </a:r>
            <a:r>
              <a:rPr lang="si-LK" dirty="0" smtClean="0"/>
              <a:t>						කරන</a:t>
            </a:r>
            <a:r>
              <a:rPr lang="si-LK" dirty="0"/>
              <a:t>්</a:t>
            </a:r>
            <a:r>
              <a:rPr lang="si-LK" dirty="0" smtClean="0"/>
              <a:t>න.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si-LK" dirty="0" smtClean="0"/>
          </a:p>
          <a:p>
            <a:pPr marL="0" indent="0">
              <a:buNone/>
            </a:pPr>
            <a:r>
              <a:rPr lang="si-LK" dirty="0"/>
              <a:t>	</a:t>
            </a:r>
            <a:r>
              <a:rPr lang="si-LK" dirty="0" smtClean="0"/>
              <a:t>																													</a:t>
            </a:r>
            <a:endParaRPr lang="en-US" dirty="0" smtClean="0"/>
          </a:p>
          <a:p>
            <a:pPr marL="0" indent="0">
              <a:buNone/>
            </a:pPr>
            <a:r>
              <a:rPr lang="en-US" sz="2300" dirty="0" smtClean="0">
                <a:solidFill>
                  <a:schemeClr val="bg1"/>
                </a:solidFill>
              </a:rPr>
              <a:t>Coordination Saves Lives</a:t>
            </a:r>
            <a:r>
              <a:rPr lang="en-US" dirty="0" smtClean="0">
                <a:solidFill>
                  <a:schemeClr val="bg1"/>
                </a:solidFill>
              </a:rPr>
              <a:t>							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smtClean="0">
                <a:solidFill>
                  <a:schemeClr val="bg1"/>
                </a:solidFill>
              </a:rPr>
              <a:t>	</a:t>
            </a:r>
            <a:r>
              <a:rPr lang="en-US" dirty="0" smtClean="0"/>
              <a:t>								</a:t>
            </a:r>
            <a:r>
              <a:rPr lang="si-LK" dirty="0" smtClean="0"/>
              <a:t>	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9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856" y="1411967"/>
            <a:ext cx="5410201" cy="42357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si-LK" sz="3600" b="1" dirty="0"/>
              <a:t>පළම</a:t>
            </a:r>
            <a:r>
              <a:rPr lang="si-LK" sz="3600" b="1" dirty="0" smtClean="0"/>
              <a:t>ුව ප</a:t>
            </a:r>
            <a:r>
              <a:rPr lang="si-LK" sz="3600" b="1" dirty="0"/>
              <a:t>්‍රතිචාර දැක්වීම හදුන්වාදි</a:t>
            </a:r>
            <a:r>
              <a:rPr lang="si-LK" sz="3600" b="1" dirty="0" smtClean="0"/>
              <a:t>ම</a:t>
            </a:r>
            <a:endParaRPr lang="en-US" sz="3600" b="1" dirty="0" smtClean="0"/>
          </a:p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endParaRPr lang="en-US" sz="3600" b="1" dirty="0" smtClean="0"/>
          </a:p>
          <a:p>
            <a:pPr marL="0" indent="0" algn="ctr">
              <a:buNone/>
            </a:pPr>
            <a:r>
              <a:rPr lang="si-LK" dirty="0"/>
              <a:t>පළමුව ප්‍රතිචාර දැක්වීම යනු කුමක්ද?</a:t>
            </a:r>
            <a:endParaRPr lang="en-US" dirty="0"/>
          </a:p>
          <a:p>
            <a:pPr marL="0" indent="0" algn="ctr">
              <a:buNone/>
            </a:pPr>
            <a:endParaRPr lang="en-US" sz="3600" b="1" dirty="0" smtClean="0"/>
          </a:p>
          <a:p>
            <a:pPr marL="0" indent="0" algn="ctr">
              <a:buNone/>
            </a:pPr>
            <a:endParaRPr lang="si-LK" sz="3600" b="1" dirty="0" smtClean="0"/>
          </a:p>
          <a:p>
            <a:endParaRPr lang="si-LK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11" name="Picture 10" descr="Overlay-2ColumnText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8255044" y="223365"/>
            <a:ext cx="3340100" cy="5688981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sp>
        <p:nvSpPr>
          <p:cNvPr id="12" name="Title 3"/>
          <p:cNvSpPr txBox="1">
            <a:spLocks noGrp="1"/>
          </p:cNvSpPr>
          <p:nvPr>
            <p:ph type="title"/>
          </p:nvPr>
        </p:nvSpPr>
        <p:spPr>
          <a:xfrm>
            <a:off x="8577943" y="538325"/>
            <a:ext cx="274320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i-LK" sz="2400" b="1" dirty="0" smtClean="0">
                <a:solidFill>
                  <a:prstClr val="black"/>
                </a:solidFill>
                <a:latin typeface="Calibri Light" panose="020F0302020204030204"/>
              </a:rPr>
              <a:t>පළමුව </a:t>
            </a:r>
            <a:br>
              <a:rPr lang="si-LK" sz="24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2400" b="1" dirty="0" smtClean="0">
                <a:solidFill>
                  <a:prstClr val="black"/>
                </a:solidFill>
                <a:latin typeface="Calibri Light" panose="020F0302020204030204"/>
              </a:rPr>
              <a:t>ප</a:t>
            </a:r>
            <a:r>
              <a:rPr lang="si-LK" sz="2400" b="1" dirty="0">
                <a:solidFill>
                  <a:prstClr val="black"/>
                </a:solidFill>
                <a:latin typeface="Calibri Light" panose="020F0302020204030204"/>
              </a:rPr>
              <a:t>්‍රතිචාර දක්වන්</a:t>
            </a:r>
            <a:r>
              <a:rPr lang="si-LK" sz="2400" b="1" dirty="0" smtClean="0">
                <a:solidFill>
                  <a:prstClr val="black"/>
                </a:solidFill>
                <a:latin typeface="Calibri Light" panose="020F0302020204030204"/>
              </a:rPr>
              <a:t>නන</a:t>
            </a:r>
            <a:r>
              <a:rPr lang="si-LK" sz="2400" b="1" dirty="0">
                <a:solidFill>
                  <a:prstClr val="black"/>
                </a:solidFill>
                <a:latin typeface="Calibri Light" panose="020F0302020204030204"/>
              </a:rPr>
              <a:t>්</a:t>
            </a:r>
            <a:endParaRPr lang="en-US" sz="2400" b="1" dirty="0"/>
          </a:p>
        </p:txBody>
      </p:sp>
      <p:sp>
        <p:nvSpPr>
          <p:cNvPr id="13" name="Rectangle 12"/>
          <p:cNvSpPr/>
          <p:nvPr/>
        </p:nvSpPr>
        <p:spPr>
          <a:xfrm>
            <a:off x="8668899" y="5278398"/>
            <a:ext cx="2490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Coordination Saves Lives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1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0070" y="1442559"/>
            <a:ext cx="10515600" cy="1711123"/>
          </a:xfrm>
        </p:spPr>
        <p:txBody>
          <a:bodyPr>
            <a:normAutofit fontScale="90000"/>
          </a:bodyPr>
          <a:lstStyle/>
          <a:p>
            <a:r>
              <a:rPr lang="si-LK" dirty="0"/>
              <a:t>පළම</a:t>
            </a:r>
            <a:r>
              <a:rPr lang="si-LK" dirty="0" smtClean="0"/>
              <a:t>ුව </a:t>
            </a:r>
            <a:r>
              <a:rPr lang="si-LK" dirty="0"/>
              <a:t>ප්‍රතිචාර දැක්වීම හඳුන්වාදී</a:t>
            </a:r>
            <a:r>
              <a:rPr lang="si-LK" dirty="0" smtClean="0"/>
              <a:t>ම</a:t>
            </a:r>
            <a:br>
              <a:rPr lang="si-LK" dirty="0" smtClean="0"/>
            </a:br>
            <a:r>
              <a:rPr lang="si-LK" sz="3600" dirty="0" smtClean="0"/>
              <a:t>ඉග</a:t>
            </a:r>
            <a:r>
              <a:rPr lang="si-LK" sz="3600" dirty="0"/>
              <a:t>ෙන ගැනිමේ ප්‍රතිඵල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829" y="2642053"/>
            <a:ext cx="10515600" cy="435133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si-LK" dirty="0"/>
              <a:t>පළම</a:t>
            </a:r>
            <a:r>
              <a:rPr lang="si-LK" dirty="0" smtClean="0"/>
              <a:t>ුව </a:t>
            </a:r>
            <a:r>
              <a:rPr lang="si-LK" dirty="0"/>
              <a:t>ප්‍රතිචාර දක්වන්නන්ගේ </a:t>
            </a:r>
            <a:r>
              <a:rPr lang="si-LK" dirty="0" smtClean="0"/>
              <a:t>කාර්ය, භාරය ප</a:t>
            </a:r>
            <a:r>
              <a:rPr lang="si-LK" dirty="0"/>
              <a:t>ිළි</a:t>
            </a:r>
            <a:r>
              <a:rPr lang="si-LK" dirty="0" smtClean="0"/>
              <a:t>බදව වැඩි දියුණූ කර ගත් දැනුම බෙදා හැරීම.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si-LK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si-LK" dirty="0" smtClean="0"/>
              <a:t>යම</a:t>
            </a:r>
            <a:r>
              <a:rPr lang="si-LK" dirty="0"/>
              <a:t>් කිසි සිද්ධියක</a:t>
            </a:r>
            <a:r>
              <a:rPr lang="si-LK" dirty="0" smtClean="0"/>
              <a:t>්, සිදුවී </a:t>
            </a:r>
            <a:r>
              <a:rPr lang="si-LK" dirty="0"/>
              <a:t>පළමු අධියරේදි </a:t>
            </a:r>
            <a:r>
              <a:rPr lang="si-LK" dirty="0" smtClean="0"/>
              <a:t>අනතුරට පත් පුද්ගලයින්ගේ ජ</a:t>
            </a:r>
            <a:r>
              <a:rPr lang="si-LK" dirty="0"/>
              <a:t>ිවිත බේරාගැනිම සදහා පළම</a:t>
            </a:r>
            <a:r>
              <a:rPr lang="si-LK" dirty="0" smtClean="0"/>
              <a:t>ුව </a:t>
            </a:r>
            <a:r>
              <a:rPr lang="si-LK" dirty="0"/>
              <a:t>ප්‍රතිචාර දක්වන්නන්ගේ ක්‍රියාකාරීත්</a:t>
            </a:r>
            <a:r>
              <a:rPr lang="si-LK" dirty="0" smtClean="0"/>
              <a:t>වයේ </a:t>
            </a:r>
            <a:r>
              <a:rPr lang="si-LK" dirty="0"/>
              <a:t>වැදගත්කම තේරුම් ගැනි</a:t>
            </a:r>
            <a:r>
              <a:rPr lang="si-LK" dirty="0" smtClean="0"/>
              <a:t>ම.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473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0941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si-LK" dirty="0"/>
              <a:t>ඇයි අප මෙතන?</a:t>
            </a:r>
            <a:r>
              <a:rPr lang="en-US" dirty="0"/>
              <a:t/>
            </a:r>
            <a:br>
              <a:rPr lang="en-US" dirty="0"/>
            </a:br>
            <a:r>
              <a:rPr lang="si-LK" sz="3600" dirty="0" smtClean="0"/>
              <a:t>කර</a:t>
            </a:r>
            <a:r>
              <a:rPr lang="si-LK" sz="3600" dirty="0"/>
              <a:t>ුණ</a:t>
            </a:r>
            <a:r>
              <a:rPr lang="si-LK" sz="3600" dirty="0" smtClean="0"/>
              <a:t>ු කෙටියෙන් විස්තර කිරිම</a:t>
            </a:r>
            <a:r>
              <a:rPr lang="si-LK" dirty="0"/>
              <a:t/>
            </a:r>
            <a:br>
              <a:rPr lang="si-LK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pPr lvl="0" algn="just"/>
            <a:r>
              <a:rPr lang="si-LK" dirty="0"/>
              <a:t>පසුගිය දශක දෙක තුළ වර්තාගත ආපදා </a:t>
            </a:r>
            <a:r>
              <a:rPr lang="si-LK" dirty="0" smtClean="0"/>
              <a:t>ස</a:t>
            </a:r>
            <a:r>
              <a:rPr lang="si-LK" dirty="0"/>
              <a:t>ිදු වු ප්‍රමාණය </a:t>
            </a:r>
            <a:r>
              <a:rPr lang="si-LK" dirty="0" smtClean="0"/>
              <a:t>වසරකට සිදුවීම් 200 </a:t>
            </a:r>
            <a:r>
              <a:rPr lang="si-LK" dirty="0"/>
              <a:t>සිට 400 දක්වා දෙගු</a:t>
            </a:r>
            <a:r>
              <a:rPr lang="si-LK" dirty="0" smtClean="0"/>
              <a:t>ණයකින් වැඩි වි ඇත</a:t>
            </a:r>
            <a:r>
              <a:rPr lang="si-LK" dirty="0"/>
              <a:t>.</a:t>
            </a:r>
            <a:endParaRPr lang="en-US" dirty="0"/>
          </a:p>
          <a:p>
            <a:pPr lvl="0" algn="just"/>
            <a:r>
              <a:rPr lang="si-LK" dirty="0"/>
              <a:t>පසුගිය වසර 18 තුළ , ඉතා දරුණු ව්‍යවසනයන් 11,000ක් සිදු වී ඇති </a:t>
            </a:r>
            <a:r>
              <a:rPr lang="si-LK" dirty="0" smtClean="0"/>
              <a:t>අතර, </a:t>
            </a:r>
            <a:r>
              <a:rPr lang="si-LK" dirty="0"/>
              <a:t>එමගින් ජිවිත 600,000 </a:t>
            </a:r>
            <a:r>
              <a:rPr lang="si-LK" dirty="0" smtClean="0"/>
              <a:t>ක් පමණ </a:t>
            </a:r>
            <a:r>
              <a:rPr lang="si-LK" dirty="0"/>
              <a:t>බිලිගෙන ඇති </a:t>
            </a:r>
            <a:r>
              <a:rPr lang="si-LK" dirty="0" smtClean="0"/>
              <a:t>අතර, ම</a:t>
            </a:r>
            <a:r>
              <a:rPr lang="si-LK" dirty="0"/>
              <a:t>ේ සදහා </a:t>
            </a:r>
            <a:r>
              <a:rPr lang="si-LK" dirty="0" smtClean="0"/>
              <a:t>ඇමරිකානු ඩ</a:t>
            </a:r>
            <a:r>
              <a:rPr lang="si-LK" dirty="0"/>
              <a:t>ොලර් </a:t>
            </a:r>
            <a:r>
              <a:rPr lang="si-LK" dirty="0" smtClean="0"/>
              <a:t>ට්‍රිලියන 1.7ක</a:t>
            </a:r>
            <a:r>
              <a:rPr lang="si-LK" dirty="0"/>
              <a:t>් (</a:t>
            </a:r>
            <a:r>
              <a:rPr lang="en-US" dirty="0"/>
              <a:t>US) </a:t>
            </a:r>
            <a:r>
              <a:rPr lang="si-LK" dirty="0" smtClean="0"/>
              <a:t>පමණ ව</a:t>
            </a:r>
            <a:r>
              <a:rPr lang="si-LK" dirty="0"/>
              <a:t>ැය කර ඇත.</a:t>
            </a:r>
            <a:endParaRPr lang="en-US" dirty="0"/>
          </a:p>
          <a:p>
            <a:pPr lvl="0" algn="just"/>
            <a:r>
              <a:rPr lang="si-LK" dirty="0"/>
              <a:t>භුමි කම්පා </a:t>
            </a:r>
            <a:r>
              <a:rPr lang="si-LK" dirty="0" smtClean="0"/>
              <a:t>ම</a:t>
            </a:r>
            <a:r>
              <a:rPr lang="si-LK" dirty="0"/>
              <a:t>ාරන්තික උවදුරක්වේ. වසර 2000 සහ 2009 අතර දශකය කාලය තුළ සිදු වු ස්වාභාවික විපත් හේතුවෙන් සිදු වු මරණ වලින් 60% වැඩි ප්‍රමාණයක් භූ කම්පා විසින් සිදු වු හානිය නිසා සිදු වී ඇත.</a:t>
            </a:r>
            <a:endParaRPr lang="en-US" dirty="0"/>
          </a:p>
          <a:p>
            <a:pPr lvl="0" algn="just"/>
            <a:r>
              <a:rPr lang="si-LK" dirty="0"/>
              <a:t>එක්සත් ජනපද භූ විද්‍යා සමීක්ෂණ </a:t>
            </a:r>
            <a:r>
              <a:rPr lang="si-LK" dirty="0" smtClean="0"/>
              <a:t>ආයතනයට (</a:t>
            </a:r>
            <a:r>
              <a:rPr lang="en-GB" dirty="0" smtClean="0"/>
              <a:t>USGS)</a:t>
            </a:r>
            <a:r>
              <a:rPr lang="si-LK" dirty="0" smtClean="0"/>
              <a:t> අයත් ජ</a:t>
            </a:r>
            <a:r>
              <a:rPr lang="si-LK" dirty="0"/>
              <a:t>ාතික භූමි කම්පා තොරතුරු මධ්‍යස්ථා</a:t>
            </a:r>
            <a:r>
              <a:rPr lang="si-LK" dirty="0" smtClean="0"/>
              <a:t>නය (</a:t>
            </a:r>
            <a:r>
              <a:rPr lang="en-GB" dirty="0" smtClean="0"/>
              <a:t>NEICE) </a:t>
            </a:r>
            <a:r>
              <a:rPr lang="si-LK" dirty="0" smtClean="0"/>
              <a:t>මගින් ස</a:t>
            </a:r>
            <a:r>
              <a:rPr lang="si-LK" dirty="0"/>
              <a:t>ෑම දිනකම භූමි කම්පා 50 වැඩි ප්‍රමාණයක් සිදුවන බව වාර්තා කර ඇත.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96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56" y="96066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si-LK" dirty="0"/>
              <a:t>ඇයි අප මෙතන?</a:t>
            </a:r>
            <a:r>
              <a:rPr lang="en-US" dirty="0"/>
              <a:t/>
            </a:r>
            <a:br>
              <a:rPr lang="en-US" dirty="0"/>
            </a:br>
            <a:r>
              <a:rPr lang="si-LK" sz="3600" dirty="0" smtClean="0"/>
              <a:t>කර</a:t>
            </a:r>
            <a:r>
              <a:rPr lang="si-LK" sz="3600" dirty="0"/>
              <a:t>ුණ</a:t>
            </a:r>
            <a:r>
              <a:rPr lang="si-LK" sz="3600" dirty="0" smtClean="0"/>
              <a:t>ු කෙටියෙන් විස්තර කිරිම.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914" y="2289175"/>
            <a:ext cx="10515600" cy="4351338"/>
          </a:xfrm>
        </p:spPr>
        <p:txBody>
          <a:bodyPr/>
          <a:lstStyle/>
          <a:p>
            <a:pPr lvl="0" algn="just"/>
            <a:r>
              <a:rPr lang="si-LK" sz="2400" dirty="0"/>
              <a:t>භූමි කම්පාවක් වැනි ස්වාභාවික විපතක් සිදු වි පැය 72 කාලය තුළ තුවාල </a:t>
            </a:r>
            <a:r>
              <a:rPr lang="si-LK" sz="2400" dirty="0" smtClean="0"/>
              <a:t>සිදුවීම හා මරණ උච</a:t>
            </a:r>
            <a:r>
              <a:rPr lang="si-LK" sz="2400" dirty="0"/>
              <a:t>්චතම අවස්ථාවට පත්වේ.මෙම කාලයෙන් පසුව ජිවත්වන්නන්ගේ  අවස්ථාව අඩුවේ.</a:t>
            </a:r>
            <a:endParaRPr lang="en-US" sz="2400" dirty="0"/>
          </a:p>
          <a:p>
            <a:pPr lvl="0" algn="just"/>
            <a:r>
              <a:rPr lang="si-LK" sz="2400" dirty="0" smtClean="0"/>
              <a:t>භූමිකම්පා අවස්ථාවකදි සිදුවන ප්‍රධාන ව්‍යවසනය වන්නේ ගොඩනැගිලි කඩා වැටිමයි. එමගින් සිදුවන මරණ වලින් 75% ක් සිදුවන්නේ ප්‍රධාන වශයෙන් ග</a:t>
            </a:r>
            <a:r>
              <a:rPr lang="si-LK" sz="2400" dirty="0"/>
              <a:t>ොඩනැගිලි කඩ</a:t>
            </a:r>
            <a:r>
              <a:rPr lang="si-LK" sz="2400" dirty="0" smtClean="0"/>
              <a:t>ා</a:t>
            </a:r>
            <a:r>
              <a:rPr lang="si-LK" sz="2400" dirty="0"/>
              <a:t> </a:t>
            </a:r>
            <a:r>
              <a:rPr lang="si-LK" sz="2400" dirty="0" smtClean="0"/>
              <a:t>වැටීම නිසාය. </a:t>
            </a:r>
          </a:p>
          <a:p>
            <a:pPr lvl="0" algn="just"/>
            <a:r>
              <a:rPr lang="si-LK" sz="2400" dirty="0" smtClean="0"/>
              <a:t>ම</a:t>
            </a:r>
            <a:r>
              <a:rPr lang="si-LK" sz="2400" dirty="0"/>
              <a:t>ෙසේ ගොඩනැගිලි කඩා වැටිම්වල හිර වී සිටින්නන් පැය 48 වඩා කාලයක</a:t>
            </a:r>
            <a:r>
              <a:rPr lang="si-LK" sz="2400" dirty="0" smtClean="0"/>
              <a:t>් ජිවත්ව සිටින්නේ </a:t>
            </a:r>
            <a:r>
              <a:rPr lang="si-LK" sz="2400" dirty="0"/>
              <a:t>සිටින්නේ කලාතුරකිනි. </a:t>
            </a:r>
            <a:r>
              <a:rPr lang="si-LK" sz="2400" dirty="0" smtClean="0"/>
              <a:t>භ</a:t>
            </a:r>
            <a:r>
              <a:rPr lang="si-LK" sz="2400" dirty="0"/>
              <a:t>ුමි කම්පාවකින් පසු කඩා වැටුණු ගොඩනැගිලි තුළ සිර වි ඇති පුද්ගලයින</a:t>
            </a:r>
            <a:r>
              <a:rPr lang="si-LK" sz="2400" dirty="0" smtClean="0"/>
              <a:t>්ගෙන් ජ</a:t>
            </a:r>
            <a:r>
              <a:rPr lang="si-LK" sz="2400" dirty="0"/>
              <a:t>ිවිත බේරාගත් පුද්ගලය</a:t>
            </a:r>
            <a:r>
              <a:rPr lang="si-LK" sz="2400" dirty="0" smtClean="0"/>
              <a:t>ින් සිටීනම් ඔවුන් පළම</a:t>
            </a:r>
            <a:r>
              <a:rPr lang="si-LK" sz="2400" dirty="0"/>
              <a:t>ු පැය 24 – 48 කාලය තුළ බේරාගත් </a:t>
            </a:r>
            <a:r>
              <a:rPr lang="si-LK" sz="2400" dirty="0" smtClean="0"/>
              <a:t>පුද්ගලයින් වේ.</a:t>
            </a:r>
            <a:endParaRPr lang="en-US" sz="2400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54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057" y="778783"/>
            <a:ext cx="10515600" cy="1039132"/>
          </a:xfrm>
        </p:spPr>
        <p:txBody>
          <a:bodyPr>
            <a:normAutofit fontScale="90000"/>
          </a:bodyPr>
          <a:lstStyle/>
          <a:p>
            <a:r>
              <a:rPr lang="si-LK" dirty="0"/>
              <a:t>ඇයි අප මෙතන</a:t>
            </a:r>
            <a:r>
              <a:rPr lang="en-US" dirty="0"/>
              <a:t>?</a:t>
            </a:r>
            <a:br>
              <a:rPr lang="en-US" dirty="0"/>
            </a:br>
            <a:r>
              <a:rPr lang="si-LK" sz="3600" dirty="0" smtClean="0"/>
              <a:t>කරුණූ කෙටියෙන් විස්තරය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4744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lvl="0" algn="just"/>
            <a:r>
              <a:rPr lang="si-LK" dirty="0"/>
              <a:t>මෙම ගොඩනැගිලි කඩාවැටිම් සුන්බුන් වලට සිරවුණු පුද්ගලයින් දින </a:t>
            </a:r>
            <a:r>
              <a:rPr lang="si-LK" dirty="0" smtClean="0"/>
              <a:t>3-4 </a:t>
            </a:r>
            <a:r>
              <a:rPr lang="si-LK" dirty="0"/>
              <a:t>ක් නොමැරි ජිවත</a:t>
            </a:r>
            <a:r>
              <a:rPr lang="si-LK" dirty="0" smtClean="0"/>
              <a:t>්</a:t>
            </a:r>
            <a:r>
              <a:rPr lang="si-LK" dirty="0"/>
              <a:t> </a:t>
            </a:r>
            <a:r>
              <a:rPr lang="si-LK" dirty="0" smtClean="0"/>
              <a:t>විය හැක. </a:t>
            </a:r>
            <a:r>
              <a:rPr lang="si-LK" dirty="0"/>
              <a:t>නමුත් </a:t>
            </a:r>
            <a:r>
              <a:rPr lang="si-LK" dirty="0" smtClean="0"/>
              <a:t>හ</a:t>
            </a:r>
            <a:r>
              <a:rPr lang="si-LK" dirty="0"/>
              <a:t>ොඳ තත්වයක් යටතේ </a:t>
            </a:r>
            <a:r>
              <a:rPr lang="si-LK" dirty="0" smtClean="0"/>
              <a:t>(ආහාර සහ ජලය ලැබේ නම්) ජ</a:t>
            </a:r>
            <a:r>
              <a:rPr lang="si-LK" dirty="0"/>
              <a:t>ිවත් විම සති 02ක් පමණ කාලයක</a:t>
            </a:r>
            <a:r>
              <a:rPr lang="si-LK" dirty="0" smtClean="0"/>
              <a:t>්</a:t>
            </a:r>
            <a:r>
              <a:rPr lang="si-LK" dirty="0"/>
              <a:t> </a:t>
            </a:r>
            <a:r>
              <a:rPr lang="si-LK" dirty="0" smtClean="0"/>
              <a:t>පමණ වුවද විය හැක. </a:t>
            </a:r>
          </a:p>
          <a:p>
            <a:pPr lvl="0" algn="just"/>
            <a:r>
              <a:rPr lang="si-LK" dirty="0" smtClean="0"/>
              <a:t>ම</a:t>
            </a:r>
            <a:r>
              <a:rPr lang="si-LK" dirty="0"/>
              <a:t>ුදවා ගැනිම් ප්‍රමාණයේ අනුපාතය රදාපවතින්නේ සිදුකරන පරීක්ෂාකිරිම සහ මුදවා ගැනිම (</a:t>
            </a:r>
            <a:r>
              <a:rPr lang="en-US" dirty="0"/>
              <a:t>SAR) </a:t>
            </a:r>
            <a:r>
              <a:rPr lang="si-LK" dirty="0"/>
              <a:t>හි ඵලදායි තත්වය </a:t>
            </a:r>
            <a:r>
              <a:rPr lang="si-LK" dirty="0" smtClean="0"/>
              <a:t>මත වේ. එනම</a:t>
            </a:r>
            <a:r>
              <a:rPr lang="si-LK" dirty="0"/>
              <a:t>් මෙම </a:t>
            </a:r>
            <a:r>
              <a:rPr lang="en-US" dirty="0"/>
              <a:t>SAR </a:t>
            </a:r>
            <a:r>
              <a:rPr lang="si-LK" dirty="0"/>
              <a:t>ඵලදායී තත්වය රදා පවතින්න</a:t>
            </a:r>
            <a:r>
              <a:rPr lang="si-LK" dirty="0" smtClean="0"/>
              <a:t>ේ:</a:t>
            </a:r>
            <a:endParaRPr lang="en-US" dirty="0"/>
          </a:p>
          <a:p>
            <a:pPr marL="0" lvl="0" indent="0" algn="just">
              <a:buNone/>
            </a:pPr>
            <a:r>
              <a:rPr lang="si-LK" dirty="0" smtClean="0"/>
              <a:t>	-ග</a:t>
            </a:r>
            <a:r>
              <a:rPr lang="si-LK" dirty="0"/>
              <a:t>ොඩනැගිල්ලේ කඩා වැටි ඇති ප්‍රමා</a:t>
            </a:r>
            <a:r>
              <a:rPr lang="si-LK" dirty="0" smtClean="0"/>
              <a:t>ණය මත.</a:t>
            </a:r>
            <a:endParaRPr lang="en-US" dirty="0"/>
          </a:p>
          <a:p>
            <a:pPr marL="0" lvl="0" indent="0" algn="just">
              <a:buNone/>
            </a:pPr>
            <a:r>
              <a:rPr lang="si-LK" dirty="0" smtClean="0"/>
              <a:t>	-ප</a:t>
            </a:r>
            <a:r>
              <a:rPr lang="si-LK" dirty="0"/>
              <a:t>්‍රාදේශීය ප්‍රජාවගේ හැකියා</a:t>
            </a:r>
            <a:r>
              <a:rPr lang="si-LK" dirty="0" smtClean="0"/>
              <a:t>ව මත සහ එම ප්‍රදේශයේ ඇති අත</a:t>
            </a:r>
            <a:r>
              <a:rPr lang="si-LK" dirty="0"/>
              <a:t>ිරේඛව </a:t>
            </a:r>
            <a:r>
              <a:rPr lang="en-US" dirty="0"/>
              <a:t>SAR </a:t>
            </a:r>
            <a:r>
              <a:rPr lang="si-LK" dirty="0" smtClean="0"/>
              <a:t>	කණ</a:t>
            </a:r>
            <a:r>
              <a:rPr lang="si-LK" dirty="0"/>
              <a:t>්ඩායම් </a:t>
            </a:r>
            <a:r>
              <a:rPr lang="si-LK" dirty="0" smtClean="0"/>
              <a:t>වල හැකියාව මත.</a:t>
            </a:r>
            <a:endParaRPr lang="en-US" dirty="0"/>
          </a:p>
          <a:p>
            <a:pPr marL="0" lvl="0" indent="0" algn="just">
              <a:buNone/>
            </a:pPr>
            <a:r>
              <a:rPr lang="si-LK" dirty="0" smtClean="0"/>
              <a:t>	-ම</a:t>
            </a:r>
            <a:r>
              <a:rPr lang="si-LK" dirty="0"/>
              <a:t>ුදවා ගැනිමේ කණ්ඩායමට එම ස්ථානයට ළඟා විමට ඇති දුර හා කාලය </a:t>
            </a:r>
            <a:r>
              <a:rPr lang="si-LK" dirty="0" smtClean="0"/>
              <a:t>	අන</a:t>
            </a:r>
            <a:r>
              <a:rPr lang="si-LK" dirty="0"/>
              <a:t>ුව.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1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857" y="680811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3600" b="1" u="sng" dirty="0" smtClean="0"/>
              <a:t/>
            </a:r>
            <a:br>
              <a:rPr lang="en-US" sz="3600" b="1" u="sng" dirty="0" smtClean="0"/>
            </a:br>
            <a:r>
              <a:rPr lang="en-US" sz="3600" b="1" u="sng" dirty="0"/>
              <a:t/>
            </a:r>
            <a:br>
              <a:rPr lang="en-US" sz="3600" b="1" u="sng" dirty="0"/>
            </a:br>
            <a:r>
              <a:rPr lang="en-US" sz="3600" b="1" u="sng" dirty="0" smtClean="0"/>
              <a:t/>
            </a:r>
            <a:br>
              <a:rPr lang="en-US" sz="3600" b="1" u="sng" dirty="0" smtClean="0"/>
            </a:br>
            <a:r>
              <a:rPr lang="si-LK" sz="3600" b="1" u="sng" dirty="0" smtClean="0"/>
              <a:t>ව්‍යාසනයක ක</a:t>
            </a:r>
            <a:r>
              <a:rPr lang="si-LK" sz="3600" b="1" u="sng" dirty="0"/>
              <a:t>ාල රාමුව 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si-LK" sz="2700" dirty="0"/>
              <a:t>අත්දැකිම් වලින් පෙන්නුම් කරනුයේ පහත </a:t>
            </a:r>
            <a:r>
              <a:rPr lang="si-LK" sz="2700" dirty="0" smtClean="0"/>
              <a:t>පෙන්වා ඇති ක</a:t>
            </a:r>
            <a:r>
              <a:rPr lang="si-LK" sz="2700" dirty="0"/>
              <a:t>ාල රාමු</a:t>
            </a:r>
            <a:r>
              <a:rPr lang="si-LK" sz="2700" dirty="0" smtClean="0"/>
              <a:t>ව ගොඩනැගිලි </a:t>
            </a:r>
            <a:r>
              <a:rPr lang="si-LK" sz="2700" dirty="0"/>
              <a:t>ව්‍යුහයක කඩා වැටී</a:t>
            </a:r>
            <a:r>
              <a:rPr lang="si-LK" sz="2700" dirty="0" smtClean="0"/>
              <a:t>මක </a:t>
            </a:r>
            <a:r>
              <a:rPr lang="si-LK" sz="2700" dirty="0"/>
              <a:t>සිදුවීමකට ඉතා සමාන බවයි.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6" name="Text Box 2"/>
          <p:cNvSpPr txBox="1">
            <a:spLocks noChangeArrowheads="1"/>
          </p:cNvSpPr>
          <p:nvPr/>
        </p:nvSpPr>
        <p:spPr bwMode="auto">
          <a:xfrm rot="16200000">
            <a:off x="2948915" y="3838650"/>
            <a:ext cx="1416685" cy="32284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si-LK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Iskoola Pota" panose="02010503010101010104" pitchFamily="2" charset="0"/>
              </a:rPr>
              <a:t>තමා විසින් බේරීම</a:t>
            </a:r>
            <a:endParaRPr lang="en-US" sz="1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Iskoola Pota" panose="02010503010101010104" pitchFamily="2" charset="0"/>
            </a:endParaRPr>
          </a:p>
        </p:txBody>
      </p:sp>
      <p:sp>
        <p:nvSpPr>
          <p:cNvPr id="57" name="Text Box 2"/>
          <p:cNvSpPr txBox="1">
            <a:spLocks noChangeArrowheads="1"/>
          </p:cNvSpPr>
          <p:nvPr/>
        </p:nvSpPr>
        <p:spPr bwMode="auto">
          <a:xfrm rot="16200000">
            <a:off x="3545779" y="3590920"/>
            <a:ext cx="1895986" cy="55335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si-LK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Iskoola Pota" panose="02010503010101010104" pitchFamily="2" charset="0"/>
              </a:rPr>
              <a:t>අසලින් ගමන් කරන්නන් බේරාගැනිමට එක්වීම</a:t>
            </a:r>
            <a:endParaRPr lang="en-US" sz="1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Iskoola Pota" panose="02010503010101010104" pitchFamily="2" charset="0"/>
            </a:endParaRPr>
          </a:p>
        </p:txBody>
      </p:sp>
      <p:sp>
        <p:nvSpPr>
          <p:cNvPr id="58" name="Text Box 2"/>
          <p:cNvSpPr txBox="1">
            <a:spLocks noChangeArrowheads="1"/>
          </p:cNvSpPr>
          <p:nvPr/>
        </p:nvSpPr>
        <p:spPr bwMode="auto">
          <a:xfrm rot="16200000">
            <a:off x="4139992" y="3596551"/>
            <a:ext cx="2282361" cy="55335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si-LK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Iskoola Pota" panose="02010503010101010104" pitchFamily="2" charset="0"/>
              </a:rPr>
              <a:t>පළමු ප්‍රතිචාර දක්වන්නන් ළඟාවීම</a:t>
            </a:r>
            <a:endParaRPr lang="en-US" sz="1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Iskoola Pota" panose="02010503010101010104" pitchFamily="2" charset="0"/>
            </a:endParaRPr>
          </a:p>
        </p:txBody>
      </p:sp>
      <p:sp>
        <p:nvSpPr>
          <p:cNvPr id="59" name="Text Box 2"/>
          <p:cNvSpPr txBox="1">
            <a:spLocks noChangeArrowheads="1"/>
          </p:cNvSpPr>
          <p:nvPr/>
        </p:nvSpPr>
        <p:spPr bwMode="auto">
          <a:xfrm rot="16200000">
            <a:off x="4916404" y="3585562"/>
            <a:ext cx="2483408" cy="55335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si-LK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Iskoola Pota" panose="02010503010101010104" pitchFamily="2" charset="0"/>
              </a:rPr>
              <a:t>පහත කණ්ඩායම් යාබද නගර සහ ප්‍රදේශවලින් ළඟාවීම</a:t>
            </a:r>
            <a:endParaRPr lang="en-US" sz="1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Iskoola Pota" panose="02010503010101010104" pitchFamily="2" charset="0"/>
            </a:endParaRPr>
          </a:p>
        </p:txBody>
      </p:sp>
      <p:sp>
        <p:nvSpPr>
          <p:cNvPr id="60" name="Text Box 2"/>
          <p:cNvSpPr txBox="1">
            <a:spLocks noChangeArrowheads="1"/>
          </p:cNvSpPr>
          <p:nvPr/>
        </p:nvSpPr>
        <p:spPr bwMode="auto">
          <a:xfrm rot="16200000">
            <a:off x="5495260" y="3535769"/>
            <a:ext cx="3052895" cy="55335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si-LK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Iskoola Pota" panose="02010503010101010104" pitchFamily="2" charset="0"/>
              </a:rPr>
              <a:t>ජා</a:t>
            </a:r>
            <a:r>
              <a:rPr lang="si-LK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Iskoola Pota" panose="02010503010101010104" pitchFamily="2" charset="0"/>
              </a:rPr>
              <a:t>තික මට්ටමේ සහන කණ්ඩායම් ළඟාවීම හෝ අනෙකුත් රටවලින් ළඟාවීම</a:t>
            </a:r>
            <a:endParaRPr lang="en-US" sz="1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Iskoola Pota" panose="02010503010101010104" pitchFamily="2" charset="0"/>
            </a:endParaRPr>
          </a:p>
        </p:txBody>
      </p:sp>
      <p:sp>
        <p:nvSpPr>
          <p:cNvPr id="61" name="Text Box 2"/>
          <p:cNvSpPr txBox="1">
            <a:spLocks noChangeArrowheads="1"/>
          </p:cNvSpPr>
          <p:nvPr/>
        </p:nvSpPr>
        <p:spPr bwMode="auto">
          <a:xfrm rot="16200000">
            <a:off x="6309871" y="3720146"/>
            <a:ext cx="2773681" cy="32284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Iskoola Pota" panose="02010503010101010104" pitchFamily="2" charset="0"/>
              </a:rPr>
              <a:t>      </a:t>
            </a:r>
            <a:r>
              <a:rPr lang="si-LK" sz="1200" dirty="0" smtClean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Iskoola Pota" panose="02010503010101010104" pitchFamily="2" charset="0"/>
              </a:rPr>
              <a:t> </a:t>
            </a:r>
            <a:r>
              <a:rPr lang="en-US" sz="1200" dirty="0" smtClean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Iskoola Pota" panose="02010503010101010104" pitchFamily="2" charset="0"/>
              </a:rPr>
              <a:t>  </a:t>
            </a:r>
            <a:r>
              <a:rPr lang="si-LK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Iskoola Pota" panose="02010503010101010104" pitchFamily="2" charset="0"/>
              </a:rPr>
              <a:t>ජාතික ධාරිතාව  </a:t>
            </a:r>
            <a:r>
              <a:rPr lang="si-LK" sz="1400" dirty="0" smtClean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Iskoola Pota" panose="02010503010101010104" pitchFamily="2" charset="0"/>
              </a:rPr>
              <a:t>   </a:t>
            </a:r>
            <a:r>
              <a:rPr lang="si-LK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Iskoola Pota" panose="02010503010101010104" pitchFamily="2" charset="0"/>
              </a:rPr>
              <a:t>ඉක්මවා යෑම</a:t>
            </a:r>
            <a:endParaRPr lang="en-US" sz="1400" dirty="0">
              <a:solidFill>
                <a:srgbClr val="FF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Iskoola Pota" panose="02010503010101010104" pitchFamily="2" charset="0"/>
            </a:endParaRPr>
          </a:p>
        </p:txBody>
      </p:sp>
      <p:sp>
        <p:nvSpPr>
          <p:cNvPr id="62" name="Text Box 2"/>
          <p:cNvSpPr txBox="1">
            <a:spLocks noChangeArrowheads="1"/>
          </p:cNvSpPr>
          <p:nvPr/>
        </p:nvSpPr>
        <p:spPr bwMode="auto">
          <a:xfrm rot="16200000">
            <a:off x="6632769" y="3573912"/>
            <a:ext cx="3316605" cy="45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si-LK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Iskoola Pota" panose="02010503010101010104" pitchFamily="2" charset="0"/>
              </a:rPr>
              <a:t>අන්තර් ජාතික සහන කණ්ඩායම් ළඟාවීම</a:t>
            </a:r>
            <a:endParaRPr lang="en-US" sz="1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Iskoola Pota" panose="02010503010101010104" pitchFamily="2" charset="0"/>
            </a:endParaRPr>
          </a:p>
        </p:txBody>
      </p:sp>
      <p:sp>
        <p:nvSpPr>
          <p:cNvPr id="63" name="Right Arrow 62"/>
          <p:cNvSpPr/>
          <p:nvPr/>
        </p:nvSpPr>
        <p:spPr>
          <a:xfrm>
            <a:off x="2459232" y="3837119"/>
            <a:ext cx="372745" cy="203835"/>
          </a:xfrm>
          <a:prstGeom prst="rightArrow">
            <a:avLst/>
          </a:prstGeom>
          <a:solidFill>
            <a:srgbClr val="000000"/>
          </a:solidFill>
          <a:ln w="158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64" name="Right Arrow 63"/>
          <p:cNvSpPr/>
          <p:nvPr/>
        </p:nvSpPr>
        <p:spPr>
          <a:xfrm>
            <a:off x="8857492" y="3867599"/>
            <a:ext cx="372745" cy="20383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65" name="Straight Connector 64"/>
          <p:cNvCxnSpPr/>
          <p:nvPr/>
        </p:nvCxnSpPr>
        <p:spPr>
          <a:xfrm>
            <a:off x="2890397" y="3954594"/>
            <a:ext cx="5340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3880997" y="3954594"/>
            <a:ext cx="3295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4752217" y="3954594"/>
            <a:ext cx="263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5528822" y="3954594"/>
            <a:ext cx="3295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6420362" y="3957769"/>
            <a:ext cx="3295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8484112" y="3973644"/>
            <a:ext cx="3575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9265162" y="3964119"/>
            <a:ext cx="6280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6"/>
          <p:cNvSpPr>
            <a:spLocks noChangeArrowheads="1"/>
          </p:cNvSpPr>
          <p:nvPr/>
        </p:nvSpPr>
        <p:spPr bwMode="auto">
          <a:xfrm>
            <a:off x="1427357" y="168383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80"/>
          <p:cNvSpPr>
            <a:spLocks noChangeArrowheads="1"/>
          </p:cNvSpPr>
          <p:nvPr/>
        </p:nvSpPr>
        <p:spPr bwMode="auto">
          <a:xfrm>
            <a:off x="1427357" y="21410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5" name="Rectangle 85"/>
          <p:cNvSpPr>
            <a:spLocks noChangeArrowheads="1"/>
          </p:cNvSpPr>
          <p:nvPr/>
        </p:nvSpPr>
        <p:spPr bwMode="auto">
          <a:xfrm>
            <a:off x="1427357" y="21410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9677719" y="3980358"/>
            <a:ext cx="170873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i-LK" sz="1600" dirty="0" smtClean="0"/>
              <a:t>ගලවා ගැනිමේ අදියර </a:t>
            </a:r>
            <a:endParaRPr lang="en-US" sz="1600" dirty="0" smtClean="0"/>
          </a:p>
          <a:p>
            <a:pPr algn="ctr"/>
            <a:r>
              <a:rPr lang="si-LK" sz="1600" dirty="0" smtClean="0"/>
              <a:t>අවසන්  කිරිම</a:t>
            </a:r>
            <a:endParaRPr lang="en-US" sz="1600" dirty="0" smtClean="0"/>
          </a:p>
          <a:p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1429871" y="3779046"/>
            <a:ext cx="1042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i-LK" sz="1400" dirty="0" smtClean="0"/>
              <a:t>සිදුවීම</a:t>
            </a:r>
            <a:endParaRPr lang="en-US" sz="1400" dirty="0" smtClean="0"/>
          </a:p>
          <a:p>
            <a:endParaRPr lang="en-US" dirty="0"/>
          </a:p>
        </p:txBody>
      </p:sp>
      <p:cxnSp>
        <p:nvCxnSpPr>
          <p:cNvPr id="70" name="Straight Connector 69"/>
          <p:cNvCxnSpPr/>
          <p:nvPr/>
        </p:nvCxnSpPr>
        <p:spPr>
          <a:xfrm>
            <a:off x="7304917" y="3971739"/>
            <a:ext cx="73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Picture 79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81" name="Picture 80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42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675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si-LK" sz="3600" dirty="0"/>
              <a:t>පළම</a:t>
            </a:r>
            <a:r>
              <a:rPr lang="si-LK" sz="3600" dirty="0" smtClean="0"/>
              <a:t>ුව </a:t>
            </a:r>
            <a:r>
              <a:rPr lang="si-LK" sz="3600" dirty="0"/>
              <a:t>ප්‍රතිචාර දක්වන්නන් යනු </a:t>
            </a:r>
            <a:r>
              <a:rPr lang="si-LK" sz="3600" dirty="0" smtClean="0"/>
              <a:t>කුමක්ද?</a:t>
            </a:r>
            <a:br>
              <a:rPr lang="si-LK" sz="3600" dirty="0" smtClean="0"/>
            </a:br>
            <a:r>
              <a:rPr lang="si-LK" sz="3100" dirty="0" smtClean="0"/>
              <a:t>ද</a:t>
            </a:r>
            <a:r>
              <a:rPr lang="si-LK" sz="3100" dirty="0"/>
              <a:t>ේශියව </a:t>
            </a:r>
            <a:r>
              <a:rPr lang="si-LK" sz="3100" dirty="0" smtClean="0"/>
              <a:t>සංවිධානය වු </a:t>
            </a:r>
            <a:r>
              <a:rPr lang="si-LK" sz="3100" dirty="0"/>
              <a:t>ගලවා ගැනිම් හැකියාවන් පහත පරිදිවේ.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Iskoola Pota" panose="02010503010101010104" pitchFamily="2" charset="0"/>
              <a:buChar char="-"/>
            </a:pPr>
            <a:r>
              <a:rPr lang="si-LK" dirty="0">
                <a:latin typeface="Calibri" panose="020F0502020204030204" pitchFamily="34" charset="0"/>
                <a:ea typeface="Times New Roman" panose="02020603050405020304" pitchFamily="18" charset="0"/>
              </a:rPr>
              <a:t>හදිසි සේව</a:t>
            </a:r>
            <a:r>
              <a:rPr lang="si-LK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ා කණ්ඩායම් </a:t>
            </a:r>
            <a:r>
              <a:rPr lang="si-LK" dirty="0">
                <a:latin typeface="Calibri" panose="020F0502020204030204" pitchFamily="34" charset="0"/>
                <a:ea typeface="Times New Roman" panose="02020603050405020304" pitchFamily="18" charset="0"/>
              </a:rPr>
              <a:t>සහ සිවිල් ආරක්</a:t>
            </a:r>
            <a:r>
              <a:rPr lang="si-LK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ෂක කණ්ඩායම්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Iskoola Pota" panose="02010503010101010104" pitchFamily="2" charset="0"/>
              <a:buChar char="-"/>
            </a:pPr>
            <a:r>
              <a:rPr lang="si-LK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ත්‍රිවිධ හම</a:t>
            </a:r>
            <a:r>
              <a:rPr lang="si-LK" dirty="0">
                <a:latin typeface="Calibri" panose="020F0502020204030204" pitchFamily="34" charset="0"/>
                <a:ea typeface="Times New Roman" panose="02020603050405020304" pitchFamily="18" charset="0"/>
              </a:rPr>
              <a:t>ුදා කණ්ඩායම්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Iskoola Pota" panose="02010503010101010104" pitchFamily="2" charset="0"/>
              <a:buChar char="-"/>
            </a:pPr>
            <a:r>
              <a:rPr lang="si-LK" dirty="0">
                <a:latin typeface="Calibri" panose="020F0502020204030204" pitchFamily="34" charset="0"/>
                <a:ea typeface="Times New Roman" panose="02020603050405020304" pitchFamily="18" charset="0"/>
              </a:rPr>
              <a:t>ප්‍රජා ප්‍රතිචාර දක්</a:t>
            </a:r>
            <a:r>
              <a:rPr lang="si-LK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වන්නන්ගේ </a:t>
            </a:r>
            <a:r>
              <a:rPr lang="si-LK" dirty="0">
                <a:latin typeface="Calibri" panose="020F0502020204030204" pitchFamily="34" charset="0"/>
                <a:ea typeface="Times New Roman" panose="02020603050405020304" pitchFamily="18" charset="0"/>
              </a:rPr>
              <a:t>කණ්ඩායම්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Iskoola Pota" panose="02010503010101010104" pitchFamily="2" charset="0"/>
              <a:buChar char="-"/>
            </a:pPr>
            <a:r>
              <a:rPr lang="si-LK" dirty="0">
                <a:latin typeface="Calibri" panose="020F0502020204030204" pitchFamily="34" charset="0"/>
                <a:ea typeface="Times New Roman" panose="02020603050405020304" pitchFamily="18" charset="0"/>
              </a:rPr>
              <a:t>ස්වේච්ඡා සංවිධාන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Iskoola Pota" panose="02010503010101010104" pitchFamily="2" charset="0"/>
              <a:buChar char="-"/>
            </a:pPr>
            <a:r>
              <a:rPr lang="si-LK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රජ්‍ය </a:t>
            </a:r>
            <a:r>
              <a:rPr lang="si-LK" dirty="0">
                <a:latin typeface="Calibri" panose="020F0502020204030204" pitchFamily="34" charset="0"/>
                <a:ea typeface="Times New Roman" panose="02020603050405020304" pitchFamily="18" charset="0"/>
              </a:rPr>
              <a:t>නොවන සංවිධා</a:t>
            </a:r>
            <a:r>
              <a:rPr lang="si-LK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න 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(NGO)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Iskoola Pota" panose="02010503010101010104" pitchFamily="2" charset="0"/>
              <a:buChar char="-"/>
            </a:pPr>
            <a:r>
              <a:rPr lang="si-LK" dirty="0">
                <a:latin typeface="Calibri" panose="020F0502020204030204" pitchFamily="34" charset="0"/>
                <a:ea typeface="Times New Roman" panose="02020603050405020304" pitchFamily="18" charset="0"/>
              </a:rPr>
              <a:t>සිවිල් ප්‍රතිචාර දැක්විමේ කණ්ඩායම්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Iskoola Pota" panose="02010503010101010104" pitchFamily="2" charset="0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399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572" y="82663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si-LK" b="1" dirty="0"/>
              <a:t>පළම</a:t>
            </a:r>
            <a:r>
              <a:rPr lang="si-LK" b="1" dirty="0" smtClean="0"/>
              <a:t>ුව </a:t>
            </a:r>
            <a:r>
              <a:rPr lang="si-LK" b="1" dirty="0"/>
              <a:t>ප්‍රතිචාර දක්වන්නාගේ </a:t>
            </a:r>
            <a:r>
              <a:rPr lang="si-LK" b="1" dirty="0" smtClean="0"/>
              <a:t>කාර්යභාර්ය</a:t>
            </a:r>
            <a:br>
              <a:rPr lang="si-LK" b="1" dirty="0" smtClean="0"/>
            </a:br>
            <a:r>
              <a:rPr lang="si-LK" sz="3600" dirty="0"/>
              <a:t>පළම</a:t>
            </a:r>
            <a:r>
              <a:rPr lang="si-LK" sz="3600" dirty="0" smtClean="0"/>
              <a:t>ුව </a:t>
            </a:r>
            <a:r>
              <a:rPr lang="si-LK" sz="3600" dirty="0"/>
              <a:t>ප්‍රතිචාර දක්වන්නන්ගේ කාර්යභාරය වන්නේ: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572" y="2369910"/>
            <a:ext cx="10515600" cy="4351338"/>
          </a:xfrm>
        </p:spPr>
        <p:txBody>
          <a:bodyPr/>
          <a:lstStyle/>
          <a:p>
            <a:pPr lvl="0" algn="just"/>
            <a:r>
              <a:rPr lang="si-LK" dirty="0" smtClean="0"/>
              <a:t>ගොඩනැගිල්ලක් කඩ</a:t>
            </a:r>
            <a:r>
              <a:rPr lang="si-LK" dirty="0"/>
              <a:t>ා වැට</a:t>
            </a:r>
            <a:r>
              <a:rPr lang="si-LK" dirty="0" smtClean="0"/>
              <a:t>ීමෙන් පසු එහි මූලික අද</a:t>
            </a:r>
            <a:r>
              <a:rPr lang="si-LK" dirty="0"/>
              <a:t>ියරේදී </a:t>
            </a:r>
            <a:r>
              <a:rPr lang="si-LK" dirty="0" smtClean="0"/>
              <a:t>පුද්ගලයින් ගලව</a:t>
            </a:r>
            <a:r>
              <a:rPr lang="si-LK" dirty="0"/>
              <a:t>ා ගැනී</a:t>
            </a:r>
            <a:r>
              <a:rPr lang="si-LK" dirty="0" smtClean="0"/>
              <a:t>ම.</a:t>
            </a:r>
            <a:endParaRPr lang="en-US" dirty="0"/>
          </a:p>
          <a:p>
            <a:pPr lvl="0" algn="just"/>
            <a:r>
              <a:rPr lang="si-LK" dirty="0"/>
              <a:t>සිද්ධිය පිළිබඳ තොරතුරු සැපයීම</a:t>
            </a:r>
            <a:endParaRPr lang="en-US" dirty="0"/>
          </a:p>
          <a:p>
            <a:pPr lvl="0" algn="just"/>
            <a:r>
              <a:rPr lang="si-LK" dirty="0"/>
              <a:t>සිද්ධියේ ස්වභාවය සහ පරිමාණය තක්සේරු කිරී</a:t>
            </a:r>
            <a:r>
              <a:rPr lang="si-LK" dirty="0" smtClean="0"/>
              <a:t>ම.</a:t>
            </a:r>
            <a:endParaRPr lang="en-US" dirty="0"/>
          </a:p>
          <a:p>
            <a:pPr lvl="0" algn="just"/>
            <a:r>
              <a:rPr lang="si-LK" dirty="0"/>
              <a:t>ගලවා ගැනීමේ අදියර සාර්ථකව නිම කිරීමට අවශ්‍ය සුදුසු සම්පත් ඉල්ලා සිටී</a:t>
            </a:r>
            <a:r>
              <a:rPr lang="si-LK" dirty="0" smtClean="0"/>
              <a:t>ම.</a:t>
            </a:r>
            <a:endParaRPr lang="en-US" dirty="0"/>
          </a:p>
          <a:p>
            <a:pPr lvl="0" algn="just"/>
            <a:r>
              <a:rPr lang="si-LK" dirty="0"/>
              <a:t>ප්‍රාදේශීය ප්‍රජාවට නායකත්වය සහ මඟ පෙන්වීම ලබා දී</a:t>
            </a:r>
            <a:r>
              <a:rPr lang="si-LK" dirty="0" smtClean="0"/>
              <a:t>ම.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2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572" y="7787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si-LK" b="1" dirty="0"/>
              <a:t>පළම</a:t>
            </a:r>
            <a:r>
              <a:rPr lang="si-LK" b="1" dirty="0" smtClean="0"/>
              <a:t>ුව </a:t>
            </a:r>
            <a:r>
              <a:rPr lang="si-LK" b="1" dirty="0"/>
              <a:t>ප්‍රතිචාර දක්වන්නන්ගේ පුහුණු අවශ්‍යත</a:t>
            </a:r>
            <a:r>
              <a:rPr lang="si-LK" b="1" dirty="0" smtClean="0"/>
              <a:t>ාවය </a:t>
            </a:r>
            <a:r>
              <a:rPr lang="si-LK" sz="3600" dirty="0" smtClean="0"/>
              <a:t>ම</a:t>
            </a:r>
            <a:r>
              <a:rPr lang="si-LK" sz="3600" dirty="0"/>
              <a:t>ෙසේ සාරාංශ </a:t>
            </a:r>
            <a:r>
              <a:rPr lang="si-LK" sz="3600" dirty="0" smtClean="0"/>
              <a:t>ගත කළ </a:t>
            </a:r>
            <a:r>
              <a:rPr lang="si-LK" sz="3600" dirty="0"/>
              <a:t>හැ</a:t>
            </a:r>
            <a:r>
              <a:rPr lang="si-LK" sz="3600" dirty="0" smtClean="0"/>
              <a:t>ක</a:t>
            </a:r>
            <a:r>
              <a:rPr lang="en-US" sz="3600" dirty="0" smtClean="0"/>
              <a:t>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9971" y="2271939"/>
            <a:ext cx="10515600" cy="4351338"/>
          </a:xfrm>
        </p:spPr>
        <p:txBody>
          <a:bodyPr/>
          <a:lstStyle/>
          <a:p>
            <a:pPr lvl="0" algn="just"/>
            <a:r>
              <a:rPr lang="si-LK" dirty="0"/>
              <a:t>ව්‍යුහාත්මක කඩා වැටීමක් </a:t>
            </a:r>
            <a:r>
              <a:rPr lang="si-LK" dirty="0" smtClean="0"/>
              <a:t>(ගොඩනැගිල්ලක් හෝ වෙනත් යමක්)ත</a:t>
            </a:r>
            <a:r>
              <a:rPr lang="si-LK" dirty="0"/>
              <a:t>ුළ ඇති සාමාන්‍ය උපද්‍රව සහ අවදානම් පිළිබඳ දැනුවත් කිරීම.</a:t>
            </a:r>
            <a:endParaRPr lang="en-US" dirty="0"/>
          </a:p>
          <a:p>
            <a:pPr lvl="0" algn="just"/>
            <a:r>
              <a:rPr lang="si-LK" dirty="0" smtClean="0"/>
              <a:t>නිරීක්ෂණය වන දෑ පිළිබදව තක්සේරූ කිරිම, ත</a:t>
            </a:r>
            <a:r>
              <a:rPr lang="si-LK" dirty="0"/>
              <a:t>ොරතුරු රැස් කිරී</a:t>
            </a:r>
            <a:r>
              <a:rPr lang="si-LK" dirty="0" smtClean="0"/>
              <a:t>ම සහ </a:t>
            </a:r>
            <a:r>
              <a:rPr lang="si-LK" dirty="0"/>
              <a:t>තක්සේරු කිරීම.</a:t>
            </a:r>
            <a:endParaRPr lang="en-US" dirty="0"/>
          </a:p>
          <a:p>
            <a:pPr lvl="0" algn="just"/>
            <a:r>
              <a:rPr lang="si-LK" dirty="0" smtClean="0"/>
              <a:t>ස</a:t>
            </a:r>
            <a:r>
              <a:rPr lang="si-LK" dirty="0"/>
              <a:t>ෙවීම් සහ ගලවා ගැනීමේ ශිල්පීය ක්</a:t>
            </a:r>
            <a:r>
              <a:rPr lang="si-LK" dirty="0" smtClean="0"/>
              <a:t>‍රමවේදය ව</a:t>
            </a:r>
            <a:r>
              <a:rPr lang="si-LK" dirty="0"/>
              <a:t>ිශේෂිත </a:t>
            </a:r>
            <a:r>
              <a:rPr lang="si-LK" dirty="0" smtClean="0"/>
              <a:t>උපකරණයන් </a:t>
            </a:r>
            <a:r>
              <a:rPr lang="si-LK" dirty="0"/>
              <a:t>සන්තකයේ තබා ගැනීම මත පමණක් රඳා නො</a:t>
            </a:r>
            <a:r>
              <a:rPr lang="si-LK" dirty="0" smtClean="0"/>
              <a:t>පවතී.</a:t>
            </a:r>
            <a:endParaRPr lang="en-US" dirty="0"/>
          </a:p>
          <a:p>
            <a:pPr lvl="0" algn="just"/>
            <a:r>
              <a:rPr lang="si-LK" dirty="0"/>
              <a:t>කලාපීය හෝ ජාතික </a:t>
            </a:r>
            <a:r>
              <a:rPr lang="si-LK" dirty="0" smtClean="0"/>
              <a:t>මට්ටමින් ස</a:t>
            </a:r>
            <a:r>
              <a:rPr lang="si-LK" dirty="0"/>
              <a:t>ෙවීම් සහ මුදාගැනීම පිළිබඳ දැනු</a:t>
            </a:r>
            <a:r>
              <a:rPr lang="si-LK" dirty="0" smtClean="0"/>
              <a:t>ම</a:t>
            </a:r>
            <a:r>
              <a:rPr lang="en-US" dirty="0" smtClean="0"/>
              <a:t> </a:t>
            </a:r>
            <a:r>
              <a:rPr lang="si-LK" dirty="0" smtClean="0"/>
              <a:t>ලබා ගැනිමට අවශ්‍ය </a:t>
            </a:r>
            <a:r>
              <a:rPr lang="si-LK" dirty="0"/>
              <a:t>නම් </a:t>
            </a:r>
            <a:r>
              <a:rPr lang="si-LK" dirty="0" smtClean="0"/>
              <a:t>ඒ සදහා ඇති හැකියාව.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38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4022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si-LK" dirty="0"/>
              <a:t>මෙම </a:t>
            </a:r>
            <a:r>
              <a:rPr lang="en-US" dirty="0"/>
              <a:t>FR </a:t>
            </a:r>
            <a:r>
              <a:rPr lang="si-LK" dirty="0"/>
              <a:t>පාඨමාලාව මගින් </a:t>
            </a:r>
            <a:r>
              <a:rPr lang="si-LK" dirty="0" smtClean="0"/>
              <a:t>පහත අවශ</a:t>
            </a:r>
            <a:r>
              <a:rPr lang="si-LK" dirty="0"/>
              <a:t>්‍යතා සපුර</a:t>
            </a:r>
            <a:r>
              <a:rPr lang="si-LK" dirty="0" smtClean="0"/>
              <a:t>ාගනී.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 algn="just"/>
            <a:r>
              <a:rPr lang="si-LK" dirty="0"/>
              <a:t>බලපෑමට ලක් වූ ප්‍රදේශය පිළිබඳ තක්සේරුවක් කිරීමට අවශ්‍ය දැනුම සහ කුසලත</a:t>
            </a:r>
            <a:r>
              <a:rPr lang="si-LK" dirty="0" smtClean="0"/>
              <a:t>ාවය ලැබෙන අතර, සිදුවීම වඩ</a:t>
            </a:r>
            <a:r>
              <a:rPr lang="si-LK" dirty="0"/>
              <a:t>ාත් ගැඹුරින් ගවේෂණය </a:t>
            </a:r>
            <a:r>
              <a:rPr lang="si-LK" dirty="0" smtClean="0"/>
              <a:t>කර සහභ</a:t>
            </a:r>
            <a:r>
              <a:rPr lang="si-LK" dirty="0"/>
              <a:t>ාගී</a:t>
            </a:r>
            <a:r>
              <a:rPr lang="si-LK" dirty="0" smtClean="0"/>
              <a:t>වන්නන්ට </a:t>
            </a:r>
            <a:r>
              <a:rPr lang="si-LK" dirty="0"/>
              <a:t>අනුකරණය කරන ලද අභ්‍යාසයක් </a:t>
            </a:r>
            <a:r>
              <a:rPr lang="si-LK" dirty="0" smtClean="0"/>
              <a:t>මගින් ම</a:t>
            </a:r>
            <a:r>
              <a:rPr lang="si-LK" dirty="0"/>
              <a:t>ෙම කුසලතා </a:t>
            </a:r>
            <a:r>
              <a:rPr lang="si-LK" dirty="0" smtClean="0"/>
              <a:t>සජිවීව ප</a:t>
            </a:r>
            <a:r>
              <a:rPr lang="si-LK" dirty="0"/>
              <a:t>්‍රගුණ කිරීමට අවස්ථාවක් ලබා දේ.</a:t>
            </a:r>
            <a:endParaRPr lang="en-US" dirty="0"/>
          </a:p>
          <a:p>
            <a:pPr lvl="0" algn="just"/>
            <a:r>
              <a:rPr lang="si-LK" dirty="0" smtClean="0"/>
              <a:t>ගොඩනැගිල්ලක ව</a:t>
            </a:r>
            <a:r>
              <a:rPr lang="si-LK" dirty="0"/>
              <a:t>්‍යුහාත්මක බිඳවැටීම</a:t>
            </a:r>
            <a:r>
              <a:rPr lang="si-LK" dirty="0" smtClean="0"/>
              <a:t>ේදි ඇත</a:t>
            </a:r>
            <a:r>
              <a:rPr lang="si-LK" dirty="0"/>
              <a:t>ි වන උපද්‍රව සහ අවදානම් සම්බන්ධ සවිස්තරාත්මක තොරතුරු සපයයි</a:t>
            </a:r>
            <a:r>
              <a:rPr lang="en-US" dirty="0"/>
              <a:t>, </a:t>
            </a:r>
            <a:r>
              <a:rPr lang="si-LK" dirty="0"/>
              <a:t>සහභාගිවන්නන්ට අවධානම අඩු </a:t>
            </a:r>
            <a:r>
              <a:rPr lang="si-LK" dirty="0" smtClean="0"/>
              <a:t>කිරිමට ගතයුතු ක</a:t>
            </a:r>
            <a:r>
              <a:rPr lang="si-LK" dirty="0"/>
              <a:t>්‍රියාමාර්ග පිළිබඳ අවස්ථානුකූල දැන</a:t>
            </a:r>
            <a:r>
              <a:rPr lang="si-LK" dirty="0" smtClean="0"/>
              <a:t>ුම සහ දැනුවත් භාවයක් ලබාදීම.</a:t>
            </a:r>
            <a:endParaRPr lang="en-US" dirty="0"/>
          </a:p>
          <a:p>
            <a:pPr lvl="0" algn="just"/>
            <a:r>
              <a:rPr lang="si-LK" dirty="0" smtClean="0"/>
              <a:t>සභ</a:t>
            </a:r>
            <a:r>
              <a:rPr lang="si-LK" dirty="0"/>
              <a:t>ාගී</a:t>
            </a:r>
            <a:r>
              <a:rPr lang="si-LK" dirty="0" smtClean="0"/>
              <a:t>වන්නන්ට ආපදාවට ලක් වු පුද්ගලයින්ගේ ජ</a:t>
            </a:r>
            <a:r>
              <a:rPr lang="si-LK" dirty="0"/>
              <a:t>ීවි</a:t>
            </a:r>
            <a:r>
              <a:rPr lang="si-LK" dirty="0" smtClean="0"/>
              <a:t>ත ආරක්ෂා කර ගැනිමේ ශිල්පීය ක්‍රමවේදයන් පිළිබද අවබෝධයක් ලබා ගැනිමට යථ</a:t>
            </a:r>
            <a:r>
              <a:rPr lang="si-LK" dirty="0"/>
              <a:t>ාර්ථවාදී </a:t>
            </a:r>
            <a:r>
              <a:rPr lang="si-LK" dirty="0" smtClean="0"/>
              <a:t>අභ්‍යාස සිදුකිරිම සහ </a:t>
            </a:r>
            <a:r>
              <a:rPr lang="si-LK" dirty="0"/>
              <a:t>පුහුණු </a:t>
            </a:r>
            <a:r>
              <a:rPr lang="si-LK" dirty="0" smtClean="0"/>
              <a:t>වීම සදහා ඉඩ ප්‍රස්ථාව ලබා දීම.</a:t>
            </a:r>
            <a:endParaRPr lang="en-US" dirty="0"/>
          </a:p>
          <a:p>
            <a:pPr lvl="0" algn="just"/>
            <a:r>
              <a:rPr lang="si-LK" dirty="0"/>
              <a:t>සහභාගිවන්නන්ට ඔවුන්ගේම ප්‍රජාවන් තු</a:t>
            </a:r>
            <a:r>
              <a:rPr lang="si-LK" dirty="0" smtClean="0"/>
              <a:t>ළම </a:t>
            </a:r>
            <a:r>
              <a:rPr lang="si-LK" dirty="0"/>
              <a:t>සෙවීම් සහ </a:t>
            </a:r>
            <a:r>
              <a:rPr lang="si-LK" dirty="0" smtClean="0"/>
              <a:t>මුදවා </a:t>
            </a:r>
            <a:r>
              <a:rPr lang="si-LK" dirty="0"/>
              <a:t>ගැනීමේ හැකියාව වර්ධනය කිරී</a:t>
            </a:r>
            <a:r>
              <a:rPr lang="si-LK" dirty="0" smtClean="0"/>
              <a:t>ම </a:t>
            </a:r>
            <a:r>
              <a:rPr lang="si-LK" dirty="0"/>
              <a:t>සහ </a:t>
            </a:r>
            <a:r>
              <a:rPr lang="si-LK" dirty="0" smtClean="0"/>
              <a:t>ගොඩනැගිල්ලක් බ</a:t>
            </a:r>
            <a:r>
              <a:rPr lang="si-LK" dirty="0"/>
              <a:t>ිඳවැටීම</a:t>
            </a:r>
            <a:r>
              <a:rPr lang="si-LK" dirty="0" smtClean="0"/>
              <a:t>ේදි එයට මුහුණු දීම සදහා ඔව</a:t>
            </a:r>
            <a:r>
              <a:rPr lang="si-LK" dirty="0"/>
              <a:t>ුන්ට ලබා ගත හැකි සම්පත් සහ සහාය පිළිබඳ අවබෝධයක් ලබා ගැනීමට උපකාර වන තොරතුරු </a:t>
            </a:r>
            <a:r>
              <a:rPr lang="si-LK" dirty="0" smtClean="0"/>
              <a:t>සැපයීම.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378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1981200" y="3048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382588" indent="-3429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fontAlgn="base">
              <a:spcBef>
                <a:spcPts val="80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endParaRPr lang="en-US" sz="4000">
              <a:solidFill>
                <a:srgbClr val="056CB6"/>
              </a:solidFill>
              <a:latin typeface="Arial" panose="020B0604020202020204" pitchFamily="34" charset="0"/>
              <a:sym typeface="Times" panose="02020603050405020304" pitchFamily="18" charset="0"/>
            </a:endParaRPr>
          </a:p>
        </p:txBody>
      </p:sp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2133600" y="609601"/>
            <a:ext cx="822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3316" name="Picture 1" descr="backgroun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8763000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3276600" y="2592388"/>
            <a:ext cx="2819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400">
                <a:solidFill>
                  <a:srgbClr val="FFFFFF"/>
                </a:solidFill>
                <a:latin typeface="Avenir Medium" charset="0"/>
              </a:rPr>
              <a:t>Questions</a:t>
            </a:r>
          </a:p>
        </p:txBody>
      </p:sp>
      <p:sp>
        <p:nvSpPr>
          <p:cNvPr id="13318" name="TextBox 4"/>
          <p:cNvSpPr txBox="1">
            <a:spLocks noChangeArrowheads="1"/>
          </p:cNvSpPr>
          <p:nvPr/>
        </p:nvSpPr>
        <p:spPr bwMode="auto">
          <a:xfrm rot="-5400000">
            <a:off x="5450682" y="3358357"/>
            <a:ext cx="1752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Cuestión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7086600" y="1676401"/>
            <a:ext cx="1798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La question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7086600" y="2582864"/>
            <a:ext cx="137569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ar-SA" sz="4400">
                <a:solidFill>
                  <a:srgbClr val="FFFFFF"/>
                </a:solidFill>
              </a:rPr>
              <a:t>الأسئلة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1905001" y="3200401"/>
            <a:ext cx="1801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bg-BG" sz="3600">
                <a:solidFill>
                  <a:srgbClr val="FFFFFF"/>
                </a:solidFill>
              </a:rPr>
              <a:t>въпроси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334001" y="1676401"/>
            <a:ext cx="1108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TW" altLang="en-US" sz="3600">
                <a:solidFill>
                  <a:srgbClr val="FFFFFF"/>
                </a:solidFill>
              </a:rPr>
              <a:t>问题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5029201" y="3429001"/>
            <a:ext cx="1096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otázky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6826250" y="3886201"/>
            <a:ext cx="1860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spørgsmål</a:t>
            </a:r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 rot="-5400000">
            <a:off x="2151856" y="2267744"/>
            <a:ext cx="1462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vragen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4267201" y="3962401"/>
            <a:ext cx="1655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küsimused</a:t>
            </a:r>
          </a:p>
        </p:txBody>
      </p:sp>
      <p:sp>
        <p:nvSpPr>
          <p:cNvPr id="13327" name="Rectangle 14"/>
          <p:cNvSpPr>
            <a:spLocks noChangeArrowheads="1"/>
          </p:cNvSpPr>
          <p:nvPr/>
        </p:nvSpPr>
        <p:spPr bwMode="auto">
          <a:xfrm>
            <a:off x="7086600" y="2209801"/>
            <a:ext cx="1785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kysymykset</a:t>
            </a:r>
          </a:p>
        </p:txBody>
      </p:sp>
      <p:sp>
        <p:nvSpPr>
          <p:cNvPr id="13328" name="Rectangle 15"/>
          <p:cNvSpPr>
            <a:spLocks noChangeArrowheads="1"/>
          </p:cNvSpPr>
          <p:nvPr/>
        </p:nvSpPr>
        <p:spPr bwMode="auto">
          <a:xfrm rot="-5400000">
            <a:off x="1476376" y="2201863"/>
            <a:ext cx="16557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600">
                <a:solidFill>
                  <a:srgbClr val="FFFFFF"/>
                </a:solidFill>
                <a:latin typeface="Avenir Medium" charset="0"/>
              </a:rPr>
              <a:t>Fragen</a:t>
            </a:r>
          </a:p>
        </p:txBody>
      </p:sp>
      <p:sp>
        <p:nvSpPr>
          <p:cNvPr id="13329" name="Rectangle 16"/>
          <p:cNvSpPr>
            <a:spLocks noChangeArrowheads="1"/>
          </p:cNvSpPr>
          <p:nvPr/>
        </p:nvSpPr>
        <p:spPr bwMode="auto">
          <a:xfrm>
            <a:off x="5410200" y="2667001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276601" y="2133601"/>
            <a:ext cx="2061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सवालों के जवाब</a:t>
            </a: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1752600" y="3886200"/>
            <a:ext cx="2266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pertanyaan</a:t>
            </a:r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 rot="-5400000">
            <a:off x="5919788" y="2279651"/>
            <a:ext cx="17287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domande</a:t>
            </a:r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3886200" y="3352800"/>
            <a:ext cx="1004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ja-JP" altLang="en-US" sz="3200">
                <a:solidFill>
                  <a:srgbClr val="FFFFFF"/>
                </a:solidFill>
              </a:rPr>
              <a:t>質問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105401" y="2286001"/>
            <a:ext cx="159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perguntas</a:t>
            </a: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3654426" y="1600201"/>
            <a:ext cx="1398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Times" panose="02020603050405020304" pitchFamily="18" charset="0"/>
              </a:rPr>
              <a:t>вопросов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7162800" y="3360738"/>
            <a:ext cx="1136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sorular</a:t>
            </a:r>
          </a:p>
        </p:txBody>
      </p:sp>
      <p:sp>
        <p:nvSpPr>
          <p:cNvPr id="13337" name="TextBox 25"/>
          <p:cNvSpPr txBox="1">
            <a:spLocks noChangeArrowheads="1"/>
          </p:cNvSpPr>
          <p:nvPr/>
        </p:nvSpPr>
        <p:spPr bwMode="auto">
          <a:xfrm>
            <a:off x="8991600" y="1371601"/>
            <a:ext cx="1524000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9900">
                <a:solidFill>
                  <a:srgbClr val="FFFFFF"/>
                </a:solidFill>
                <a:latin typeface="Avenir Medium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11097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/>
          <p:cNvSpPr>
            <a:spLocks noGrp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hangingPunct="1"/>
            <a:fld id="{207FAFF6-E146-4F48-809E-3DA26EEA4871}" type="slidenum">
              <a:rPr lang="en-US" sz="1400">
                <a:latin typeface="Times" panose="02020603050405020304" pitchFamily="18" charset="0"/>
                <a:sym typeface="Times" panose="02020603050405020304" pitchFamily="18" charset="0"/>
              </a:rPr>
              <a:pPr eaLnBrk="1" hangingPunct="1"/>
              <a:t>17</a:t>
            </a:fld>
            <a:endParaRPr lang="en-US" sz="1400">
              <a:latin typeface="Times" panose="02020603050405020304" pitchFamily="18" charset="0"/>
              <a:sym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4471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i-LK" dirty="0"/>
              <a:t>පළම</a:t>
            </a:r>
            <a:r>
              <a:rPr lang="si-LK" dirty="0" smtClean="0"/>
              <a:t>ු </a:t>
            </a:r>
            <a:r>
              <a:rPr lang="si-LK" dirty="0"/>
              <a:t>ප්‍රතිචාර </a:t>
            </a:r>
            <a:r>
              <a:rPr lang="si-LK" dirty="0" smtClean="0"/>
              <a:t>දැක්වීමේ ප</a:t>
            </a:r>
            <a:r>
              <a:rPr lang="si-LK" dirty="0"/>
              <a:t>ුහුණු වැඩසටහන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3775"/>
          </a:xfrm>
        </p:spPr>
        <p:txBody>
          <a:bodyPr/>
          <a:lstStyle/>
          <a:p>
            <a:pPr marL="0" indent="0">
              <a:buNone/>
            </a:pPr>
            <a:r>
              <a:rPr lang="si-LK" dirty="0"/>
              <a:t>මොඩියුලය </a:t>
            </a:r>
            <a:r>
              <a:rPr lang="si-LK" dirty="0" smtClean="0"/>
              <a:t>	</a:t>
            </a:r>
            <a:r>
              <a:rPr lang="en-US" dirty="0" smtClean="0"/>
              <a:t>1</a:t>
            </a:r>
            <a:r>
              <a:rPr lang="en-US" dirty="0"/>
              <a:t>: </a:t>
            </a:r>
            <a:r>
              <a:rPr lang="si-LK" dirty="0"/>
              <a:t>පළම</a:t>
            </a:r>
            <a:r>
              <a:rPr lang="si-LK" dirty="0" smtClean="0"/>
              <a:t>ු </a:t>
            </a:r>
            <a:r>
              <a:rPr lang="si-LK" dirty="0"/>
              <a:t>ප්‍රතිචා</a:t>
            </a:r>
            <a:r>
              <a:rPr lang="si-LK" dirty="0" smtClean="0"/>
              <a:t>ර දැක්වීම හ</a:t>
            </a:r>
            <a:r>
              <a:rPr lang="si-LK" dirty="0"/>
              <a:t>ැඳින්වී</a:t>
            </a:r>
            <a:r>
              <a:rPr lang="si-LK" dirty="0" smtClean="0"/>
              <a:t>ම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si-LK" dirty="0"/>
              <a:t>සැසිය </a:t>
            </a:r>
            <a:r>
              <a:rPr lang="en-US" dirty="0"/>
              <a:t>	</a:t>
            </a:r>
            <a:r>
              <a:rPr lang="si-LK" dirty="0" smtClean="0"/>
              <a:t>	</a:t>
            </a:r>
            <a:r>
              <a:rPr lang="en-US" dirty="0" smtClean="0"/>
              <a:t>1.2</a:t>
            </a:r>
            <a:r>
              <a:rPr lang="si-LK" dirty="0" smtClean="0"/>
              <a:t> </a:t>
            </a:r>
            <a:r>
              <a:rPr lang="en-US" dirty="0" smtClean="0"/>
              <a:t>- </a:t>
            </a:r>
            <a:r>
              <a:rPr lang="si-LK" dirty="0"/>
              <a:t>පාඩම් සැලැස්ම</a:t>
            </a:r>
            <a:r>
              <a:rPr lang="en-US" dirty="0"/>
              <a:t/>
            </a:r>
            <a:br>
              <a:rPr lang="en-US" dirty="0"/>
            </a:br>
            <a:endParaRPr lang="si-LK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78461" t="79333" r="13981" b="13852"/>
          <a:stretch/>
        </p:blipFill>
        <p:spPr>
          <a:xfrm>
            <a:off x="10470994" y="203565"/>
            <a:ext cx="1577709" cy="68103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90070" y="4430748"/>
            <a:ext cx="11669486" cy="24272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81799" y="4681526"/>
            <a:ext cx="4680857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si-LK" dirty="0" smtClean="0"/>
              <a:t>පළමු ප්‍රතිචාර දැක්වීම් පුහුණු වැඩසටහන </a:t>
            </a:r>
            <a:r>
              <a:rPr lang="en-US" dirty="0" smtClean="0"/>
              <a:t>INSARAG </a:t>
            </a:r>
            <a:r>
              <a:rPr lang="si-LK" dirty="0" smtClean="0"/>
              <a:t>පුහුණු කණ්ඩායම මගින් සංවර්ධනය කරනු ලැබු අතර එමගින් විවිධ රටවලට ආපදාවකදි උදව් කිරිම සහ ප්‍රතිචාර දැක්වීමේ සංවිධාන වල ජිවිත ගලවා ගැනිමේ හැකියාවන් වැඩි දියුණු කිරිම සහ ජිවිත බේරාගැනිම මෙහි අරමුණයි.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28981" t="79333" r="56370" b="13852"/>
          <a:stretch/>
        </p:blipFill>
        <p:spPr>
          <a:xfrm>
            <a:off x="751866" y="5558689"/>
            <a:ext cx="3058134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840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2419907"/>
              </p:ext>
            </p:extLst>
          </p:nvPr>
        </p:nvGraphicFramePr>
        <p:xfrm>
          <a:off x="348342" y="337457"/>
          <a:ext cx="11460798" cy="1460183"/>
        </p:xfrm>
        <a:graphic>
          <a:graphicData uri="http://schemas.openxmlformats.org/drawingml/2006/table">
            <a:tbl>
              <a:tblPr firstRow="1" firstCol="1" bandRow="1"/>
              <a:tblGrid>
                <a:gridCol w="3819448"/>
                <a:gridCol w="3820675"/>
                <a:gridCol w="3820675"/>
              </a:tblGrid>
              <a:tr h="1359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ඉලක්කය </a:t>
                      </a:r>
                      <a:r>
                        <a:rPr lang="en-U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(Aim)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අරමුණු</a:t>
                      </a: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(Objective)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ඉගෙනුම්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ප්‍රතිළුල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2326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මේ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හා සමාන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ිදුවීමක් (සිද්ධි අධ්‍යයනයට)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සිදුවුවහොත්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එය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තම </a:t>
                      </a: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රටට බලපාන්නේ කෙසේද යන්න සහභාගිවන්නන්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දැනුවත් කරන අතර පර</a:t>
                      </a: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ීක්ෂා කිරී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 </a:t>
                      </a: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 ප්‍රතිචාර දැක්වීමේ හැකියා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වේ ඇති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අඩු ලුහුඩුකම් සහ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හැකියාවන් පිළිබදව දැනුමක් ලබා ගැනිමට හැකියාව ලැබේ.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පෙර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 වු ස</a:t>
                      </a: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ිද්ධි අධ්‍යයනය මත පදනම්ව: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සහභාගීවන්නන් ක</a:t>
                      </a: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ුඩා කණ්ඩායම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ලෙස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සැදි ස</a:t>
                      </a: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ාකච්ඡා කරනු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ලබයි. </a:t>
                      </a:r>
                    </a:p>
                    <a:p>
                      <a:pPr marL="346075" marR="0" lvl="0" indent="17462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එව</a:t>
                      </a: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ැනි සිදුවීමක්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මගින් ඇත</a:t>
                      </a: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 කරන බලපෑ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ම.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317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   ප්‍රතිචාර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දැක්වීම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.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55563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    ද</a:t>
                      </a: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ැනට පවතින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අඩු ලුහුඩු කම්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සැසිය අවසානයේ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දි සහභ</a:t>
                      </a: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ාගිවන්නන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 හට: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ඔවුන්ගේ රටේ අවදා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නම්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තත්වය විභාග කර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ඔවුන්ගේ වත්මන්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හැකියාවන්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සම්බන්ධව  ඇති අඩු ලුහුඩුකම් හදුනාගැනිමට හැකියාව ලැබිම.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වෙනත්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රටවල ආපදා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කළමනාකරණය පිළීබද ඇති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අවබෝධය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වර</a:t>
                      </a: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්ධනය කර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ගැනිමට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හැකිවීම.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30386" y="6611779"/>
            <a:ext cx="76335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i-LK" sz="1000" dirty="0"/>
              <a:t>විනාඩි 60 යි</a:t>
            </a:r>
            <a:endParaRPr lang="en-US" sz="10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627917"/>
              </p:ext>
            </p:extLst>
          </p:nvPr>
        </p:nvGraphicFramePr>
        <p:xfrm>
          <a:off x="322870" y="1876072"/>
          <a:ext cx="11488129" cy="4661040"/>
        </p:xfrm>
        <a:graphic>
          <a:graphicData uri="http://schemas.openxmlformats.org/drawingml/2006/table">
            <a:tbl>
              <a:tblPr firstRow="1" firstCol="1" bandRow="1"/>
              <a:tblGrid>
                <a:gridCol w="950759"/>
                <a:gridCol w="2950028"/>
                <a:gridCol w="5595257"/>
                <a:gridCol w="1992085"/>
              </a:tblGrid>
              <a:tr h="13404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කාලය </a:t>
                      </a: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(Time)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අන්තර්ගතය </a:t>
                      </a: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(Content)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ාකා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රකම් </a:t>
                      </a: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(Activity)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සම්පත්</a:t>
                      </a: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(Resources)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072326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5 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යි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විස්තර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කිරිම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</a:t>
                      </a:r>
                      <a:r>
                        <a:rPr lang="en-US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Brief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 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si-LK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සහභාගිවන්නන් </a:t>
                      </a: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5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දෙනෙකුගෙන්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සමන්විත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වන පරිදි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කණ්ඩායම් </a:t>
                      </a: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3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කට බෙදන්න. සහභාගිවන්නන් ඔවුන්ගේ කණ්ඩායම්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වලට ලබා දි ඇති 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ප්‍රශ්නවලට පිළිතුරු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සැපයිය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යුතු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බව පැහැදිලි කරන්න</a:t>
                      </a: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සෙසු 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කණ්ඩායම් සහ උපදේශකයින් වෙත ඉදිරිපත් කිරීම සඳහා ඔවුන්ගේ පිළිතුරු පටිගත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ගන්න.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මර 3 ක්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ප්‍රශ්න පත්‍ර </a:t>
                      </a:r>
                      <a:endParaRPr lang="si-LK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කඩද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ාසි සහ පෑන්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0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අවශ්‍ය පරිදි සවන් ද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ීම සහ 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අන්තර් ක්‍රියා කරන්න.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87657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30 යි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වාද කිරිම (</a:t>
                      </a:r>
                      <a:r>
                        <a:rPr lang="en-US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Debate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පහත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ප්‍රශ්න අසනු ලබයි.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මෑ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තකදී සිදු වු  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සිදුවීම් මත පදනම්ව</a:t>
                      </a: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ඔබේ රටට බලපෑ හැකි ව්‍යසනයන් මොනවාද සහ එහි ප්‍රතිඵල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කුමක් විය හැකිද? 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විශාල ව්‍යසනයක දී ගලවා ගැනීමේ මෙහෙයුම්වල පළමු පැය </a:t>
                      </a:r>
                      <a:r>
                        <a:rPr lang="en-US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24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තුළ  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කටයුතු කිර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ීමට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ඔබ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ේ රටට ඇති හැකියා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වන් 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කුමක්ද</a:t>
                      </a: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?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   අ</a:t>
                      </a:r>
                      <a:r>
                        <a:rPr lang="en-US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.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ද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ේශීය වශයෙන්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   ආ</a:t>
                      </a:r>
                      <a:r>
                        <a:rPr lang="en-US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.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ජ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ාතික වශයෙන්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විශාල ව්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‍යසනයකට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මුහුණ දීමේදි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ඔබගේ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වර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්තමාන පළමු ප්‍රතිචාර දැක්වීමේ හැකියාවේ යම්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අඩු ලුහුඩු කම් ඇත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 බව ඔබ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පිළීගන්නවාද</a:t>
                      </a:r>
                      <a:r>
                        <a:rPr lang="en-US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? 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ඔබ මෙම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අඩු ලුහුඩු කම් පියවා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ගැනිම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සදහා කටයුතු කරන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්නේ කෙසේද</a:t>
                      </a: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?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/>
                      </a:r>
                      <a:br>
                        <a:rPr lang="en-US" sz="105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</a:br>
                      <a:r>
                        <a:rPr lang="en-US" sz="105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FR-</a:t>
                      </a:r>
                      <a:r>
                        <a:rPr lang="si-LK" sz="105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ඉදිරිපත් කිරීම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1.2</a:t>
                      </a:r>
                      <a:endParaRPr lang="si-LK" sz="1050" dirty="0" smtClean="0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කරන්නා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ලැප්ටොප්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 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 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වය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ිට්බෝඩ් හෝ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කඩදාසි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 කාමරය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12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සහභාගිවන්නන් ඔවුන්ගේ කණ්ඩා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යම්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වලින්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පටිගත කරන්නෙකු සහ ඉදිරිපත් කරන්නෙකු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නම් කරන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 ලැබේ.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6163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05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25 </a:t>
                      </a:r>
                      <a:r>
                        <a:rPr lang="si-LK" sz="105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යි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සාරාංශ කිරීම සහ ප්රශ්න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සෑම කණ්ඩායමකටම ඔවුන්ගේ පිළිතුරු ඉදිරිපත් කරන ලෙස ඉල්ලා සිටින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අතර, ඉන්පසු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අවසන් කර ස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ාරාංශ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ගත කරයි.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වයිට්බෝඩ් හෝ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කඩද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ාසි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 කාමරය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0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ිරිපත්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කරන්නා විසින් පිීළිතුරු 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සැපයීම සහ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ප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්‍රතිචාර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දක්වන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ආකාරය සවිස්තරාත්මකව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ැහැදිලි කරයි.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5521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047377"/>
              </p:ext>
            </p:extLst>
          </p:nvPr>
        </p:nvGraphicFramePr>
        <p:xfrm>
          <a:off x="337457" y="326571"/>
          <a:ext cx="11495314" cy="6117772"/>
        </p:xfrm>
        <a:graphic>
          <a:graphicData uri="http://schemas.openxmlformats.org/drawingml/2006/table">
            <a:tbl>
              <a:tblPr firstRow="1" firstCol="1" bandRow="1"/>
              <a:tblGrid>
                <a:gridCol w="2096204"/>
                <a:gridCol w="9399110"/>
              </a:tblGrid>
              <a:tr h="407853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සටහන් (</a:t>
                      </a: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Instructor note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099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ක්‍රියාකාරකම්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</a:t>
                      </a: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Instructor Activities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සහභාගිවන්නන්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5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දෙනෙකුගෙන්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සමන්විත වන ලෙස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කණ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්ඩායම්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3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කට බෙදන්න.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සහභාගිවන්නන් ඔවුන්ගේ කණ්ඩායම්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වලට සපයනු ලබන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ප්‍රශ්නවලට පිළිතුරු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සැපයිය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යුතු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බව පැහැදිලි කරන්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.</a:t>
                      </a: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එම ප්‍රශ්න සහ පිළිතුරු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සෙසු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කණ්ඩායම් සහ උපදේශකයින් වෙත ඉදිරිපත් කිරීම සඳහා ඔවුන්ගේ පිළිතුරු පටිගත කරන්න.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සහභාගිවන්නන්ට ඔවුන්ගේ පවතින හැකි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යාවන්හි අඩු ලුහුඩු කම් හඳ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ුනා ගැනීමටත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්, එම අඩු ලුහුඩු කම් අවම කර  හැකියාවන් වැඩි දියුණු කර ගැනිමට ගත යුතු ක්‍රියාමාර්ග පිළිබද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අවධානය යොමු කිරිම.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සටහන: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උපදේශකයා/පුහුණ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 කරන්නා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මෙම සාකච්ඡාවේ පසුබිම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පිළීබදව පර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්යේෂණ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 කළ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යුතු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අතර,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පාඨමාලාව පැවැත්වෙන රටෙහි හෝ ප්‍රදේශයේ ජාතික සහ කලාපීය ප්‍රතිචාර දැක්වීමේ හැකියාව පිළිබඳව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අවබෝධයක්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ලබා ගත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යුතුය. කලාපය තු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ළ ආපදා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අවස්ථාවකදි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ජ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ාත්‍යන්තර ප්‍රතිචාර දැක්වීම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ේ කණ්ඩායම් වල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හැකියාව පිළිබඳව උපදේශකයා ද දැනුවත් විය යුතුය.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සහභාගිවන්නන් මෙම ගැටළු පිළිබඳව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අවබෝධයක්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නොමැති නම්</a:t>
                      </a: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මෙම තොරතුරු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උපදේශකයා විසින්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ාකච්ඡ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 කර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සාරාං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ශ ගත කර 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සැසිය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ේ සහභාගීවන්නන්ට අවබෝධ කළ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යුතුය.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20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86" y="740229"/>
            <a:ext cx="10515600" cy="1325563"/>
          </a:xfrm>
        </p:spPr>
        <p:txBody>
          <a:bodyPr/>
          <a:lstStyle/>
          <a:p>
            <a:r>
              <a:rPr lang="si-LK" b="1" dirty="0"/>
              <a:t>පළම</a:t>
            </a:r>
            <a:r>
              <a:rPr lang="si-LK" b="1" dirty="0" smtClean="0"/>
              <a:t>ු </a:t>
            </a:r>
            <a:r>
              <a:rPr lang="si-LK" b="1" dirty="0"/>
              <a:t>ප්‍රතිචාර </a:t>
            </a:r>
            <a:r>
              <a:rPr lang="si-LK" b="1" dirty="0" smtClean="0"/>
              <a:t>දැක්වීමේ ප</a:t>
            </a:r>
            <a:r>
              <a:rPr lang="si-LK" b="1" dirty="0"/>
              <a:t>ුහුණු වැඩසටහන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69" y="1771196"/>
            <a:ext cx="7262587" cy="17775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si-LK" dirty="0"/>
              <a:t>මොඩියුලය </a:t>
            </a:r>
            <a:r>
              <a:rPr lang="si-LK" dirty="0" smtClean="0"/>
              <a:t>	</a:t>
            </a:r>
            <a:r>
              <a:rPr lang="en-US" dirty="0" smtClean="0"/>
              <a:t>1</a:t>
            </a:r>
            <a:r>
              <a:rPr lang="en-US" dirty="0"/>
              <a:t>: </a:t>
            </a:r>
            <a:r>
              <a:rPr lang="si-LK" dirty="0" smtClean="0"/>
              <a:t>පළමු </a:t>
            </a:r>
            <a:r>
              <a:rPr lang="si-LK" dirty="0"/>
              <a:t>ප්‍රතිච</a:t>
            </a:r>
            <a:r>
              <a:rPr lang="si-LK" dirty="0" smtClean="0"/>
              <a:t>ාර දැක්වීම </a:t>
            </a:r>
            <a:r>
              <a:rPr lang="si-LK" dirty="0"/>
              <a:t>හැඳින්වී</a:t>
            </a:r>
            <a:r>
              <a:rPr lang="si-LK" dirty="0" smtClean="0"/>
              <a:t>ම</a:t>
            </a:r>
          </a:p>
          <a:p>
            <a:pPr marL="0" indent="0" algn="just">
              <a:buNone/>
            </a:pPr>
            <a:r>
              <a:rPr lang="si-LK" dirty="0" smtClean="0"/>
              <a:t>ස</a:t>
            </a:r>
            <a:r>
              <a:rPr lang="si-LK" dirty="0"/>
              <a:t>ැසිය </a:t>
            </a:r>
            <a:r>
              <a:rPr lang="en-US" dirty="0" smtClean="0"/>
              <a:t>	</a:t>
            </a:r>
            <a:r>
              <a:rPr lang="si-LK" dirty="0" smtClean="0"/>
              <a:t>	</a:t>
            </a:r>
            <a:r>
              <a:rPr lang="en-US" dirty="0" smtClean="0"/>
              <a:t>1.2- 	</a:t>
            </a:r>
            <a:r>
              <a:rPr lang="si-LK" dirty="0" smtClean="0"/>
              <a:t>ප</a:t>
            </a:r>
            <a:r>
              <a:rPr lang="si-LK" dirty="0"/>
              <a:t>ාඩම් සැලැස්</a:t>
            </a:r>
            <a:r>
              <a:rPr lang="si-LK" dirty="0" smtClean="0"/>
              <a:t>ම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5013" y="4354548"/>
            <a:ext cx="11669486" cy="24272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28981" t="79333" r="56370" b="13852"/>
          <a:stretch/>
        </p:blipFill>
        <p:spPr>
          <a:xfrm>
            <a:off x="751866" y="5558689"/>
            <a:ext cx="3058134" cy="6810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1543" y="4681526"/>
            <a:ext cx="48114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i-LK" dirty="0"/>
              <a:t>පළමුව ප්‍රතිචාර දැක්වීමේ පුහුණුව මෙම වැඩසටහන </a:t>
            </a:r>
            <a:r>
              <a:rPr lang="en-US" dirty="0"/>
              <a:t>INSARAG </a:t>
            </a:r>
            <a:r>
              <a:rPr lang="si-LK" dirty="0"/>
              <a:t>පුහුණුව කණ්ඩායම් මගින් සංවර්ධනය කරන ලද අතර මෙමගින් සියලු රටවල සිදුවන අපදා තත්වයකදී අවශ්‍ය උදව් ලබාදීම මෙයින් අදහස් කරන අතර සියලු සංවිධාන වල ජිවිත ගලවා ගැනීම් හැකියාව දියුණු කිරිම අරමුණවේ.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78461" t="79333" r="13981" b="13852"/>
          <a:stretch/>
        </p:blipFill>
        <p:spPr>
          <a:xfrm>
            <a:off x="10492766" y="136525"/>
            <a:ext cx="1577709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3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907542"/>
              </p:ext>
            </p:extLst>
          </p:nvPr>
        </p:nvGraphicFramePr>
        <p:xfrm>
          <a:off x="348342" y="337457"/>
          <a:ext cx="11460798" cy="1623441"/>
        </p:xfrm>
        <a:graphic>
          <a:graphicData uri="http://schemas.openxmlformats.org/drawingml/2006/table">
            <a:tbl>
              <a:tblPr firstRow="1" firstCol="1" bandRow="1"/>
              <a:tblGrid>
                <a:gridCol w="3819448"/>
                <a:gridCol w="3820675"/>
                <a:gridCol w="3820675"/>
              </a:tblGrid>
              <a:tr h="1359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ඉලක්කය </a:t>
                      </a:r>
                      <a:r>
                        <a:rPr lang="en-U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(Aim)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අරමුණු</a:t>
                      </a: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(Objective)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ඉගෙනුම් ප්රතිඵල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2326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මේ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හා සමාන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සිදුවීමක් (සිද්ධි අධ්‍යයනයට) සිදුවුවහොත්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එය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තම රටට බලපාන්නේ කෙසේද යන්න සහභාගිවන්නන් දැනුවත් කරන අතර පරීක්ෂා කිරීම සහ ප්‍රතිචාර දැක්වීමේ හැකියාවේ ඇති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අඩු ලුහුඩුකම් සහ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හැකියාවන් පිළිබදව දැනුමක් ලබා ගැනිමට හැකියාව ලැබේ.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endParaRPr lang="en-US" sz="10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පෙර සිදු වු සිද්ධි අධ්‍යයනය මත පදනම්ව:</a:t>
                      </a:r>
                      <a:endParaRPr lang="en-US" sz="10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සහභාගීවන්නන් කුඩා කණ්ඩායම්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ලෙස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සැදි සාකච්ඡා කරනු ලබයි. </a:t>
                      </a:r>
                    </a:p>
                    <a:p>
                      <a:pPr marL="346075" marR="0" lvl="0" indent="17462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එවැනි සිදුවීමක් මගින් ඇති කරන බලපෑම.</a:t>
                      </a:r>
                      <a:endParaRPr lang="en-US" sz="10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317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   ප්‍රතිචාර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දැක්වීම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.</a:t>
                      </a:r>
                      <a:endParaRPr lang="en-US" sz="10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55563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    දැනට පවතින අඩු ලුහුඩු කම්</a:t>
                      </a:r>
                      <a:endParaRPr lang="en-US" sz="10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සැසිය අවසානයේ දි සහභාගිවන්නන් හට:</a:t>
                      </a:r>
                      <a:endParaRPr lang="en-US" sz="10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ඔවුන්ගේ රටේ අවදානම්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තත්වය විභාග කර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ඔවුන්ගේ වත්මන් හැකියාවන්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සම්බන්ධව  ඇති අඩු ලුහුඩුකම් හදුනාගැනිමට හැකියාව ලැබිම.</a:t>
                      </a:r>
                      <a:endParaRPr lang="en-US" sz="10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වෙනත් රටවල ආපදා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කළමනාකරණය පිළීබද ඇති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අවබෝධය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වර්ධනය කර ගැනිමට</a:t>
                      </a:r>
                      <a:r>
                        <a:rPr lang="si-LK" sz="1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හැකිවීම.</a:t>
                      </a:r>
                      <a:endParaRPr lang="en-US" sz="10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30386" y="6611779"/>
            <a:ext cx="76335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i-LK" sz="1000" dirty="0">
                <a:solidFill>
                  <a:prstClr val="black"/>
                </a:solidFill>
              </a:rPr>
              <a:t>විනාඩි 60 යි</a:t>
            </a:r>
            <a:endParaRPr lang="en-US" sz="1000" dirty="0">
              <a:solidFill>
                <a:prstClr val="black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402396"/>
              </p:ext>
            </p:extLst>
          </p:nvPr>
        </p:nvGraphicFramePr>
        <p:xfrm>
          <a:off x="322870" y="1876072"/>
          <a:ext cx="11488129" cy="5343305"/>
        </p:xfrm>
        <a:graphic>
          <a:graphicData uri="http://schemas.openxmlformats.org/drawingml/2006/table">
            <a:tbl>
              <a:tblPr firstRow="1" firstCol="1" bandRow="1"/>
              <a:tblGrid>
                <a:gridCol w="950759"/>
                <a:gridCol w="2950028"/>
                <a:gridCol w="5595257"/>
                <a:gridCol w="1992085"/>
              </a:tblGrid>
              <a:tr h="13404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කාලය </a:t>
                      </a: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(Time)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අන්තර්ගතය </a:t>
                      </a: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(Content)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ාකාරිත්වය </a:t>
                      </a: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(Activity)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සම්පත්</a:t>
                      </a: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(Resources)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072326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5 </a:t>
                      </a:r>
                      <a:r>
                        <a:rPr lang="si-LK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යි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විස්තර කිරිම (</a:t>
                      </a:r>
                      <a:r>
                        <a:rPr lang="en-US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Brief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i-LK" sz="105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සහභාගිවන්නන් </a:t>
                      </a:r>
                      <a:r>
                        <a:rPr lang="en-US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5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දෙනෙකුගෙන් සමන්විත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වන පරිදි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කණ්ඩායම් </a:t>
                      </a:r>
                      <a:r>
                        <a:rPr lang="en-US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3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කට බෙදන්න. සහභාගිවන්නන් ඔවුන්ගේ කණ්ඩායම්වලට ලබා දි ඇති ප්‍රශ්නවලට පිළිතුරු සැපයිය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යුතු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බව පැහැදිලි කරන්න</a:t>
                      </a:r>
                      <a:r>
                        <a:rPr lang="en-US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සෙසු කණ්ඩායම් සහ උපදේශකයින් වෙත ඉදිරිපත් කිරීම සඳහා ඔවුන්ගේ පිළිතුරු පටිගත කර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ගන්න.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කාමර 3 ක්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ප්‍රශ්න පත්‍ර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කඩදාසි සහ පෑන්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0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i-LK" sz="105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අවශ්‍ය පරිදි සවන් දීම සහ අන්තර් ක්‍රියා කරන්න.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87657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30 යි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වාද කිරිම (</a:t>
                      </a:r>
                      <a:r>
                        <a:rPr lang="en-US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Debate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පහත ප්‍රශ්න අසනු ලබයි.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මෑතකදී සිදු වු  සිදුවීම් මත පදනම්ව</a:t>
                      </a:r>
                      <a:r>
                        <a:rPr lang="en-US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ඔබේ රටට බලපෑ හැකි ව්‍යසනයන් මොනවාද සහ එහි ප්‍රතිඵල කුමක් විය හැකිද? 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විශාල ව්‍යසනයක දී ගලවා ගැනීමේ මෙහෙයුම්වල පළමු පැය </a:t>
                      </a:r>
                      <a:r>
                        <a:rPr lang="en-US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24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තුළ  කටයුතු කිරීමට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ඔබේ රටට ඇති හැකියාවන් කුමක්ද</a:t>
                      </a:r>
                      <a:r>
                        <a:rPr lang="en-US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?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   අ</a:t>
                      </a:r>
                      <a:r>
                        <a:rPr lang="en-US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.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දේශීය වශයෙන්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   ආ</a:t>
                      </a:r>
                      <a:r>
                        <a:rPr lang="en-US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.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ජාතික වශයෙන්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විශාල ව්‍යසනයකට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මුහුණ දීමේදි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ඔබගේ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වර්තමාන පළමු ප්‍රතිචාර දැක්වීමේ හැකියාවේ යම් අඩු ලුහුඩු කම් ඇති බව ඔබ පිළීගන්නවාද</a:t>
                      </a:r>
                      <a:r>
                        <a:rPr lang="en-US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?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ඔබ මෙම අඩු ලුහුඩු කම් පියවා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ගැනිම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සදහා කටයුතු කරන්නේ කෙසේද</a:t>
                      </a:r>
                      <a:r>
                        <a:rPr lang="en-US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?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FR-</a:t>
                      </a:r>
                      <a:r>
                        <a:rPr lang="si-LK" sz="1050" dirty="0" smtClean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ඉදිරිපත් කිරීම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1.2</a:t>
                      </a:r>
                      <a:endParaRPr lang="si-LK" sz="1050" dirty="0" smtClean="0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කරන්නා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ලැප්ටොප්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 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 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වයිට්බෝඩ් හෝ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කඩදාසි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 කාමරය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/>
                      </a:r>
                      <a:br>
                        <a:rPr lang="en-US" sz="105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</a:br>
                      <a:r>
                        <a:rPr lang="en-US" sz="105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 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 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12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i-LK" sz="105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සහභාගිවන්නන් ඔවුන්ගේ කණ්ඩායම්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වලින්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පටිගත කරන්නෙකු සහ ඉදිරිපත් කරන්නෙකු නම් කරනු ලැබේ.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6163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05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25 </a:t>
                      </a:r>
                      <a:r>
                        <a:rPr lang="si-LK" sz="105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යි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i-LK" sz="105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සෑම කණ්ඩායමකටම ඔවුන්ගේ පිළිතුරු ඉදිරිපත් කරන ලෙස ඉල්ලා සිටින අතර, ඉන්පසු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අවසන් කර සාරාංශ ගත කරයි.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වයිට්බෝඩ් හෝ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කඩදාසි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 කාමරය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0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i-LK" sz="105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ඉදිරිපත් කරන්නා විසින් පිීළිතුරු 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සැපයීම සහ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ප්‍රතිචාර දක්වන</a:t>
                      </a:r>
                      <a:r>
                        <a:rPr lang="si-LK" sz="105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ආකාරය සවිස්තරාත්මකව </a:t>
                      </a:r>
                      <a:r>
                        <a:rPr lang="si-LK" sz="105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පැහැදිලි කරයි.</a:t>
                      </a:r>
                      <a:endParaRPr lang="en-US" sz="105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9226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88716"/>
              </p:ext>
            </p:extLst>
          </p:nvPr>
        </p:nvGraphicFramePr>
        <p:xfrm>
          <a:off x="337457" y="326571"/>
          <a:ext cx="11495314" cy="6117772"/>
        </p:xfrm>
        <a:graphic>
          <a:graphicData uri="http://schemas.openxmlformats.org/drawingml/2006/table">
            <a:tbl>
              <a:tblPr firstRow="1" firstCol="1" bandRow="1"/>
              <a:tblGrid>
                <a:gridCol w="2096204"/>
                <a:gridCol w="9399110"/>
              </a:tblGrid>
              <a:tr h="407853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Instructor </a:t>
                      </a: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note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උපදේශක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සටහන්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099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I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ක්‍රියාකාරකම්</a:t>
                      </a: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</a:t>
                      </a:r>
                      <a:r>
                        <a:rPr lang="ta-IN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​</a:t>
                      </a: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Instructor Activities)</a:t>
                      </a:r>
                      <a:endParaRPr lang="si-LK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සහභාගිවන්නන් </a:t>
                      </a: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5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දෙනෙකුගෙන් සමන්විත වන ලෙස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කණ්ඩායම් </a:t>
                      </a: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3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කට බෙදන්න.</a:t>
                      </a: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සහභාගිවන්නන් ඔවුන්ගේ කණ්ඩායම්වලට සපයනු ලබන ප්‍රශ්නවලට පිළිතුරු සැපයිය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යුතු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බව පැහැදිලි කරන්න.</a:t>
                      </a: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එම ප්‍රශ්න සහ පිළිතුරු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සෙසු කණ්ඩායම් සහ උපදේශකයින් වෙත ඉදිරිපත් කිරීම සඳහා ඔවුන්ගේ පිළිතුරු පටිගත කරන්න.</a:t>
                      </a: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සහභාගිවන්නන්ට ඔවුන්ගේ පවතින හැකියාවන්හි අඩු ලුහුඩු කම් හඳුනා ගැනීමටත්, එම අඩු ලුහුඩු කම් අවම කර  හැකියාවන් වැඩි දියුණු කර ගැනිමට ගත යුතු ක්‍රියාමාර්ග පිළිබද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අවධානය යොමු කිරිම.</a:t>
                      </a: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සටහන:</a:t>
                      </a:r>
                      <a:endParaRPr lang="en-US" sz="1600" b="1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උපදේශකයා/පුහුණු කරන්නා මෙම සාකච්ඡාවේ පසුබිම පිළීබදව පර්යේෂණ සිදු කළ යුතු අතර, පාඨමාලාව පැවැත්වෙන රටෙහි හෝ ප්‍රදේශයේ ජාතික සහ කලාපීය ප්‍රතිචාර දැක්වීමේ හැකියාව පිළිබඳව අවබෝධයක්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ලබා ගත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යුතුය. කලාපය තුළ ආපදා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අවස්ථාවකදි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ජාත්‍යන්තර ප්‍රතිචාර දැක්වීමේ කණ්ඩායම් වල හැකියාව පිළිබඳව උපදේශකයා ද දැනුවත් විය යුතුය.</a:t>
                      </a: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සහභාගිවන්නන් මෙම ගැටළු පිළිබඳව අවබෝධයක්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නොමැති නම්</a:t>
                      </a: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මෙම තොරතුරු  උපදේශකයා විසින් සාකච්ඡා කර සාරාංශ ගත කර  සැසියේ සහභාගීවන්නන්ට අවබෝධ කළ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යුතුය.</a:t>
                      </a: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430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2ColumnTex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08473" y="879087"/>
            <a:ext cx="3340100" cy="5688981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490653" y="1212052"/>
            <a:ext cx="4371278" cy="95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  <a:t>පළමු</a:t>
            </a:r>
            <a:b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  <a:t>ප</a:t>
            </a:r>
            <a:r>
              <a:rPr lang="si-LK" sz="3100" b="1" dirty="0">
                <a:solidFill>
                  <a:prstClr val="black"/>
                </a:solidFill>
                <a:latin typeface="Calibri Light" panose="020F0302020204030204"/>
              </a:rPr>
              <a:t>්‍රතිචා</a:t>
            </a:r>
            <a: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  <a:t>රකයා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473" y="2329820"/>
            <a:ext cx="8563384" cy="4694918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si-LK" dirty="0"/>
              <a:t>ඉදිරිපත් කිරිමේ මාතෘකා</a:t>
            </a:r>
            <a:r>
              <a:rPr lang="si-LK" dirty="0" smtClean="0"/>
              <a:t>ව		:-</a:t>
            </a:r>
            <a:r>
              <a:rPr lang="si-LK" dirty="0"/>
              <a:t>	පළම</a:t>
            </a:r>
            <a:r>
              <a:rPr lang="si-LK" dirty="0" smtClean="0"/>
              <a:t>ු </a:t>
            </a:r>
            <a:r>
              <a:rPr lang="si-LK" dirty="0"/>
              <a:t>ප්‍රතිචා</a:t>
            </a:r>
            <a:r>
              <a:rPr lang="si-LK" dirty="0" smtClean="0"/>
              <a:t>ර</a:t>
            </a:r>
            <a:r>
              <a:rPr lang="en-US" dirty="0" smtClean="0"/>
              <a:t> </a:t>
            </a:r>
            <a:r>
              <a:rPr lang="si-LK" dirty="0" smtClean="0"/>
              <a:t>දැක්වීම හැඳින්වීම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si-LK" dirty="0" smtClean="0"/>
              <a:t>		ම</a:t>
            </a:r>
            <a:r>
              <a:rPr lang="si-LK" dirty="0"/>
              <a:t>ොඩියුලර</a:t>
            </a:r>
            <a:r>
              <a:rPr lang="si-LK" dirty="0" smtClean="0"/>
              <a:t>්	: 	1:2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si-LK" dirty="0"/>
              <a:t>ඉදිරිපත් කරන්නන්/ උපදේ</a:t>
            </a:r>
            <a:r>
              <a:rPr lang="si-LK" dirty="0" smtClean="0"/>
              <a:t>ශක	:-	ඉද</a:t>
            </a:r>
            <a:r>
              <a:rPr lang="si-LK" dirty="0"/>
              <a:t>ිරිපත් කරන්නන්ගේ නම ඇතුළත් </a:t>
            </a:r>
            <a:r>
              <a:rPr lang="si-LK" dirty="0" smtClean="0"/>
              <a:t>						කරන</a:t>
            </a:r>
            <a:r>
              <a:rPr lang="si-LK" dirty="0"/>
              <a:t>්</a:t>
            </a:r>
            <a:r>
              <a:rPr lang="si-LK" dirty="0" smtClean="0"/>
              <a:t>න.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si-LK" dirty="0" smtClean="0"/>
          </a:p>
          <a:p>
            <a:pPr marL="0" indent="0">
              <a:buNone/>
            </a:pPr>
            <a:r>
              <a:rPr lang="si-LK" dirty="0"/>
              <a:t>	</a:t>
            </a:r>
            <a:r>
              <a:rPr lang="si-LK" dirty="0" smtClean="0"/>
              <a:t>																													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Coordination Saves Lives</a:t>
            </a:r>
            <a:r>
              <a:rPr lang="en-US" dirty="0" smtClean="0"/>
              <a:t>			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				</a:t>
            </a:r>
            <a:r>
              <a:rPr lang="si-LK" dirty="0" smtClean="0"/>
              <a:t>	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2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856" y="1411967"/>
            <a:ext cx="6281058" cy="42357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si-LK" sz="3600" b="1" dirty="0"/>
              <a:t>පළම</a:t>
            </a:r>
            <a:r>
              <a:rPr lang="si-LK" sz="3600" b="1" dirty="0" smtClean="0"/>
              <a:t>ු ප</a:t>
            </a:r>
            <a:r>
              <a:rPr lang="si-LK" sz="3600" b="1" dirty="0"/>
              <a:t>්‍රතිචා</a:t>
            </a:r>
            <a:r>
              <a:rPr lang="si-LK" sz="3600" b="1" dirty="0" smtClean="0"/>
              <a:t>ර දැක්වීම හැඳින්වීම</a:t>
            </a:r>
            <a:endParaRPr lang="en-US" sz="3600" b="1" dirty="0" smtClean="0"/>
          </a:p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endParaRPr lang="en-US" sz="3600" b="1" dirty="0" smtClean="0"/>
          </a:p>
          <a:p>
            <a:pPr marL="0" indent="0" algn="ctr">
              <a:buNone/>
            </a:pPr>
            <a:r>
              <a:rPr lang="si-LK" dirty="0" smtClean="0"/>
              <a:t>කණ්ඩායම් සාකච්ඡාව</a:t>
            </a:r>
            <a:endParaRPr lang="en-US" dirty="0"/>
          </a:p>
          <a:p>
            <a:pPr marL="0" indent="0" algn="ctr">
              <a:buNone/>
            </a:pPr>
            <a:endParaRPr lang="en-US" sz="3600" b="1" dirty="0" smtClean="0"/>
          </a:p>
          <a:p>
            <a:pPr marL="0" indent="0" algn="ctr">
              <a:buNone/>
            </a:pPr>
            <a:endParaRPr lang="si-LK" sz="3600" b="1" dirty="0" smtClean="0"/>
          </a:p>
          <a:p>
            <a:endParaRPr lang="si-LK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11" name="Picture 10" descr="Overlay-2ColumnText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8244158" y="223365"/>
            <a:ext cx="3340100" cy="5688981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sp>
        <p:nvSpPr>
          <p:cNvPr id="12" name="Title 3"/>
          <p:cNvSpPr txBox="1">
            <a:spLocks noGrp="1"/>
          </p:cNvSpPr>
          <p:nvPr>
            <p:ph type="title"/>
          </p:nvPr>
        </p:nvSpPr>
        <p:spPr>
          <a:xfrm>
            <a:off x="8668899" y="538325"/>
            <a:ext cx="2652244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i-LK" sz="2400" b="1" dirty="0" smtClean="0">
                <a:solidFill>
                  <a:prstClr val="black"/>
                </a:solidFill>
                <a:latin typeface="Calibri Light" panose="020F0302020204030204"/>
              </a:rPr>
              <a:t>පළමු </a:t>
            </a:r>
            <a:br>
              <a:rPr lang="si-LK" sz="24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2400" b="1" dirty="0" smtClean="0">
                <a:solidFill>
                  <a:prstClr val="black"/>
                </a:solidFill>
                <a:latin typeface="Calibri Light" panose="020F0302020204030204"/>
              </a:rPr>
              <a:t>ප</a:t>
            </a:r>
            <a:r>
              <a:rPr lang="si-LK" sz="2400" b="1" dirty="0">
                <a:solidFill>
                  <a:prstClr val="black"/>
                </a:solidFill>
                <a:latin typeface="Calibri Light" panose="020F0302020204030204"/>
              </a:rPr>
              <a:t>්‍රතිචාර දක්වන්</a:t>
            </a:r>
            <a:r>
              <a:rPr lang="si-LK" sz="2400" b="1" dirty="0" smtClean="0">
                <a:solidFill>
                  <a:prstClr val="black"/>
                </a:solidFill>
                <a:latin typeface="Calibri Light" panose="020F0302020204030204"/>
              </a:rPr>
              <a:t>නන</a:t>
            </a:r>
            <a:r>
              <a:rPr lang="si-LK" sz="2400" b="1" dirty="0">
                <a:solidFill>
                  <a:prstClr val="black"/>
                </a:solidFill>
                <a:latin typeface="Calibri Light" panose="020F0302020204030204"/>
              </a:rPr>
              <a:t>්</a:t>
            </a:r>
            <a:endParaRPr lang="en-US" sz="2400" b="1" dirty="0"/>
          </a:p>
        </p:txBody>
      </p:sp>
      <p:sp>
        <p:nvSpPr>
          <p:cNvPr id="13" name="Rectangle 12"/>
          <p:cNvSpPr/>
          <p:nvPr/>
        </p:nvSpPr>
        <p:spPr>
          <a:xfrm>
            <a:off x="8668899" y="5278398"/>
            <a:ext cx="2490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Coordination Saves Lives</a:t>
            </a:r>
          </a:p>
        </p:txBody>
      </p:sp>
    </p:spTree>
    <p:extLst>
      <p:ext uri="{BB962C8B-B14F-4D97-AF65-F5344CB8AC3E}">
        <p14:creationId xmlns:p14="http://schemas.microsoft.com/office/powerpoint/2010/main" val="801046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870517"/>
            <a:ext cx="10515600" cy="1325563"/>
          </a:xfrm>
        </p:spPr>
        <p:txBody>
          <a:bodyPr>
            <a:normAutofit/>
          </a:bodyPr>
          <a:lstStyle/>
          <a:p>
            <a:r>
              <a:rPr lang="si-LK" dirty="0"/>
              <a:t>පළම</a:t>
            </a:r>
            <a:r>
              <a:rPr lang="si-LK" dirty="0" smtClean="0"/>
              <a:t>ු </a:t>
            </a:r>
            <a:r>
              <a:rPr lang="si-LK" dirty="0"/>
              <a:t>ප්‍රතිච</a:t>
            </a:r>
            <a:r>
              <a:rPr lang="si-LK" dirty="0" smtClean="0"/>
              <a:t>ාර දැක්වීම </a:t>
            </a:r>
            <a:r>
              <a:rPr lang="si-LK" dirty="0"/>
              <a:t>හැඳින්වීම</a:t>
            </a:r>
            <a:r>
              <a:rPr lang="en-US" dirty="0"/>
              <a:t/>
            </a:r>
            <a:br>
              <a:rPr lang="en-US" dirty="0"/>
            </a:br>
            <a:r>
              <a:rPr lang="si-LK" dirty="0" smtClean="0"/>
              <a:t>ඉගෙන ගැනීමේ ප්‍රතිඵල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506662"/>
            <a:ext cx="10515600" cy="4351338"/>
          </a:xfrm>
        </p:spPr>
        <p:txBody>
          <a:bodyPr/>
          <a:lstStyle/>
          <a:p>
            <a:pPr algn="just"/>
            <a:r>
              <a:rPr lang="si-LK" dirty="0"/>
              <a:t>සහභාගිවන්නන් ඔවුන්ගේම </a:t>
            </a:r>
            <a:r>
              <a:rPr lang="si-LK" dirty="0" smtClean="0"/>
              <a:t>පුරවරයක</a:t>
            </a:r>
            <a:r>
              <a:rPr lang="en-US" dirty="0" smtClean="0"/>
              <a:t>, </a:t>
            </a:r>
            <a:r>
              <a:rPr lang="si-LK" dirty="0"/>
              <a:t>නගරයක හෝ ප්‍රදේශයේ වත්මන් ගලවා ගැනීමේ හැකියාව පිළිබඳ </a:t>
            </a:r>
            <a:r>
              <a:rPr lang="si-LK" dirty="0" smtClean="0"/>
              <a:t>දැනුවත්භාවය වර</a:t>
            </a:r>
            <a:r>
              <a:rPr lang="si-LK" dirty="0"/>
              <a:t>්ධනය කරනු ඇත</a:t>
            </a:r>
            <a:r>
              <a:rPr lang="si-LK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si-LK" dirty="0" smtClean="0"/>
              <a:t>සහභ</a:t>
            </a:r>
            <a:r>
              <a:rPr lang="si-LK" dirty="0"/>
              <a:t>ාගිවන්නන් තමන්ගේ සහ වෙනත් </a:t>
            </a:r>
            <a:r>
              <a:rPr lang="si-LK" dirty="0" smtClean="0"/>
              <a:t>රටවල </a:t>
            </a:r>
            <a:r>
              <a:rPr lang="si-LK" dirty="0"/>
              <a:t>ගලවා ගැනීමේ </a:t>
            </a:r>
            <a:r>
              <a:rPr lang="si-LK" dirty="0" smtClean="0"/>
              <a:t>කණ්ඩායම්වල හ</a:t>
            </a:r>
            <a:r>
              <a:rPr lang="si-LK" dirty="0"/>
              <a:t>ැකියාව පිළිබඳ වැඩි අවබෝධයක් </a:t>
            </a:r>
            <a:r>
              <a:rPr lang="si-LK" dirty="0" smtClean="0"/>
              <a:t>ලබා </a:t>
            </a:r>
            <a:r>
              <a:rPr lang="si-LK" dirty="0"/>
              <a:t>ගනු </a:t>
            </a:r>
            <a:r>
              <a:rPr lang="si-LK" dirty="0" smtClean="0"/>
              <a:t>ඇත.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863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343" y="740229"/>
            <a:ext cx="10515600" cy="1325563"/>
          </a:xfrm>
        </p:spPr>
        <p:txBody>
          <a:bodyPr/>
          <a:lstStyle/>
          <a:p>
            <a:r>
              <a:rPr lang="si-LK" dirty="0"/>
              <a:t>කණ්ඩායම් සාකච්ඡාව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si-LK" dirty="0" smtClean="0"/>
              <a:t>ඔබගේ </a:t>
            </a:r>
            <a:r>
              <a:rPr lang="si-LK" dirty="0"/>
              <a:t>කණ්ඩායම් තුළ</a:t>
            </a:r>
            <a:r>
              <a:rPr lang="en-US" dirty="0"/>
              <a:t>, </a:t>
            </a:r>
            <a:r>
              <a:rPr lang="si-LK" dirty="0" smtClean="0"/>
              <a:t>මීළඟ </a:t>
            </a:r>
            <a:r>
              <a:rPr lang="en-US" dirty="0" smtClean="0"/>
              <a:t>Slides </a:t>
            </a:r>
            <a:r>
              <a:rPr lang="si-LK" dirty="0" smtClean="0"/>
              <a:t>තුන උපයෝගී කරගනිමින් ප</a:t>
            </a:r>
            <a:r>
              <a:rPr lang="si-LK" dirty="0"/>
              <a:t>්‍රශ්න </a:t>
            </a:r>
            <a:r>
              <a:rPr lang="si-LK" dirty="0" smtClean="0"/>
              <a:t>පිළීබදව අධ</a:t>
            </a:r>
            <a:r>
              <a:rPr lang="si-LK" dirty="0"/>
              <a:t>්‍යයනය කරන්න</a:t>
            </a:r>
            <a:r>
              <a:rPr lang="si-LK" dirty="0" smtClean="0"/>
              <a:t>.</a:t>
            </a:r>
          </a:p>
          <a:p>
            <a:pPr algn="just"/>
            <a:r>
              <a:rPr lang="si-LK" dirty="0" smtClean="0"/>
              <a:t>ප</a:t>
            </a:r>
            <a:r>
              <a:rPr lang="si-LK" dirty="0"/>
              <a:t>්‍රශ්න සාකච්ඡා කර පිළිතුරු දී</a:t>
            </a:r>
            <a:r>
              <a:rPr lang="si-LK" dirty="0" smtClean="0"/>
              <a:t>ම </a:t>
            </a:r>
            <a:r>
              <a:rPr lang="si-LK" dirty="0" smtClean="0"/>
              <a:t>සිදුකරන්</a:t>
            </a:r>
            <a:r>
              <a:rPr lang="si-LK" dirty="0" smtClean="0"/>
              <a:t>න, ඔබ විසින් සටහන් කරගන්නා ලද  </a:t>
            </a:r>
            <a:r>
              <a:rPr lang="si-LK" dirty="0" smtClean="0"/>
              <a:t>පිළිතුරු සමග එකඟ </a:t>
            </a:r>
            <a:r>
              <a:rPr lang="si-LK" dirty="0" smtClean="0"/>
              <a:t>වීමට උත්සාහ  කරන්න. </a:t>
            </a:r>
            <a:endParaRPr lang="si-LK" dirty="0" smtClean="0"/>
          </a:p>
          <a:p>
            <a:pPr algn="just"/>
            <a:r>
              <a:rPr lang="si-LK" dirty="0" smtClean="0"/>
              <a:t>අවස</a:t>
            </a:r>
            <a:r>
              <a:rPr lang="si-LK" dirty="0"/>
              <a:t>ාන වශයෙන්</a:t>
            </a:r>
            <a:r>
              <a:rPr lang="en-US" dirty="0"/>
              <a:t>, </a:t>
            </a:r>
            <a:r>
              <a:rPr lang="si-LK" dirty="0"/>
              <a:t>කණ්ඩායම් නැවත එකතු වන </a:t>
            </a:r>
            <a:r>
              <a:rPr lang="si-LK" dirty="0" smtClean="0"/>
              <a:t>අතර, </a:t>
            </a:r>
            <a:r>
              <a:rPr lang="si-LK" dirty="0"/>
              <a:t>පොදු අවබෝධයක් ලබා ගැනීම සඳහා ඔබ සියලු දෙන</a:t>
            </a:r>
            <a:r>
              <a:rPr lang="si-LK" dirty="0" smtClean="0"/>
              <a:t>ාගේම </a:t>
            </a:r>
            <a:r>
              <a:rPr lang="si-LK" dirty="0"/>
              <a:t>පිළිතුරු බෙදා ගනු ඇත.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510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458" y="96383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si-LK" dirty="0"/>
              <a:t>කණ්ඩායම් සාකච්ඡා</a:t>
            </a:r>
            <a:r>
              <a:rPr lang="si-LK" dirty="0" smtClean="0"/>
              <a:t>ව</a:t>
            </a:r>
            <a:br>
              <a:rPr lang="si-LK" dirty="0" smtClean="0"/>
            </a:br>
            <a:r>
              <a:rPr lang="si-LK" dirty="0" smtClean="0"/>
              <a:t>ප්‍රශ්නය 1: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/>
          </a:p>
          <a:p>
            <a:pPr algn="just"/>
            <a:r>
              <a:rPr lang="si-LK" dirty="0"/>
              <a:t>පෙර සිදුවීම් මත පදනම්ව</a:t>
            </a:r>
            <a:r>
              <a:rPr lang="en-US" dirty="0"/>
              <a:t>, </a:t>
            </a:r>
            <a:r>
              <a:rPr lang="si-LK" dirty="0"/>
              <a:t>ඔබේ රටට බලපෑ හැකි ව්‍යසනයන් මොනවාද සහ එහි ප්‍රති</a:t>
            </a:r>
            <a:r>
              <a:rPr lang="si-LK" dirty="0" smtClean="0"/>
              <a:t>ඵලය කුමක් විය හැකිද?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596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514" y="83786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si-LK" dirty="0"/>
              <a:t>කණ්ඩායම් සාකච්ඡාව</a:t>
            </a:r>
            <a:r>
              <a:rPr lang="en-US" dirty="0"/>
              <a:t/>
            </a:r>
            <a:br>
              <a:rPr lang="en-US" dirty="0"/>
            </a:br>
            <a:r>
              <a:rPr lang="si-LK" dirty="0" smtClean="0"/>
              <a:t>ප්‍රශ්නය </a:t>
            </a:r>
            <a:r>
              <a:rPr lang="en-US" dirty="0" smtClean="0"/>
              <a:t>2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29330"/>
            <a:ext cx="10515600" cy="4351338"/>
          </a:xfrm>
        </p:spPr>
        <p:txBody>
          <a:bodyPr/>
          <a:lstStyle/>
          <a:p>
            <a:pPr algn="just"/>
            <a:r>
              <a:rPr lang="si-LK" dirty="0" smtClean="0"/>
              <a:t>ව</a:t>
            </a:r>
            <a:r>
              <a:rPr lang="si-LK" dirty="0"/>
              <a:t>ිශාල ආපදා</a:t>
            </a:r>
            <a:r>
              <a:rPr lang="si-LK" dirty="0" smtClean="0"/>
              <a:t>වකද</a:t>
            </a:r>
            <a:r>
              <a:rPr lang="si-LK" dirty="0"/>
              <a:t>ී පළමු පැය </a:t>
            </a:r>
            <a:r>
              <a:rPr lang="en-US" dirty="0"/>
              <a:t>24</a:t>
            </a:r>
            <a:r>
              <a:rPr lang="si-LK" dirty="0"/>
              <a:t> තුළ ජ</a:t>
            </a:r>
            <a:r>
              <a:rPr lang="si-LK" dirty="0" smtClean="0"/>
              <a:t>ිවිත ගලව</a:t>
            </a:r>
            <a:r>
              <a:rPr lang="si-LK" dirty="0"/>
              <a:t>ා ගැනීමේ මෙහෙයුම</a:t>
            </a:r>
            <a:r>
              <a:rPr lang="si-LK" dirty="0" smtClean="0"/>
              <a:t>්</a:t>
            </a:r>
            <a:r>
              <a:rPr lang="si-LK" dirty="0"/>
              <a:t> </a:t>
            </a:r>
            <a:r>
              <a:rPr lang="si-LK" dirty="0" smtClean="0"/>
              <a:t>සිදු කිරිමට </a:t>
            </a:r>
            <a:r>
              <a:rPr lang="si-LK" dirty="0" smtClean="0"/>
              <a:t> ඔබගේ රටට </a:t>
            </a:r>
            <a:r>
              <a:rPr lang="si-LK" dirty="0"/>
              <a:t>ඇති හැකියා</a:t>
            </a:r>
            <a:r>
              <a:rPr lang="si-LK" dirty="0" smtClean="0"/>
              <a:t>වන් </a:t>
            </a:r>
            <a:r>
              <a:rPr lang="si-LK" dirty="0"/>
              <a:t>කුමක්ද</a:t>
            </a:r>
            <a:r>
              <a:rPr lang="en-US" dirty="0" smtClean="0"/>
              <a:t>?</a:t>
            </a:r>
            <a:endParaRPr lang="si-LK" dirty="0" smtClean="0"/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si-LK" dirty="0" smtClean="0"/>
              <a:t>	</a:t>
            </a:r>
            <a:r>
              <a:rPr lang="en-US" dirty="0" smtClean="0"/>
              <a:t>A</a:t>
            </a:r>
            <a:r>
              <a:rPr lang="en-US" dirty="0"/>
              <a:t>. </a:t>
            </a:r>
            <a:r>
              <a:rPr lang="si-LK" dirty="0"/>
              <a:t>ඔබේ නගරයේ</a:t>
            </a:r>
            <a:r>
              <a:rPr lang="en-US" dirty="0"/>
              <a:t>, </a:t>
            </a:r>
            <a:r>
              <a:rPr lang="si-LK" dirty="0" smtClean="0"/>
              <a:t>පුරවරයේ </a:t>
            </a:r>
            <a:r>
              <a:rPr lang="si-LK" dirty="0"/>
              <a:t>හෝ ප්‍රදේශයේ </a:t>
            </a:r>
            <a:endParaRPr lang="si-LK" dirty="0" smtClean="0"/>
          </a:p>
          <a:p>
            <a:pPr marL="0" indent="0" algn="just">
              <a:buNone/>
            </a:pPr>
            <a:r>
              <a:rPr lang="si-LK" dirty="0" smtClean="0"/>
              <a:t>	</a:t>
            </a:r>
            <a:r>
              <a:rPr lang="en-US" dirty="0" smtClean="0"/>
              <a:t>B</a:t>
            </a:r>
            <a:r>
              <a:rPr lang="en-US" dirty="0"/>
              <a:t>. </a:t>
            </a:r>
            <a:r>
              <a:rPr lang="si-LK" dirty="0"/>
              <a:t>ජාතික වශයෙන් ඔබේ </a:t>
            </a:r>
            <a:r>
              <a:rPr lang="si-LK" dirty="0" smtClean="0"/>
              <a:t>රටේ හැකියාව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54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2" y="93118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si-LK" dirty="0"/>
              <a:t>කණ්ඩායම් සාකච්ඡාව</a:t>
            </a:r>
            <a:r>
              <a:rPr lang="en-US" dirty="0"/>
              <a:t/>
            </a:r>
            <a:br>
              <a:rPr lang="en-US" dirty="0"/>
            </a:br>
            <a:r>
              <a:rPr lang="si-LK" dirty="0" smtClean="0"/>
              <a:t>ප්‍රශ්නය </a:t>
            </a:r>
            <a:r>
              <a:rPr lang="en-US" dirty="0" smtClean="0"/>
              <a:t>3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70" y="3000750"/>
            <a:ext cx="10515600" cy="4351338"/>
          </a:xfrm>
        </p:spPr>
        <p:txBody>
          <a:bodyPr/>
          <a:lstStyle/>
          <a:p>
            <a:pPr algn="just"/>
            <a:r>
              <a:rPr lang="si-LK" dirty="0" smtClean="0"/>
              <a:t>වර්ථමානයේ </a:t>
            </a:r>
            <a:r>
              <a:rPr lang="si-LK" dirty="0" smtClean="0"/>
              <a:t>ඇති විය හැකි </a:t>
            </a:r>
            <a:r>
              <a:rPr lang="si-LK" dirty="0" smtClean="0"/>
              <a:t>ව</a:t>
            </a:r>
            <a:r>
              <a:rPr lang="si-LK" dirty="0"/>
              <a:t>ිශාල ව්‍යසනයකට </a:t>
            </a:r>
            <a:r>
              <a:rPr lang="si-LK" dirty="0" smtClean="0"/>
              <a:t>පළම</a:t>
            </a:r>
            <a:r>
              <a:rPr lang="si-LK" dirty="0" smtClean="0"/>
              <a:t>ුව </a:t>
            </a:r>
            <a:r>
              <a:rPr lang="si-LK" dirty="0"/>
              <a:t>ප්‍රතිචාර දැක්වීමේ </a:t>
            </a:r>
            <a:r>
              <a:rPr lang="si-LK" dirty="0" smtClean="0"/>
              <a:t>කණ්ඩා</a:t>
            </a:r>
            <a:r>
              <a:rPr lang="si-LK" dirty="0" smtClean="0"/>
              <a:t>යම් මුහුණ දීමේදි ඔවුන්ගේ හ</a:t>
            </a:r>
            <a:r>
              <a:rPr lang="si-LK" dirty="0"/>
              <a:t>ැකිය</a:t>
            </a:r>
            <a:r>
              <a:rPr lang="si-LK" dirty="0" smtClean="0"/>
              <a:t>ා</a:t>
            </a:r>
            <a:r>
              <a:rPr lang="si-LK" dirty="0" smtClean="0"/>
              <a:t>වන් සම්බන්ධයෙන් </a:t>
            </a:r>
            <a:r>
              <a:rPr lang="si-LK" dirty="0" smtClean="0"/>
              <a:t>යම</a:t>
            </a:r>
            <a:r>
              <a:rPr lang="si-LK" dirty="0"/>
              <a:t>් </a:t>
            </a:r>
            <a:r>
              <a:rPr lang="si-LK" dirty="0" smtClean="0"/>
              <a:t>අඩු ලුහුඩු කමක් ඇත</a:t>
            </a:r>
            <a:r>
              <a:rPr lang="si-LK" dirty="0"/>
              <a:t>ි </a:t>
            </a:r>
            <a:r>
              <a:rPr lang="si-LK" dirty="0" smtClean="0"/>
              <a:t>දැයි බව </a:t>
            </a:r>
            <a:r>
              <a:rPr lang="si-LK" dirty="0"/>
              <a:t>ඔබ </a:t>
            </a:r>
            <a:r>
              <a:rPr lang="si-LK" dirty="0" smtClean="0"/>
              <a:t>සිතනවාද</a:t>
            </a:r>
            <a:r>
              <a:rPr lang="en-US" dirty="0" smtClean="0"/>
              <a:t>? </a:t>
            </a:r>
            <a:r>
              <a:rPr lang="si-LK" dirty="0"/>
              <a:t>ඔබ මෙම </a:t>
            </a:r>
            <a:r>
              <a:rPr lang="si-LK" dirty="0" smtClean="0"/>
              <a:t>අඩු ලුහුඩුකම සදහා ආමන</a:t>
            </a:r>
            <a:r>
              <a:rPr lang="si-LK" dirty="0"/>
              <a:t>්ත්‍රණය කරන්නේ කෙසේද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56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486" y="118109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si-LK" dirty="0"/>
              <a:t>කණ්ඩායම් සාකච්ඡාව</a:t>
            </a:r>
            <a:r>
              <a:rPr lang="en-US" dirty="0"/>
              <a:t/>
            </a:r>
            <a:br>
              <a:rPr lang="en-US" dirty="0"/>
            </a:br>
            <a:r>
              <a:rPr lang="si-LK" dirty="0"/>
              <a:t>සාකච්ඡා සාරාංශ කරන්න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743" y="3164568"/>
            <a:ext cx="10515600" cy="4351338"/>
          </a:xfrm>
        </p:spPr>
        <p:txBody>
          <a:bodyPr/>
          <a:lstStyle/>
          <a:p>
            <a:pPr algn="just"/>
            <a:r>
              <a:rPr lang="si-LK" dirty="0"/>
              <a:t>සෑම කණ්ඩායමක්ම </a:t>
            </a:r>
            <a:r>
              <a:rPr lang="si-LK" dirty="0" smtClean="0"/>
              <a:t>මෙම ප</a:t>
            </a:r>
            <a:r>
              <a:rPr lang="si-LK" dirty="0"/>
              <a:t>්‍රශ්න තුනට පිළිතුරු ඉදිරිපත් කළ යුතුය.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458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1981200" y="3048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382588" indent="-3429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fontAlgn="base">
              <a:spcBef>
                <a:spcPts val="80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endParaRPr lang="en-US" sz="4000">
              <a:solidFill>
                <a:srgbClr val="056CB6"/>
              </a:solidFill>
              <a:latin typeface="Arial" panose="020B0604020202020204" pitchFamily="34" charset="0"/>
              <a:sym typeface="Times" panose="02020603050405020304" pitchFamily="18" charset="0"/>
            </a:endParaRPr>
          </a:p>
        </p:txBody>
      </p:sp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2133600" y="609601"/>
            <a:ext cx="822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3316" name="Picture 1" descr="backgroun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8763000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3276600" y="2592388"/>
            <a:ext cx="2819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400">
                <a:solidFill>
                  <a:srgbClr val="FFFFFF"/>
                </a:solidFill>
                <a:latin typeface="Avenir Medium" charset="0"/>
              </a:rPr>
              <a:t>Questions</a:t>
            </a:r>
          </a:p>
        </p:txBody>
      </p:sp>
      <p:sp>
        <p:nvSpPr>
          <p:cNvPr id="13318" name="TextBox 4"/>
          <p:cNvSpPr txBox="1">
            <a:spLocks noChangeArrowheads="1"/>
          </p:cNvSpPr>
          <p:nvPr/>
        </p:nvSpPr>
        <p:spPr bwMode="auto">
          <a:xfrm rot="-5400000">
            <a:off x="5450682" y="3358357"/>
            <a:ext cx="1752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Cuestión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7086600" y="1676401"/>
            <a:ext cx="1798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La question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7086600" y="2582864"/>
            <a:ext cx="137569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ar-SA" sz="4400">
                <a:solidFill>
                  <a:srgbClr val="FFFFFF"/>
                </a:solidFill>
              </a:rPr>
              <a:t>الأسئلة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1905001" y="3200401"/>
            <a:ext cx="1801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bg-BG" sz="3600">
                <a:solidFill>
                  <a:srgbClr val="FFFFFF"/>
                </a:solidFill>
              </a:rPr>
              <a:t>въпроси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334001" y="1676401"/>
            <a:ext cx="1108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TW" altLang="en-US" sz="3600">
                <a:solidFill>
                  <a:srgbClr val="FFFFFF"/>
                </a:solidFill>
              </a:rPr>
              <a:t>问题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5029201" y="3429001"/>
            <a:ext cx="1096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otázky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6826250" y="3886201"/>
            <a:ext cx="1860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spørgsmål</a:t>
            </a:r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 rot="-5400000">
            <a:off x="2151856" y="2267744"/>
            <a:ext cx="1462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vragen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4267201" y="3962401"/>
            <a:ext cx="1655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küsimused</a:t>
            </a:r>
          </a:p>
        </p:txBody>
      </p:sp>
      <p:sp>
        <p:nvSpPr>
          <p:cNvPr id="13327" name="Rectangle 14"/>
          <p:cNvSpPr>
            <a:spLocks noChangeArrowheads="1"/>
          </p:cNvSpPr>
          <p:nvPr/>
        </p:nvSpPr>
        <p:spPr bwMode="auto">
          <a:xfrm>
            <a:off x="7086600" y="2209801"/>
            <a:ext cx="1785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kysymykset</a:t>
            </a:r>
          </a:p>
        </p:txBody>
      </p:sp>
      <p:sp>
        <p:nvSpPr>
          <p:cNvPr id="13328" name="Rectangle 15"/>
          <p:cNvSpPr>
            <a:spLocks noChangeArrowheads="1"/>
          </p:cNvSpPr>
          <p:nvPr/>
        </p:nvSpPr>
        <p:spPr bwMode="auto">
          <a:xfrm rot="-5400000">
            <a:off x="1476376" y="2201863"/>
            <a:ext cx="16557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600">
                <a:solidFill>
                  <a:srgbClr val="FFFFFF"/>
                </a:solidFill>
                <a:latin typeface="Avenir Medium" charset="0"/>
              </a:rPr>
              <a:t>Fragen</a:t>
            </a:r>
          </a:p>
        </p:txBody>
      </p:sp>
      <p:sp>
        <p:nvSpPr>
          <p:cNvPr id="13329" name="Rectangle 16"/>
          <p:cNvSpPr>
            <a:spLocks noChangeArrowheads="1"/>
          </p:cNvSpPr>
          <p:nvPr/>
        </p:nvSpPr>
        <p:spPr bwMode="auto">
          <a:xfrm>
            <a:off x="5410200" y="2667001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276601" y="2133601"/>
            <a:ext cx="2061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सवालों के जवाब</a:t>
            </a: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1752600" y="3886200"/>
            <a:ext cx="2266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pertanyaan</a:t>
            </a:r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 rot="-5400000">
            <a:off x="5919788" y="2279651"/>
            <a:ext cx="17287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domande</a:t>
            </a:r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3886200" y="3352800"/>
            <a:ext cx="1004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ja-JP" altLang="en-US" sz="3200">
                <a:solidFill>
                  <a:srgbClr val="FFFFFF"/>
                </a:solidFill>
              </a:rPr>
              <a:t>質問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105401" y="2286001"/>
            <a:ext cx="159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perguntas</a:t>
            </a: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3654426" y="1600201"/>
            <a:ext cx="1398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Times" panose="02020603050405020304" pitchFamily="18" charset="0"/>
              </a:rPr>
              <a:t>вопросов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7162800" y="3360738"/>
            <a:ext cx="1136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sorular</a:t>
            </a:r>
          </a:p>
        </p:txBody>
      </p:sp>
      <p:sp>
        <p:nvSpPr>
          <p:cNvPr id="13337" name="TextBox 25"/>
          <p:cNvSpPr txBox="1">
            <a:spLocks noChangeArrowheads="1"/>
          </p:cNvSpPr>
          <p:nvPr/>
        </p:nvSpPr>
        <p:spPr bwMode="auto">
          <a:xfrm>
            <a:off x="8991600" y="1371601"/>
            <a:ext cx="1524000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9900">
                <a:solidFill>
                  <a:srgbClr val="FFFFFF"/>
                </a:solidFill>
                <a:latin typeface="Avenir Medium" charset="0"/>
              </a:rPr>
              <a:t>?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457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3763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itle &amp; Bullets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99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Times"/>
        <a:ea typeface="ヒラギノ明朝 ProN W3"/>
        <a:cs typeface="ヒラギノ明朝 ProN W3"/>
      </a:majorFont>
      <a:minorFont>
        <a:latin typeface="Times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CC99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ヒラギノ明朝 ProN W3" charset="0"/>
            <a:cs typeface="ヒラギノ明朝 ProN W3" charset="0"/>
            <a:sym typeface="Times New Roman" charset="0"/>
          </a:defRPr>
        </a:defPPr>
      </a:lstStyle>
    </a:spDef>
    <a:lnDef>
      <a:spPr bwMode="auto">
        <a:solidFill>
          <a:srgbClr val="00CC99"/>
        </a:solidFill>
        <a:ln w="19050" cap="flat" cmpd="sng" algn="ctr">
          <a:solidFill>
            <a:srgbClr val="174C8E">
              <a:alpha val="84000"/>
            </a:srgb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983</TotalTime>
  <Words>8606</Words>
  <Application>Microsoft Office PowerPoint</Application>
  <PresentationFormat>Widescreen</PresentationFormat>
  <Paragraphs>369</Paragraphs>
  <Slides>33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7" baseType="lpstr">
      <vt:lpstr>Arial</vt:lpstr>
      <vt:lpstr>Avenir Medium</vt:lpstr>
      <vt:lpstr>Calibri</vt:lpstr>
      <vt:lpstr>Calibri Light</vt:lpstr>
      <vt:lpstr>Courier New</vt:lpstr>
      <vt:lpstr>Iskoola Pota</vt:lpstr>
      <vt:lpstr>Symbol</vt:lpstr>
      <vt:lpstr>Times</vt:lpstr>
      <vt:lpstr>Times New Roman</vt:lpstr>
      <vt:lpstr>Verdana</vt:lpstr>
      <vt:lpstr>Wingdings</vt:lpstr>
      <vt:lpstr>ヒラギノ明朝 ProN W3</vt:lpstr>
      <vt:lpstr>Office Theme</vt:lpstr>
      <vt:lpstr>1_Title &amp; Bullets</vt:lpstr>
      <vt:lpstr>පළමුව ප්‍රතිචාර දැක්වීමේ පුහුණු වැඩසටහන</vt:lpstr>
      <vt:lpstr>PowerPoint Presentation</vt:lpstr>
      <vt:lpstr>PowerPoint Presentation</vt:lpstr>
      <vt:lpstr>PowerPoint Presentation</vt:lpstr>
      <vt:lpstr>පළමුව  ප්‍රතිචාර දක්වන්නන්</vt:lpstr>
      <vt:lpstr>පළමුව  ප්‍රතිචාර දක්වන්නන්</vt:lpstr>
      <vt:lpstr>පළමුව ප්‍රතිචාර දැක්වීම හඳුන්වාදීම ඉගෙන ගැනිමේ ප්‍රතිඵල  </vt:lpstr>
      <vt:lpstr>ඇයි අප මෙතන? කරුණු කෙටියෙන් විස්තර කිරිම </vt:lpstr>
      <vt:lpstr>ඇයි අප මෙතන? කරුණු කෙටියෙන් විස්තර කිරිම. </vt:lpstr>
      <vt:lpstr>ඇයි අප මෙතන? කරුණූ කෙටියෙන් විස්තරය</vt:lpstr>
      <vt:lpstr>   ව්‍යාසනයක කාල රාමුව  අත්දැකිම් වලින් පෙන්නුම් කරනුයේ පහත පෙන්වා ඇති කාල රාමුව ගොඩනැගිලි ව්‍යුහයක කඩා වැටීමක සිදුවීමකට ඉතා සමාන බවයි. </vt:lpstr>
      <vt:lpstr>පළමුව ප්‍රතිචාර දක්වන්නන් යනු කුමක්ද? දේශියව සංවිධානය වු ගලවා ගැනිම් හැකියාවන් පහත පරිදිවේ. </vt:lpstr>
      <vt:lpstr>පළමුව ප්‍රතිචාර දක්වන්නාගේ කාර්යභාර්ය පළමුව ප්‍රතිචාර දක්වන්නන්ගේ කාර්යභාරය වන්නේ: </vt:lpstr>
      <vt:lpstr>පළමුව ප්‍රතිචාර දක්වන්නන්ගේ පුහුණු අවශ්‍යතාවය මෙසේ සාරාංශ ගත කළ හැක: </vt:lpstr>
      <vt:lpstr>මෙම FR පාඨමාලාව මගින් පහත අවශ්‍යතා සපුරාගනී. </vt:lpstr>
      <vt:lpstr>PowerPoint Presentation</vt:lpstr>
      <vt:lpstr>PowerPoint Presentation</vt:lpstr>
      <vt:lpstr>පළමු ප්‍රතිචාර දැක්වීමේ පුහුණු වැඩසටහන</vt:lpstr>
      <vt:lpstr>PowerPoint Presentation</vt:lpstr>
      <vt:lpstr>PowerPoint Presentation</vt:lpstr>
      <vt:lpstr>පළමු ප්‍රතිචාර දැක්වීමේ පුහුණු වැඩසටහන </vt:lpstr>
      <vt:lpstr>PowerPoint Presentation</vt:lpstr>
      <vt:lpstr>PowerPoint Presentation</vt:lpstr>
      <vt:lpstr>පළමු ප්‍රතිචාරකයා</vt:lpstr>
      <vt:lpstr>පළමු  ප්‍රතිචාර දක්වන්නන්</vt:lpstr>
      <vt:lpstr>පළමු ප්‍රතිචාර දැක්වීම හැඳින්වීම ඉගෙන ගැනීමේ ප්‍රතිඵල</vt:lpstr>
      <vt:lpstr>කණ්ඩායම් සාකච්ඡාව </vt:lpstr>
      <vt:lpstr>කණ්ඩායම් සාකච්ඡාව ප්‍රශ්නය 1: </vt:lpstr>
      <vt:lpstr>කණ්ඩායම් සාකච්ඡාව ප්‍රශ්නය 2: </vt:lpstr>
      <vt:lpstr>කණ්ඩායම් සාකච්ඡාව ප්‍රශ්නය 3: </vt:lpstr>
      <vt:lpstr>කණ්ඩායම් සාකච්ඡාව සාකච්ඡා සාරාංශ කරන්න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Military PC</dc:creator>
  <cp:lastModifiedBy>IT-Admin</cp:lastModifiedBy>
  <cp:revision>229</cp:revision>
  <cp:lastPrinted>2022-08-16T06:16:25Z</cp:lastPrinted>
  <dcterms:created xsi:type="dcterms:W3CDTF">2022-07-11T05:41:01Z</dcterms:created>
  <dcterms:modified xsi:type="dcterms:W3CDTF">2023-04-10T07:00:13Z</dcterms:modified>
</cp:coreProperties>
</file>