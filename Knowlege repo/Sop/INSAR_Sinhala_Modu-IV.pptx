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16" r:id="rId2"/>
  </p:sldMasterIdLst>
  <p:notesMasterIdLst>
    <p:notesMasterId r:id="rId17"/>
  </p:notesMasterIdLst>
  <p:handoutMasterIdLst>
    <p:handoutMasterId r:id="rId18"/>
  </p:handoutMasterIdLst>
  <p:sldIdLst>
    <p:sldId id="269" r:id="rId3"/>
    <p:sldId id="268" r:id="rId4"/>
    <p:sldId id="267" r:id="rId5"/>
    <p:sldId id="321" r:id="rId6"/>
    <p:sldId id="323" r:id="rId7"/>
    <p:sldId id="324" r:id="rId8"/>
    <p:sldId id="328" r:id="rId9"/>
    <p:sldId id="330" r:id="rId10"/>
    <p:sldId id="332" r:id="rId11"/>
    <p:sldId id="333" r:id="rId12"/>
    <p:sldId id="261" r:id="rId13"/>
    <p:sldId id="334" r:id="rId14"/>
    <p:sldId id="309" r:id="rId15"/>
    <p:sldId id="314" r:id="rId16"/>
  </p:sldIdLst>
  <p:sldSz cx="12192000" cy="6858000"/>
  <p:notesSz cx="6800850" cy="9932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81FE1-49FF-49A7-A7F1-7BA43AFF21B6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B333-660B-4C8D-ABAD-4F77470B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3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CE2F-C41B-4D8B-95EE-5D8EFFB3B4C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80250"/>
            <a:ext cx="5440680" cy="39111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34173-98C6-48F6-BF0E-3F7CF8242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63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7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3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9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9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8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8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2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2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68CC436-DB0C-4D40-95CD-0C678C839D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801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5401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76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6425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0477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066801"/>
            <a:ext cx="10363200" cy="33401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65928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8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97280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408238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276600"/>
            <a:ext cx="5386917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408238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3276600"/>
            <a:ext cx="5389033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9942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9860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5001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83820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90601"/>
            <a:ext cx="6815667" cy="50292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3601"/>
            <a:ext cx="4011084" cy="3886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836281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00600"/>
            <a:ext cx="10668000" cy="457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990600"/>
            <a:ext cx="10668000" cy="3736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Time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367338"/>
            <a:ext cx="10668000" cy="652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067810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8CC436-DB0C-4D40-95CD-0C678C839DC7}" type="slidenum"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smtClean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14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2D13-26C6-49E8-A6B9-CF97DB82E248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2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990600"/>
            <a:ext cx="11176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981200"/>
            <a:ext cx="11176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text styles</a:t>
            </a:r>
          </a:p>
          <a:p>
            <a:pPr lvl="1"/>
            <a:r>
              <a:rPr lang="en-US" smtClean="0">
                <a:sym typeface="Times" panose="02020603050405020304" pitchFamily="18" charset="0"/>
              </a:rPr>
              <a:t>Second level</a:t>
            </a:r>
          </a:p>
          <a:p>
            <a:pPr lvl="2"/>
            <a:r>
              <a:rPr lang="en-US" smtClean="0">
                <a:sym typeface="Times" panose="02020603050405020304" pitchFamily="18" charset="0"/>
              </a:rPr>
              <a:t>Third level</a:t>
            </a:r>
          </a:p>
          <a:p>
            <a:pPr lvl="3"/>
            <a:r>
              <a:rPr lang="en-US" smtClean="0">
                <a:sym typeface="Times" panose="02020603050405020304" pitchFamily="18" charset="0"/>
              </a:rPr>
              <a:t>Fourth level</a:t>
            </a:r>
          </a:p>
          <a:p>
            <a:pPr lvl="4"/>
            <a:r>
              <a:rPr lang="en-US" smtClean="0">
                <a:sym typeface="Times" panose="02020603050405020304" pitchFamily="18" charset="0"/>
              </a:rPr>
              <a:t>Fifth level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3200" y="152400"/>
            <a:ext cx="3556000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9" name="Picture 1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248400"/>
            <a:ext cx="284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2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065839"/>
            <a:ext cx="1490133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1" name="Straight Connector 2"/>
          <p:cNvCxnSpPr>
            <a:cxnSpLocks noChangeShapeType="1"/>
          </p:cNvCxnSpPr>
          <p:nvPr userDrawn="1"/>
        </p:nvCxnSpPr>
        <p:spPr bwMode="auto">
          <a:xfrm>
            <a:off x="3100917" y="6300788"/>
            <a:ext cx="7416800" cy="0"/>
          </a:xfrm>
          <a:prstGeom prst="line">
            <a:avLst/>
          </a:prstGeom>
          <a:noFill/>
          <a:ln w="20320">
            <a:solidFill>
              <a:srgbClr val="174C8E">
                <a:alpha val="9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4437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</p:sldLayoutIdLst>
  <p:transition/>
  <p:hf hdr="0" ftr="0" dt="0"/>
  <p:txStyles>
    <p:titleStyle>
      <a:lvl1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/>
          <a:ea typeface="+mj-ea"/>
          <a:cs typeface="Verdana"/>
          <a:sym typeface="Times" panose="02020603050405020304" pitchFamily="18" charset="0"/>
        </a:defRPr>
      </a:lvl1pPr>
      <a:lvl2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2pPr>
      <a:lvl3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3pPr>
      <a:lvl4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4pPr>
      <a:lvl5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5pPr>
      <a:lvl6pPr marL="4968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6pPr>
      <a:lvl7pPr marL="9540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7pPr>
      <a:lvl8pPr marL="14112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8pPr>
      <a:lvl9pPr marL="18684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9pPr>
    </p:titleStyle>
    <p:bodyStyle>
      <a:lvl1pPr marL="382588" indent="-342900" algn="l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32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1pPr>
      <a:lvl2pPr marL="681038" indent="-285750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8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2pPr>
      <a:lvl3pPr marL="1081088" indent="-228600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24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3pPr>
      <a:lvl4pPr marL="15382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4pPr>
      <a:lvl5pPr marL="19954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»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5pPr>
      <a:lvl6pPr marL="24526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6pPr>
      <a:lvl7pPr marL="29098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7pPr>
      <a:lvl8pPr marL="33670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8pPr>
      <a:lvl9pPr marL="38242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2416"/>
            <a:ext cx="10515600" cy="1325563"/>
          </a:xfrm>
        </p:spPr>
        <p:txBody>
          <a:bodyPr/>
          <a:lstStyle/>
          <a:p>
            <a:r>
              <a:rPr lang="si-LK" dirty="0" smtClean="0"/>
              <a:t>පළමු ප්‍රතිචාර පුහුණු වැඩසටහන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i-LK" dirty="0"/>
              <a:t>මොඩියුලර්	</a:t>
            </a:r>
            <a:r>
              <a:rPr lang="si-LK" dirty="0" smtClean="0"/>
              <a:t>4: සෙවිමේ මොඩියුලය</a:t>
            </a:r>
            <a:endParaRPr lang="en-US" dirty="0" smtClean="0"/>
          </a:p>
          <a:p>
            <a:r>
              <a:rPr lang="si-LK" dirty="0" smtClean="0"/>
              <a:t>සැසිය 	4.1- පාඩම් සැලැස්ම</a:t>
            </a:r>
          </a:p>
          <a:p>
            <a:r>
              <a:rPr lang="si-LK" dirty="0" smtClean="0"/>
              <a:t>මත</a:t>
            </a:r>
            <a:r>
              <a:rPr lang="si-LK" dirty="0"/>
              <a:t>ුපිට සෙවීම</a:t>
            </a:r>
            <a:endParaRPr lang="en-US" dirty="0"/>
          </a:p>
          <a:p>
            <a:endParaRPr lang="si-LK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4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81799" y="4681526"/>
            <a:ext cx="4680857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si-LK" dirty="0" smtClean="0"/>
              <a:t>පළමු ප්‍රතිචාර දැක්වීමේ පුහුණුව මෙම වැඩසටහන </a:t>
            </a:r>
            <a:r>
              <a:rPr lang="en-US" dirty="0" smtClean="0"/>
              <a:t>INSARAG </a:t>
            </a:r>
            <a:r>
              <a:rPr lang="si-LK" dirty="0" smtClean="0"/>
              <a:t>පුහුණුව මගින් සංවර්නය කරන ලදි. ක්‍රියාකාරි කණ්ඩායම් සියලු රටවලට සහ ප්‍රතිචාර දක්වන සංවිධානවලට ගලවා ගැනිමේ හැකියාව වර්ධනය කිරිමට සහ ජිවිත බේරා ගැනිමට උපකාර කිරිමට අදහස් කරයි.</a:t>
            </a:r>
          </a:p>
        </p:txBody>
      </p:sp>
    </p:spTree>
    <p:extLst>
      <p:ext uri="{BB962C8B-B14F-4D97-AF65-F5344CB8AC3E}">
        <p14:creationId xmlns:p14="http://schemas.microsoft.com/office/powerpoint/2010/main" val="76686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93213"/>
              </p:ext>
            </p:extLst>
          </p:nvPr>
        </p:nvGraphicFramePr>
        <p:xfrm>
          <a:off x="224891" y="208756"/>
          <a:ext cx="11655425" cy="1826260"/>
        </p:xfrm>
        <a:graphic>
          <a:graphicData uri="http://schemas.openxmlformats.org/drawingml/2006/table">
            <a:tbl>
              <a:tblPr firstRow="1" firstCol="1" bandRow="1"/>
              <a:tblGrid>
                <a:gridCol w="3491140"/>
                <a:gridCol w="3363686"/>
                <a:gridCol w="4800599"/>
              </a:tblGrid>
              <a:tr h="4263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Aims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 (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Objective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ප්‍රතිඵල (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Learning</a:t>
                      </a:r>
                      <a:r>
                        <a:rPr lang="en-US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Outcomes)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921566"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ව්‍යුහයක් තුළ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ශිල්පීය ක්‍රමවල අවශ්‍යතාවය හඳුනා ගැනීමට සහ සෙ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මෙහෙයුම්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සිදුකිරිමට සහ 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කළමනාකරණය කිරීමට සහභාගිවන්නන්ට ඉඩ සැලසීම.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සහභාගිවන්නන්ගේ භ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ෞතික සෙ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උපාය මාර්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ගික වැදගත්කම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අවබෝධකර ගැනිම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සඳහා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ුසලත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ාවය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දැනුම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ලබා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දිම.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ලෙස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සහභාගිවන්නාට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පහත හ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ියාවන් ලැබෙනු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ඇත: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ක්ෂණිකව සිදුකරන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(ආරම්භක) සෙව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කාර්යයක්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සම්බන්ධීකරණය කර මෙහෙයවන්න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රේඛාවක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්සේ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පොකුරු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ලෙස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ෙව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කාර්යයක්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සම්බන්ධීකරණය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කිරිමට හැකිවීම.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396293"/>
              </p:ext>
            </p:extLst>
          </p:nvPr>
        </p:nvGraphicFramePr>
        <p:xfrm>
          <a:off x="318894" y="2135024"/>
          <a:ext cx="11645344" cy="4579449"/>
        </p:xfrm>
        <a:graphic>
          <a:graphicData uri="http://schemas.openxmlformats.org/drawingml/2006/table">
            <a:tbl>
              <a:tblPr firstRow="1" firstCol="1" bandRow="1"/>
              <a:tblGrid>
                <a:gridCol w="933801"/>
                <a:gridCol w="1458686"/>
                <a:gridCol w="6665249"/>
                <a:gridCol w="2587608"/>
              </a:tblGrid>
              <a:tr h="5116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ක්‍රියාකාරීත්වය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26936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15</a:t>
                      </a: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මෙහෙයුම් මූලධර්ම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ෙහෙයුම්වල මූලික මූලධර්ම පැහැදිලි කරනු ඇත. වේගවත් ආරම්භක ස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ෙවිමේ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කාර්යයක් මුලින් සිදුකරන අතර ඉන්පසු අවශ්‍ය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ිට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සම්පූර්ණ පරීක්ෂා කිරිමක් සෙමෙන්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පසුව සිදුකරනු ලැබේ.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en-GB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PPT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මගින්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ිරිපත් කිරීම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4.1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6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අවශ්‍ය පරිදි සවන් දී අන්තර් ක්‍රියා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2080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20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ඉක්මන් හෝ මූලික සෙවීම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මෙවැනි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ාරයේ සෙවී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මක්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ගයෙන්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සිදුකරන ආකාරය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ැහැදිල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 කිරිමක් සහ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විදාහා පෑමකින් සිදුකරනු ඇත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මතුපිට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ප්‍රදේශයේ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අනතුරට ගොදුරු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ූවන්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සිරවී සිටින්නන්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ොයා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ගනු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ලැබේ.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සුන්බුන් ගොඩවල් හෝ සුදුසු එළිමහන් ස්ථානය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2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</a:t>
                      </a:r>
                      <a:r>
                        <a:rPr lang="si-LK" sz="1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පරිදි සවන් දී අන්තර් ක්‍රියා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40934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20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ද්විතියික හෝ සම්පූර්ණ සෙවීම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ෙවීමේ වඩාත් සංවිධානාත්මක සහ ක්‍රමානුකූල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සිදුකරන ආකරය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ැහැදිලි කර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සිදුකරන ආකාරව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විදාහා පෙන්වනු ලැබේ.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සුන්බුන් යට හෝ සංවෘත හිස් තැන් වල සිරවී සිටින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වින්දිතයින් සිටින ස්ථාන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හදුනාගනු ලැබේ.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සුන්බුන් ගොඩවල් හෝ සුදුසු එළිමහන් ස්ථානය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2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දී අන්තර් ක්‍රියා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969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</a:t>
                      </a: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සාරාංශය සහ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සැසියේ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ප්‍රධාන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කරුණු සාරාංශ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5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ඉගෙනීමේ කරුණු පැහැදිලි කිරීමට ප්‍රශ්න අසමින් අවශ්‍ය පරිදි සවන් දී අන්තර් ක්‍රියා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24891" y="6469304"/>
            <a:ext cx="881973" cy="2802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1200" dirty="0">
                <a:latin typeface="Calibri" panose="020F0502020204030204" pitchFamily="34" charset="0"/>
                <a:ea typeface="Calibri" panose="020F0502020204030204" pitchFamily="34" charset="0"/>
              </a:rPr>
              <a:t>විනාඩි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60 </a:t>
            </a:r>
            <a:r>
              <a:rPr lang="si-LK" sz="1200" dirty="0">
                <a:latin typeface="Calibri" panose="020F0502020204030204" pitchFamily="34" charset="0"/>
                <a:ea typeface="Calibri" panose="020F0502020204030204" pitchFamily="34" charset="0"/>
              </a:rPr>
              <a:t>යි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4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54014"/>
              </p:ext>
            </p:extLst>
          </p:nvPr>
        </p:nvGraphicFramePr>
        <p:xfrm>
          <a:off x="427718" y="367279"/>
          <a:ext cx="11394168" cy="3791064"/>
        </p:xfrm>
        <a:graphic>
          <a:graphicData uri="http://schemas.openxmlformats.org/drawingml/2006/table">
            <a:tbl>
              <a:tblPr firstRow="1" firstCol="1" bandRow="1"/>
              <a:tblGrid>
                <a:gridCol w="3722907"/>
                <a:gridCol w="7671261"/>
              </a:tblGrid>
              <a:tr h="23694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සටහන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5412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මෙහෙයුමේ මූලධර්ම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තාක්ෂණය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සෙවීම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 කාර්යයක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ආරම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්භක අදියරේදී උපදේශකයා වේගය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 එහි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වැදගත්කම අවධාරණය කළ යුතුය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;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බොහෝ තුවාලකරුවන් විවෘත හෝ ගොඩනැගිල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තුළ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සිරවි ඇති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බව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පහස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ුවෙන්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සොයගත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හැක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කාලයත් සමඟ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වින්දිතයින්ගේ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ජිවිත රදා පැවති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 අඩ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 වේ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 ඵලදායි ලෙස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එකම ප්‍රදේශයම ආවරණය වන පරිදි ස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ෙවී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 කිරිම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සදහා එම ස්ථානයේ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කිහිප වතාවක් පරීක්ෂා කිරිම සිදුකළ යුතුය.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ඒ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සෑම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සෙවීමක්ම</a:t>
                      </a:r>
                      <a:r>
                        <a:rPr lang="si-LK" sz="14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්දගාමීව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ගමන් කළ යුතු අතර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වඩාත් විස්තරාත්මකව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නිරීක්ෂණය කරන  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 </a:t>
                      </a:r>
                      <a:r>
                        <a:rPr lang="si-LK" sz="14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ැහැදිලි කළ යුතුය.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සංවිධානාත්මක සහ ක්‍රමානුකූල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සිදුකරන 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ෙවුම් ක්‍රියාවලියක වැදගත්කම පැහැදිලි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කිරිමෙන්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විම්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ප්‍රදේශ හඳුනා ගන්නා බව සහභාගිවන්නන්ට මතක් කරන්න (පාඩම්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2.3)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ආරම්භක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සෙවිමක්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සිදුකිරිමේදි ක්ෂණිකව සිදුකරන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ක්‍රමවේදය භාවිතා කරන බව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අවධ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ාරණය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ක්ෂණිකව සිදුකරන සෙවිම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අවසන් වූ පසු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නැවත එම ප්‍රදේ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ශයේම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කාර්යය සිදුකළ යුතුය.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නම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ුත් මෙවර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'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රේඛා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වක් ලෙස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පොකුරු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ලෙස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'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'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රවු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මක් ආකාරයට සිදුකරන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ක්‍රම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ුළුල් සෙවීමක් සිදු කරයි.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5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2416"/>
            <a:ext cx="10515600" cy="1325563"/>
          </a:xfrm>
        </p:spPr>
        <p:txBody>
          <a:bodyPr/>
          <a:lstStyle/>
          <a:p>
            <a:r>
              <a:rPr lang="si-LK" dirty="0" smtClean="0"/>
              <a:t>පළමු ප්‍රතිචාර පුහුණු වැඩසටහන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4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5666" y="4430748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910749"/>
            <a:ext cx="8218714" cy="1650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මොඩියු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	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4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: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සෙවිමේ මොඩියුලය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සැසිය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	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4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.2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-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පාඩම් සැලැස්ම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r>
              <a:rPr lang="si-LK" sz="2800" dirty="0" smtClean="0">
                <a:latin typeface="Calibri" panose="020F0502020204030204" pitchFamily="34" charset="0"/>
              </a:rPr>
              <a:t>සෙවිමේ අභ්‍යාස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8212286" y="4663619"/>
            <a:ext cx="3816428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si-LK" dirty="0" smtClean="0"/>
              <a:t>පළමුව ප්‍රතිචාර දැක්වීමේ පුහුණුව </a:t>
            </a:r>
          </a:p>
          <a:p>
            <a:pPr algn="just"/>
            <a:r>
              <a:rPr lang="si-LK" dirty="0" smtClean="0"/>
              <a:t>මෙම වැඩසටහන </a:t>
            </a:r>
            <a:r>
              <a:rPr lang="en-US" dirty="0" smtClean="0"/>
              <a:t>INSARAG </a:t>
            </a:r>
            <a:r>
              <a:rPr lang="si-LK" dirty="0" smtClean="0"/>
              <a:t>පුහුණුව මගින් සංවර්නය කරන ලදි. ක්‍රියාකාරි කණ්ඩායම් සියලු රටවලට සහ ප්‍රතිචාර දක්වන සංවිධානවලට ගලවා ගැනිමේ හැකියාව වර්ධනය කිරිමට සහ ජිවිත බේරා ගැනිමට උපකාර කිරිමට අදහස් කරයි.</a:t>
            </a:r>
          </a:p>
        </p:txBody>
      </p:sp>
    </p:spTree>
    <p:extLst>
      <p:ext uri="{BB962C8B-B14F-4D97-AF65-F5344CB8AC3E}">
        <p14:creationId xmlns:p14="http://schemas.microsoft.com/office/powerpoint/2010/main" val="296758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43184" y="6340729"/>
            <a:ext cx="979264" cy="5693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විනාඩි</a:t>
            </a: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kumimoji="0" lang="si-LK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45</a:t>
            </a: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kumimoji="0" 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ක්</a:t>
            </a:r>
            <a:endParaRPr kumimoji="0" 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841690"/>
              </p:ext>
            </p:extLst>
          </p:nvPr>
        </p:nvGraphicFramePr>
        <p:xfrm>
          <a:off x="199116" y="284957"/>
          <a:ext cx="11786054" cy="1683988"/>
        </p:xfrm>
        <a:graphic>
          <a:graphicData uri="http://schemas.openxmlformats.org/drawingml/2006/table">
            <a:tbl>
              <a:tblPr firstRow="1" firstCol="1" bandRow="1"/>
              <a:tblGrid>
                <a:gridCol w="3927844"/>
                <a:gridCol w="3929105"/>
                <a:gridCol w="3929105"/>
              </a:tblGrid>
              <a:tr h="32464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(Aims)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(Objectives)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ිඵල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(Learning Objective)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869315"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ාගී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වන්නන්ට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අනුකරණය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කරන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ලද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මෙහෙයුමකට සහභාගී වීමට සහ එවැනි සෙව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මෙහෙයුම්ක්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්බන්ධීකරණය කරන ආකාරය තේරුම් ගැනී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මට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අවස්ථාව ලබා දිම.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මෙහෙයුමකට සහභාගිවන්නන්ට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උපාය මාර්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ගිකව සෙවිමේ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කාර්යය සිදුකිරිම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සඳහා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ඔවුන්ගේ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කුසලත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ාවය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දැනුම ලබා දීම.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ලෙස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සහභාගිවන්නාට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පහත හ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ියාවන්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ලැබෙනු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ඇත: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මූලික (ඉක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්මන්) සෙව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ීමක්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සම්බන්ධීකරණය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 මෙහෙයවීම.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ද්විතියික (පුළුල්) සෙ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සම්බන්ධීකරණය කර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මෙහෙයවීම.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909181"/>
              </p:ext>
            </p:extLst>
          </p:nvPr>
        </p:nvGraphicFramePr>
        <p:xfrm>
          <a:off x="232591" y="2249025"/>
          <a:ext cx="11807009" cy="4288343"/>
        </p:xfrm>
        <a:graphic>
          <a:graphicData uri="http://schemas.openxmlformats.org/drawingml/2006/table">
            <a:tbl>
              <a:tblPr firstRow="1" firstCol="1" bandRow="1"/>
              <a:tblGrid>
                <a:gridCol w="1019265"/>
                <a:gridCol w="1883229"/>
                <a:gridCol w="4495800"/>
                <a:gridCol w="4408715"/>
              </a:tblGrid>
              <a:tr h="2110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ක්‍රියාකාරීත්වය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721359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10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සය විස්තර කිරිම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ෙවිමේ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‍යාසයේ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 සහ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එය සිදුකරන 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්‍රමවේදය පැහැදිලි කරනු ඇත. උපදේශකයා විසින් එක් එක</a:t>
                      </a: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</a:t>
                      </a:r>
                      <a:r>
                        <a:rPr lang="si-LK" sz="14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කණ්ඩායම් සඳහ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කණ්ඩායම් නායකයෙකු පත් කරනු ඇත.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GB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PPT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මගින්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ිරිපත් කිරීම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4.2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5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</a:t>
                      </a:r>
                      <a:r>
                        <a:rPr lang="si-LK" sz="1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පරිදි සවන් දී අන්තර් ක්‍රියා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0849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15</a:t>
                      </a: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ප්‍රාථමික හෝ ඉක්මන් සෙවීම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අභ්‍යාසය පැහැදිලි කර එක් එක්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අභ්‍යාසය සඳහ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කණ්ඩායම් නායකයෙකු පත් කරනු ඇත.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සුන්බුන් ගොඩවල් හෝ සුදුසු එළිමහන් ස්ථානය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ුවා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 ලැබුවන්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(පහසුවෙන් නොපෙන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 පරිදි)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5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අවශ්‍ය පරිදි සවන් දී අන්තර් ක්‍රියා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0849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15</a:t>
                      </a: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ද්විතියික හෝ පුළුල් සෙවීම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අභ්‍යාසය පැහැදිලි කර එක් එක්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අභ්‍යාසය සඳහ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කණ්ඩායම් නායකයෙකු පත් කරනු ඇත.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සුන්බුන් ගොඩවල් හෝ සුදුසු එළිමහන් ස්ථානය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අර්ධව යට වි ඇති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තුවාල කරුවන්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(ශබ්දය ඇස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ෙන නමුත්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ඇසට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ොපෙනේ)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5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</a:t>
                      </a:r>
                      <a:r>
                        <a:rPr lang="si-LK" sz="1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පරිදි සවන් දී අන්තර් ක්‍රියා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41019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සාරාංශය සහ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අභ්‍යාසයේදි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නගත්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ුණු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සාරාංශ ගත කරන්න. තවද ඉගෙනගනු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ලැබු විෂය කරුණු අභ්‍යාසයේදි කළ සිදුවීම් සමග නැවත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ිහිපත්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කරගන්න.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0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</a:t>
                      </a:r>
                      <a:r>
                        <a:rPr lang="si-LK" sz="1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පරිදි සවන් දී අන්තර් ක්‍රියා කරන්න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තමාට ඇති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ප්‍රශ්න මගින් විෂය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ුණු පැහැදිලි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කරගන්න.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2654" marR="42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55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286631"/>
              </p:ext>
            </p:extLst>
          </p:nvPr>
        </p:nvGraphicFramePr>
        <p:xfrm>
          <a:off x="243846" y="224063"/>
          <a:ext cx="11708668" cy="5593263"/>
        </p:xfrm>
        <a:graphic>
          <a:graphicData uri="http://schemas.openxmlformats.org/drawingml/2006/table">
            <a:tbl>
              <a:tblPr firstRow="1" firstCol="1" bandRow="1"/>
              <a:tblGrid>
                <a:gridCol w="5854334"/>
                <a:gridCol w="5854334"/>
              </a:tblGrid>
              <a:tr h="363766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සටහන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(</a:t>
                      </a:r>
                      <a:r>
                        <a:rPr lang="en-GB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Instructor Note)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6541" marR="665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2949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අභ්‍යාස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6541" marR="665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උපදේශකය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</a:t>
                      </a:r>
                      <a:r>
                        <a:rPr lang="en-GB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විසින්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ාගිවන්නන් සෙ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විම් සිදුකරන කණ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්ඩායම්වලට බෙදා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කණ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්ඩායම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්වල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නායකයන් පත්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කළ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යුතුය.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සෑම කණ්ඩායමක්ම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මූලික (</a:t>
                      </a:r>
                      <a:r>
                        <a:rPr lang="en-GB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Primary)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ෝ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ක්ෂණික </a:t>
                      </a:r>
                      <a:r>
                        <a:rPr lang="en-GB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 Hasty)</a:t>
                      </a:r>
                      <a:r>
                        <a:rPr lang="en-GB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ෙවීමක් සිදු කරන බවට වග බලා ගන්න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සෑම කණ්ඩායමක්ම ද්විතීයික හෝ විස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්තරාත්මකව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සෙවිමේ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ක්‍රියාවලි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සිදුකරන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භාර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බවට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වග බලා ගන්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අභ්‍යාස කරන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ප්‍රදේශය විෂය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පථයට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පමණක්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සීමා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බවත්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කණ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්ඩායම්වලට සොයා ගැනීම සඳහා තුවාලකරුවන්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ස්ථානවල ස්ථානගත කර ඇති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බවත් සහතික කර ගන්න.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මූලික 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ෙවීම අවසන් වූ පසු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කණ්ඩායම්වලට ද්විතියික සෙ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කාර්යය සිදු කිරිමට හැකියාව ඇත.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සෙවීමට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නියමිතව ඇති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්‍රදේශය අනුව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අනුගමනය කළ යුතු වඩ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ාත් සුදුසු ක්‍රමය තෝරා ගැනීමට කණ්ඩායම් ලවා ගැනීමට උත්සාහ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අභ්‍යාසය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සිදුකරන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්ථා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නයේ වින්දිතයින් සැඟවිය හැකි සුදුසු 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ුන්බුන් ගොඩවල්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නම් එම ස්ථාන ඉතා යෝග්‍ය වේ.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කෙසේ වෙතත්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ගොඩනැගිලි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්ථාන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වෙරළබඩ ආරක්ෂක ස්ථාන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විවෘත භූමිය සහ කුඩා ගොඩනැගිලි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කිහිපයක් 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සදහා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භ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ාවිතා කළ හැකිය.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6541" marR="665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8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473" y="879087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1087404"/>
            <a:ext cx="4371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4000" b="1" dirty="0" smtClean="0">
                <a:solidFill>
                  <a:prstClr val="black"/>
                </a:solidFill>
                <a:latin typeface="Calibri Light" panose="020F0302020204030204"/>
              </a:rPr>
              <a:t>පළමු </a:t>
            </a:r>
            <a:br>
              <a:rPr lang="si-LK" sz="40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40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ප්‍රතිචාරකයා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467781"/>
            <a:ext cx="110017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si-LK" sz="2200" dirty="0"/>
              <a:t>ඉදිරිපත් කිරිමේ මාතෘකා</a:t>
            </a:r>
            <a:r>
              <a:rPr lang="si-LK" sz="2200" dirty="0" smtClean="0"/>
              <a:t>ව	:- සෙවිමේ අභ්‍යාස</a:t>
            </a:r>
            <a:r>
              <a:rPr lang="si-LK" sz="2200" dirty="0"/>
              <a:t>	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si-LK" sz="2200" dirty="0" smtClean="0"/>
              <a:t>	ම</a:t>
            </a:r>
            <a:r>
              <a:rPr lang="si-LK" sz="2200" dirty="0"/>
              <a:t>ොඩියුලර</a:t>
            </a:r>
            <a:r>
              <a:rPr lang="si-LK" sz="2200" dirty="0" smtClean="0"/>
              <a:t>්		: 4.2</a:t>
            </a:r>
          </a:p>
          <a:p>
            <a:pPr marL="0" indent="0">
              <a:buNone/>
            </a:pP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si-LK" sz="2200" dirty="0" smtClean="0"/>
              <a:t>ඉදිරිපත් කරන්නන්/ උපදේශක	:- ඉදිරිපත් කරන්නන්ගේ නම මෙහි </a:t>
            </a:r>
            <a:r>
              <a:rPr lang="si-LK" sz="2200" dirty="0"/>
              <a:t>එක</a:t>
            </a:r>
            <a:r>
              <a:rPr lang="si-LK" sz="2200" dirty="0" smtClean="0"/>
              <a:t>් කරන</a:t>
            </a:r>
            <a:r>
              <a:rPr lang="si-LK" sz="2200" dirty="0"/>
              <a:t>්න.</a:t>
            </a:r>
            <a:r>
              <a:rPr lang="si-LK" sz="2200" dirty="0" smtClean="0"/>
              <a:t>					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endParaRPr lang="si-LK" dirty="0" smtClean="0"/>
          </a:p>
          <a:p>
            <a:pPr marL="0" indent="0">
              <a:buNone/>
            </a:pPr>
            <a:r>
              <a:rPr lang="en-US" sz="1900" dirty="0" smtClean="0"/>
              <a:t>Coordination Saves Lives</a:t>
            </a: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9325" y="5517699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373147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71" y="1042635"/>
            <a:ext cx="6281058" cy="4235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si-LK" sz="5400" b="1" dirty="0" smtClean="0"/>
              <a:t>සෙවිමේ අභ්‍යාස</a:t>
            </a:r>
          </a:p>
          <a:p>
            <a:pPr marL="0" indent="0" algn="ctr">
              <a:buNone/>
            </a:pPr>
            <a:endParaRPr lang="si-LK" sz="3600" b="1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244158" y="223365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8668899" y="316726"/>
            <a:ext cx="2652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4000" b="1" dirty="0" smtClean="0">
                <a:solidFill>
                  <a:prstClr val="black"/>
                </a:solidFill>
                <a:latin typeface="Calibri Light" panose="020F0302020204030204"/>
              </a:rPr>
              <a:t>පළමු </a:t>
            </a:r>
            <a:br>
              <a:rPr lang="si-LK" sz="40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40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ප්‍රතිචාරකයා</a:t>
            </a:r>
            <a:endParaRPr lang="en-US" sz="4000" b="1" dirty="0"/>
          </a:p>
        </p:txBody>
      </p:sp>
      <p:sp>
        <p:nvSpPr>
          <p:cNvPr id="13" name="Rectangle 12"/>
          <p:cNvSpPr/>
          <p:nvPr/>
        </p:nvSpPr>
        <p:spPr>
          <a:xfrm>
            <a:off x="8668899" y="52783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225653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3438" y="856831"/>
            <a:ext cx="6662057" cy="5039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3600" b="1" dirty="0">
                <a:latin typeface="Calibri" panose="020F0502020204030204" pitchFamily="34" charset="0"/>
                <a:ea typeface="Calibri" panose="020F0502020204030204" pitchFamily="34" charset="0"/>
              </a:rPr>
              <a:t>ඉලක්</a:t>
            </a:r>
            <a:r>
              <a:rPr lang="si-LK" sz="3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කය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සහභාගීවන්නන්ට අනුකරණය කරන ලද සෙවිමේ මෙහෙයුමකට සහභාගී වීමට සහ එවැනි සෙවීමේ මෙහෙයුම්ක් සම්බන්ධීකරණය කරන ආකාරය තේරුම් ගැනීමට අවස්ථාව ලබා දිම.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62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0070" y="740229"/>
            <a:ext cx="4896306" cy="5438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3600" b="1" dirty="0">
                <a:latin typeface="Calibri" panose="020F0502020204030204" pitchFamily="34" charset="0"/>
                <a:ea typeface="Calibri" panose="020F0502020204030204" pitchFamily="34" charset="0"/>
              </a:rPr>
              <a:t>අරමු</a:t>
            </a:r>
            <a:r>
              <a:rPr lang="si-LK" sz="3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ණ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සෙවිම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ේ ම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ෙහෙයුමකට සහභාගිවන්නන්ට උපාය මාර්ගිකව සෙවිමේ කාර්යය සිදුකිරිම  සඳහා ඔවුන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්ට අවශ්‍ය ක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ුසලතාවය සහ දැනුම ලබා දීම.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4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98714" y="936762"/>
            <a:ext cx="7240361" cy="5003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3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ඉගෙනිමේ ප්‍රතිඵල</a:t>
            </a:r>
          </a:p>
          <a:p>
            <a:pPr algn="just">
              <a:lnSpc>
                <a:spcPct val="107000"/>
              </a:lnSpc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මෙම සැසියේ ප්‍රතිඵලයක් ලෙස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සහභාගිවන්නාට පහත හැකියාවන් ලැබෙනු ඇත: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මූලික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(</a:t>
            </a:r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Hasty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)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සෙවීමක් සම්බන්ධීකරණය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කිරිම සහ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මෙහෙයවීම.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ද්විතියික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ස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ෙවිමක් සම්බන්ධීකරණය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කිරිම සහ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මෙහෙයවීම.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96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0858" y="1223358"/>
            <a:ext cx="7815942" cy="4088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අභ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්‍යා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ස විස්තර කිරිම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සෙ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ීමේ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කණ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්ඩායම් වලට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බෙදන්න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කණ්ඩායම් නා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යකයින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් පත් කරන්න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මූලික (</a:t>
            </a:r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Hasty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)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සෙ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ීම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 ආරම්භ කරන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්න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ෙ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වීමක්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 ආරම්භ කරන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්න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-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රේඛාවක්සේ  සහ පොකුරු ලෙස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සිදු කරන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-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රව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මක් ආකාරයට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සහ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පොකුරු ලෙස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සිදු කරන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88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1109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14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471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Times"/>
        <a:ea typeface="ヒラギノ明朝 ProN W3"/>
        <a:cs typeface="ヒラギノ明朝 ProN W3"/>
      </a:majorFont>
      <a:minorFont>
        <a:latin typeface="Times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solidFill>
          <a:srgbClr val="00CC99"/>
        </a:solidFill>
        <a:ln w="19050" cap="flat" cmpd="sng" algn="ctr">
          <a:solidFill>
            <a:srgbClr val="174C8E">
              <a:alpha val="84000"/>
            </a:srgb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1701</TotalTime>
  <Words>3376</Words>
  <Application>Microsoft Office PowerPoint</Application>
  <PresentationFormat>Widescreen</PresentationFormat>
  <Paragraphs>192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Avenir Medium</vt:lpstr>
      <vt:lpstr>Calibri</vt:lpstr>
      <vt:lpstr>Calibri Light</vt:lpstr>
      <vt:lpstr>Iskoola Pota</vt:lpstr>
      <vt:lpstr>Symbol</vt:lpstr>
      <vt:lpstr>Times</vt:lpstr>
      <vt:lpstr>Times New Roman</vt:lpstr>
      <vt:lpstr>Verdana</vt:lpstr>
      <vt:lpstr>ヒラギノ明朝 ProN W3</vt:lpstr>
      <vt:lpstr>Office Theme</vt:lpstr>
      <vt:lpstr>1_Title &amp; Bullets</vt:lpstr>
      <vt:lpstr>පළමු ප්‍රතිචාර පුහුණු වැඩසටහන</vt:lpstr>
      <vt:lpstr>PowerPoint Presentation</vt:lpstr>
      <vt:lpstr>PowerPoint Presentation</vt:lpstr>
      <vt:lpstr>පළමු ප්‍රතිචාර පුහුණු වැඩසටහන</vt:lpstr>
      <vt:lpstr>PowerPoint Presentation</vt:lpstr>
      <vt:lpstr>PowerPoint Presentation</vt:lpstr>
      <vt:lpstr>පළමු  ප්‍රතිචාරකයා</vt:lpstr>
      <vt:lpstr>පළමු  ප්‍රතිචාරකයා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Military PC</dc:creator>
  <cp:lastModifiedBy>IT-Admin</cp:lastModifiedBy>
  <cp:revision>388</cp:revision>
  <cp:lastPrinted>2022-08-16T06:16:25Z</cp:lastPrinted>
  <dcterms:created xsi:type="dcterms:W3CDTF">2022-07-11T05:41:01Z</dcterms:created>
  <dcterms:modified xsi:type="dcterms:W3CDTF">2023-05-04T07:59:30Z</dcterms:modified>
</cp:coreProperties>
</file>